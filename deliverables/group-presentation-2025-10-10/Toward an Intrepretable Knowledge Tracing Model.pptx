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presProps.xml" ContentType="application/vnd.openxmlformats-officedocument.presentationml.presProps+xml"/>
  <Override PartName="/ppt/media/image10.gif" ContentType="image/gif"/>
  <Override PartName="/ppt/media/image18.gif" ContentType="image/gif"/>
  <Override PartName="/ppt/media/image8.gif" ContentType="image/gif"/>
  <Override PartName="/ppt/media/image3.gif" ContentType="image/gif"/>
  <Override PartName="/ppt/media/image6.gif" ContentType="image/gif"/>
  <Override PartName="/ppt/slides/slide29.xml" ContentType="application/vnd.openxmlformats-officedocument.presentationml.slide+xml"/>
  <Override PartName="/ppt/slides/slide27.xml" ContentType="application/vnd.openxmlformats-officedocument.presentationml.slide+xml"/>
  <Override PartName="/ppt/slides/slide26.xml" ContentType="application/vnd.openxmlformats-officedocument.presentationml.slide+xml"/>
  <Override PartName="/ppt/slides/slide5.xml" ContentType="application/vnd.openxmlformats-officedocument.presentationml.slide+xml"/>
  <Override PartName="/ppt/slides/slide19.xml" ContentType="application/vnd.openxmlformats-officedocument.presentationml.slide+xml"/>
  <Override PartName="/ppt/slides/slide22.xml" ContentType="application/vnd.openxmlformats-officedocument.presentationml.slide+xml"/>
  <Override PartName="/ppt/slides/slide25.xml" ContentType="application/vnd.openxmlformats-officedocument.presentationml.slide+xml"/>
  <Override PartName="/ppt/slides/slide21.xml" ContentType="application/vnd.openxmlformats-officedocument.presentationml.slide+xml"/>
  <Override PartName="/ppt/slides/slide28.xml" ContentType="application/vnd.openxmlformats-officedocument.presentationml.slide+xml"/>
  <Override PartName="/ppt/slides/slide12.xml" ContentType="application/vnd.openxmlformats-officedocument.presentationml.slide+xml"/>
  <Override PartName="/ppt/slides/slide30.xml" ContentType="application/vnd.openxmlformats-officedocument.presentationml.slide+xml"/>
  <Override PartName="/ppt/slides/slide11.xml" ContentType="application/vnd.openxmlformats-officedocument.presentationml.slide+xml"/>
  <Override PartName="/ppt/slides/slide13.xml" ContentType="application/vnd.openxmlformats-officedocument.presentationml.slide+xml"/>
  <Override PartName="/ppt/slides/slide4.xml" ContentType="application/vnd.openxmlformats-officedocument.presentationml.slide+xml"/>
  <Override PartName="/ppt/slides/slide9.xml" ContentType="application/vnd.openxmlformats-officedocument.presentationml.slide+xml"/>
  <Override PartName="/ppt/slides/slide31.xml" ContentType="application/vnd.openxmlformats-officedocument.presentationml.slide+xml"/>
  <Override PartName="/ppt/slides/slide24.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1.xml" ContentType="application/vnd.openxmlformats-officedocument.presentationml.slide+xml"/>
  <Override PartName="/ppt/slides/slide18.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17.xml" ContentType="application/vnd.openxmlformats-officedocument.presentationml.slide+xml"/>
  <Override PartName="/ppt/slides/slide10.xml" ContentType="application/vnd.openxmlformats-officedocument.presentationml.slide+xml"/>
  <Override PartName="/ppt/slides/slide23.xml" ContentType="application/vnd.openxmlformats-officedocument.presentationml.slide+xml"/>
  <Override PartName="/ppt/slides/slide2.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16.xml" ContentType="application/vnd.openxmlformats-officedocument.presentationml.slide+xml"/>
  <Override PartName="/ppt/slides/slide15.xml" ContentType="application/vnd.openxmlformats-officedocument.presentationml.slide+xml"/>
  <Override PartName="/ppt/slides/slide6.xml" ContentType="application/vnd.openxmlformats-officedocument.presentationml.slide+xml"/>
  <Override PartName="/ppt/slides/slide14.xml" ContentType="application/vnd.openxmlformats-officedocument.presentationml.slide+xml"/>
  <Override PartName="/ppt/notesSlides/notesSlide6.xml" ContentType="application/vnd.openxmlformats-officedocument.presentationml.notesSlide+xml"/>
  <Override PartName="/ppt/notesSlides/notesSlide20.xml" ContentType="application/vnd.openxmlformats-officedocument.presentationml.notesSlide+xml"/>
  <Override PartName="/ppt/notesSlides/notesSlide8.xml" ContentType="application/vnd.openxmlformats-officedocument.presentationml.notesSlide+xml"/>
  <Override PartName="/ppt/notesSlides/notesSlide13.xml" ContentType="application/vnd.openxmlformats-officedocument.presentationml.notesSlide+xml"/>
  <Override PartName="/ppt/notesSlides/notesSlide32.xml" ContentType="application/vnd.openxmlformats-officedocument.presentationml.notesSlide+xml"/>
  <Override PartName="/ppt/notesSlides/notesSlide10.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9.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Lst>
  <p:sldSz cx="10080625" cy="5670550"/>
  <p:notesSz cx="7559675" cy="10691813"/>
  <p:custShowLst>
    <p:custShow name="New Custom Slide Show" id="0">
      <p:sldLst>
        <p:sld r:id="rId11"/>
      </p:sldLst>
    </p:custShow>
  </p:custShowLst>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slide" Target="slides/slide25.xml"/><Relationship Id="rId29" Type="http://schemas.openxmlformats.org/officeDocument/2006/relationships/slide" Target="slides/slide26.xml"/><Relationship Id="rId30" Type="http://schemas.openxmlformats.org/officeDocument/2006/relationships/slide" Target="slides/slide27.xml"/><Relationship Id="rId31" Type="http://schemas.openxmlformats.org/officeDocument/2006/relationships/slide" Target="slides/slide28.xml"/><Relationship Id="rId32" Type="http://schemas.openxmlformats.org/officeDocument/2006/relationships/slide" Target="slides/slide29.xml"/><Relationship Id="rId33" Type="http://schemas.openxmlformats.org/officeDocument/2006/relationships/slide" Target="slides/slide30.xml"/><Relationship Id="rId34" Type="http://schemas.openxmlformats.org/officeDocument/2006/relationships/slide" Target="slides/slide31.xml"/><Relationship Id="rId35" Type="http://schemas.openxmlformats.org/officeDocument/2006/relationships/slide" Target="slides/slide32.xml"/><Relationship Id="rId36" Type="http://schemas.openxmlformats.org/officeDocument/2006/relationships/slide" Target="slides/slide33.xml"/><Relationship Id="rId37"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 name="PlaceHolder 1"/>
          <p:cNvSpPr>
            <a:spLocks noGrp="1"/>
          </p:cNvSpPr>
          <p:nvPr>
            <p:ph type="sldImg"/>
          </p:nvPr>
        </p:nvSpPr>
        <p:spPr>
          <a:xfrm>
            <a:off x="216000" y="812520"/>
            <a:ext cx="7127280" cy="4008960"/>
          </a:xfrm>
          <a:prstGeom prst="rect">
            <a:avLst/>
          </a:prstGeom>
          <a:noFill/>
          <a:ln w="0">
            <a:noFill/>
          </a:ln>
        </p:spPr>
        <p:txBody>
          <a:bodyPr lIns="0" rIns="0" tIns="0" bIns="0" anchor="ctr">
            <a:noAutofit/>
          </a:bodyPr>
          <a:p>
            <a:pPr algn="ctr"/>
            <a:r>
              <a:rPr lang="en-AU" sz="4400" b="0" u="none" strike="noStrike">
                <a:solidFill>
                  <a:srgbClr val="000000"/>
                </a:solidFill>
                <a:effectLst/>
                <a:uFillTx/>
                <a:latin typeface="Arial"/>
              </a:rPr>
              <a:t>Click to move the slide</a:t>
            </a:r>
            <a:endParaRPr lang="en-AU" sz="4400" b="0" u="none" strike="noStrike">
              <a:solidFill>
                <a:srgbClr val="000000"/>
              </a:solidFill>
              <a:effectLst/>
              <a:uFillTx/>
              <a:latin typeface="Arial"/>
            </a:endParaRPr>
          </a:p>
        </p:txBody>
      </p:sp>
      <p:sp>
        <p:nvSpPr>
          <p:cNvPr id="10"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indent="0">
              <a:buNone/>
            </a:pPr>
            <a:r>
              <a:rPr lang="en-AU" sz="2000" b="0" u="none" strike="noStrike">
                <a:solidFill>
                  <a:srgbClr val="000000"/>
                </a:solidFill>
                <a:effectLst/>
                <a:uFillTx/>
                <a:latin typeface="Arial"/>
              </a:rPr>
              <a:t>Click to edit the notes format</a:t>
            </a:r>
            <a:endParaRPr lang="en-AU" sz="2000" b="0" u="none" strike="noStrike">
              <a:solidFill>
                <a:srgbClr val="000000"/>
              </a:solidFill>
              <a:effectLst/>
              <a:uFillTx/>
              <a:latin typeface="Arial"/>
            </a:endParaRPr>
          </a:p>
        </p:txBody>
      </p:sp>
      <p:sp>
        <p:nvSpPr>
          <p:cNvPr id="11" name="PlaceHolder 3"/>
          <p:cNvSpPr>
            <a:spLocks noGrp="1"/>
          </p:cNvSpPr>
          <p:nvPr>
            <p:ph type="hdr"/>
          </p:nvPr>
        </p:nvSpPr>
        <p:spPr>
          <a:xfrm>
            <a:off x="0" y="0"/>
            <a:ext cx="3280680" cy="534240"/>
          </a:xfrm>
          <a:prstGeom prst="rect">
            <a:avLst/>
          </a:prstGeom>
          <a:noFill/>
          <a:ln w="0">
            <a:noFill/>
          </a:ln>
        </p:spPr>
        <p:txBody>
          <a:bodyPr lIns="0" rIns="0" tIns="0" bIns="0" anchor="t">
            <a:noAutofit/>
          </a:bodyPr>
          <a:p>
            <a:pPr indent="0">
              <a:buNone/>
            </a:pPr>
            <a:r>
              <a:rPr lang="en-AU" sz="1400" b="0" u="none" strike="noStrike">
                <a:solidFill>
                  <a:srgbClr val="000000"/>
                </a:solidFill>
                <a:effectLst/>
                <a:uFillTx/>
                <a:latin typeface="Times New Roman"/>
              </a:rPr>
              <a:t> </a:t>
            </a:r>
            <a:endParaRPr lang="en-AU" sz="1400" b="0" u="none" strike="noStrike">
              <a:solidFill>
                <a:srgbClr val="000000"/>
              </a:solidFill>
              <a:effectLst/>
              <a:uFillTx/>
              <a:latin typeface="Times New Roman"/>
            </a:endParaRPr>
          </a:p>
        </p:txBody>
      </p:sp>
      <p:sp>
        <p:nvSpPr>
          <p:cNvPr id="12" name="PlaceHolder 4"/>
          <p:cNvSpPr>
            <a:spLocks noGrp="1"/>
          </p:cNvSpPr>
          <p:nvPr>
            <p:ph type="dt" idx="4"/>
          </p:nvPr>
        </p:nvSpPr>
        <p:spPr>
          <a:xfrm>
            <a:off x="4278960" y="0"/>
            <a:ext cx="3280680" cy="534240"/>
          </a:xfrm>
          <a:prstGeom prst="rect">
            <a:avLst/>
          </a:prstGeom>
          <a:noFill/>
          <a:ln w="0">
            <a:noFill/>
          </a:ln>
        </p:spPr>
        <p:txBody>
          <a:bodyPr lIns="0" rIns="0" tIns="0" bIns="0" anchor="t">
            <a:noAutofit/>
          </a:bodyPr>
          <a:lstStyle>
            <a:lvl1pPr indent="0" algn="r">
              <a:buNone/>
              <a:defRPr lang="en-AU" sz="1400" b="0" u="none" strike="noStrike">
                <a:solidFill>
                  <a:srgbClr val="000000"/>
                </a:solidFill>
                <a:effectLst/>
                <a:uFillTx/>
                <a:latin typeface="Times New Roman"/>
              </a:defRPr>
            </a:lvl1pPr>
          </a:lstStyle>
          <a:p>
            <a:pPr indent="0" algn="r">
              <a:buNone/>
            </a:pPr>
            <a:r>
              <a:rPr lang="en-AU" sz="1400" b="0" u="none" strike="noStrike">
                <a:solidFill>
                  <a:srgbClr val="000000"/>
                </a:solidFill>
                <a:effectLst/>
                <a:uFillTx/>
                <a:latin typeface="Times New Roman"/>
              </a:rPr>
              <a:t> </a:t>
            </a:r>
            <a:endParaRPr lang="en-AU" sz="1400" b="0" u="none" strike="noStrike">
              <a:solidFill>
                <a:srgbClr val="000000"/>
              </a:solidFill>
              <a:effectLst/>
              <a:uFillTx/>
              <a:latin typeface="Times New Roman"/>
            </a:endParaRPr>
          </a:p>
        </p:txBody>
      </p:sp>
      <p:sp>
        <p:nvSpPr>
          <p:cNvPr id="13" name="PlaceHolder 5"/>
          <p:cNvSpPr>
            <a:spLocks noGrp="1"/>
          </p:cNvSpPr>
          <p:nvPr>
            <p:ph type="ftr" idx="5"/>
          </p:nvPr>
        </p:nvSpPr>
        <p:spPr>
          <a:xfrm>
            <a:off x="0" y="10157400"/>
            <a:ext cx="3280680" cy="534240"/>
          </a:xfrm>
          <a:prstGeom prst="rect">
            <a:avLst/>
          </a:prstGeom>
          <a:noFill/>
          <a:ln w="0">
            <a:noFill/>
          </a:ln>
        </p:spPr>
        <p:txBody>
          <a:bodyPr lIns="0" rIns="0" tIns="0" bIns="0" anchor="b">
            <a:noAutofit/>
          </a:bodyPr>
          <a:lstStyle>
            <a:lvl1pPr indent="0">
              <a:buNone/>
              <a:defRPr lang="en-AU" sz="1400" b="0" u="none" strike="noStrike">
                <a:solidFill>
                  <a:srgbClr val="000000"/>
                </a:solidFill>
                <a:effectLst/>
                <a:uFillTx/>
                <a:latin typeface="Times New Roman"/>
              </a:defRPr>
            </a:lvl1pPr>
          </a:lstStyle>
          <a:p>
            <a:pPr indent="0">
              <a:buNone/>
            </a:pPr>
            <a:r>
              <a:rPr lang="en-AU" sz="1400" b="0" u="none" strike="noStrike">
                <a:solidFill>
                  <a:srgbClr val="000000"/>
                </a:solidFill>
                <a:effectLst/>
                <a:uFillTx/>
                <a:latin typeface="Times New Roman"/>
              </a:rPr>
              <a:t> </a:t>
            </a:r>
            <a:endParaRPr lang="en-AU" sz="1400" b="0" u="none" strike="noStrike">
              <a:solidFill>
                <a:srgbClr val="000000"/>
              </a:solidFill>
              <a:effectLst/>
              <a:uFillTx/>
              <a:latin typeface="Times New Roman"/>
            </a:endParaRPr>
          </a:p>
        </p:txBody>
      </p:sp>
      <p:sp>
        <p:nvSpPr>
          <p:cNvPr id="14" name="PlaceHolder 6"/>
          <p:cNvSpPr>
            <a:spLocks noGrp="1"/>
          </p:cNvSpPr>
          <p:nvPr>
            <p:ph type="sldNum" idx="6"/>
          </p:nvPr>
        </p:nvSpPr>
        <p:spPr>
          <a:xfrm>
            <a:off x="4278960" y="10157400"/>
            <a:ext cx="3280680" cy="534240"/>
          </a:xfrm>
          <a:prstGeom prst="rect">
            <a:avLst/>
          </a:prstGeom>
          <a:noFill/>
          <a:ln w="0">
            <a:noFill/>
          </a:ln>
        </p:spPr>
        <p:txBody>
          <a:bodyPr lIns="0" rIns="0" tIns="0" bIns="0" anchor="b">
            <a:noAutofit/>
          </a:bodyPr>
          <a:lstStyle>
            <a:lvl1pPr indent="0" algn="r">
              <a:buNone/>
              <a:defRPr lang="en-AU" sz="1400" b="0" u="none" strike="noStrike">
                <a:solidFill>
                  <a:srgbClr val="000000"/>
                </a:solidFill>
                <a:effectLst/>
                <a:uFillTx/>
                <a:latin typeface="Times New Roman"/>
              </a:defRPr>
            </a:lvl1pPr>
          </a:lstStyle>
          <a:p>
            <a:pPr indent="0" algn="r">
              <a:buNone/>
            </a:pPr>
            <a:fld id="{06C66CD8-6FD9-4632-ABC0-1F60291603D8}" type="slidenum">
              <a:rPr lang="en-AU" sz="1400" b="0" u="none" strike="noStrike">
                <a:solidFill>
                  <a:srgbClr val="000000"/>
                </a:solidFill>
                <a:effectLst/>
                <a:uFillTx/>
                <a:latin typeface="Times New Roman"/>
              </a:rPr>
              <a:t>1</a:t>
            </a:fld>
            <a:endParaRPr lang="en-AU" sz="1400" b="0" u="none" strike="noStrik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_rels/notesSlide19.xml.rels><?xml version="1.0" encoding="UTF-8"?>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
</Relationships>
</file>

<file path=ppt/notesSlides/_rels/notesSlide20.xml.rels><?xml version="1.0" encoding="UTF-8"?>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
</Relationships>
</file>

<file path=ppt/notesSlides/_rels/notesSlide32.xml.rels><?xml version="1.0" encoding="UTF-8"?>
<Relationships xmlns="http://schemas.openxmlformats.org/package/2006/relationships"><Relationship Id="rId1" Type="http://schemas.openxmlformats.org/officeDocument/2006/relationships/slide" Target="../slides/slide32.xml"/><Relationship Id="rId2" Type="http://schemas.openxmlformats.org/officeDocument/2006/relationships/notesMaster" Target="../notesMasters/notesMaster1.xml"/>
</Relationship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9" name="PlaceHolder 1"/>
          <p:cNvSpPr>
            <a:spLocks noGrp="1"/>
          </p:cNvSpPr>
          <p:nvPr>
            <p:ph type="sldImg"/>
          </p:nvPr>
        </p:nvSpPr>
        <p:spPr>
          <a:xfrm>
            <a:off x="216000" y="812520"/>
            <a:ext cx="7124400" cy="4006080"/>
          </a:xfrm>
          <a:prstGeom prst="rect">
            <a:avLst/>
          </a:prstGeom>
          <a:ln w="0">
            <a:noFill/>
          </a:ln>
        </p:spPr>
      </p:sp>
      <p:sp>
        <p:nvSpPr>
          <p:cNvPr id="130" name="PlaceHolder 2"/>
          <p:cNvSpPr>
            <a:spLocks noGrp="1"/>
          </p:cNvSpPr>
          <p:nvPr>
            <p:ph type="body"/>
          </p:nvPr>
        </p:nvSpPr>
        <p:spPr>
          <a:xfrm>
            <a:off x="756000" y="5078520"/>
            <a:ext cx="6044760" cy="4808160"/>
          </a:xfrm>
          <a:prstGeom prst="rect">
            <a:avLst/>
          </a:prstGeom>
          <a:noFill/>
          <a:ln w="0">
            <a:noFill/>
          </a:ln>
        </p:spPr>
        <p:txBody>
          <a:bodyPr lIns="0" rIns="0" tIns="0" bIns="0" anchor="t">
            <a:noAutofit/>
          </a:bodyPr>
          <a:p>
            <a:pPr indent="0">
              <a:lnSpc>
                <a:spcPct val="100000"/>
              </a:lnSpc>
              <a:buNone/>
              <a:tabLst>
                <a:tab algn="l" pos="0"/>
              </a:tabLst>
            </a:pPr>
            <a:r>
              <a:rPr lang="en-US" sz="2000" b="0" u="none" strike="noStrike">
                <a:solidFill>
                  <a:srgbClr val="000000"/>
                </a:solidFill>
                <a:effectLst/>
                <a:uFillTx/>
                <a:latin typeface="Arial"/>
              </a:rPr>
              <a:t>Why should we bother KC? Imagine you are a teacher. You usually care about how well you have mastered the knowledge that the question tries to test. Not the question itself.</a:t>
            </a:r>
            <a:endParaRPr lang="en-AU" sz="2000" b="0" u="none" strike="noStrike">
              <a:solidFill>
                <a:srgbClr val="000000"/>
              </a:solidFill>
              <a:effectLst/>
              <a:uFillTx/>
              <a:latin typeface="Arial"/>
            </a:endParaRPr>
          </a:p>
          <a:p>
            <a:pPr indent="0">
              <a:lnSpc>
                <a:spcPct val="100000"/>
              </a:lnSpc>
              <a:buNone/>
              <a:tabLst>
                <a:tab algn="l" pos="0"/>
              </a:tabLst>
            </a:pPr>
            <a:endParaRPr lang="en-AU" sz="2000" b="0" u="none" strike="noStrike">
              <a:solidFill>
                <a:srgbClr val="000000"/>
              </a:solidFill>
              <a:effectLst/>
              <a:uFillTx/>
              <a:latin typeface="Arial"/>
            </a:endParaRPr>
          </a:p>
          <a:p>
            <a:pPr indent="0">
              <a:lnSpc>
                <a:spcPct val="100000"/>
              </a:lnSpc>
              <a:buNone/>
              <a:tabLst>
                <a:tab algn="l" pos="0"/>
              </a:tabLst>
            </a:pPr>
            <a:r>
              <a:rPr lang="en-US" sz="2000" b="0" u="none" strike="noStrike">
                <a:solidFill>
                  <a:srgbClr val="000000"/>
                </a:solidFill>
                <a:effectLst/>
                <a:uFillTx/>
                <a:latin typeface="Arial"/>
              </a:rPr>
              <a:t>Back to the previous slide. If KCs are provided in the dataset, that is ideal. However, it is usually the job of the model to figure what are the KCs hidden in the question. </a:t>
            </a:r>
            <a:endParaRPr lang="en-AU" sz="2000" b="0" u="none" strike="noStrike">
              <a:solidFill>
                <a:srgbClr val="000000"/>
              </a:solidFill>
              <a:effectLst/>
              <a:uFillTx/>
              <a:latin typeface="Arial"/>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1" name="PlaceHolder 1"/>
          <p:cNvSpPr>
            <a:spLocks noGrp="1"/>
          </p:cNvSpPr>
          <p:nvPr>
            <p:ph type="sldImg"/>
          </p:nvPr>
        </p:nvSpPr>
        <p:spPr>
          <a:xfrm>
            <a:off x="216000" y="812520"/>
            <a:ext cx="7124400" cy="4006080"/>
          </a:xfrm>
          <a:prstGeom prst="rect">
            <a:avLst/>
          </a:prstGeom>
          <a:ln w="0">
            <a:noFill/>
          </a:ln>
        </p:spPr>
      </p:sp>
      <p:sp>
        <p:nvSpPr>
          <p:cNvPr id="132" name="PlaceHolder 2"/>
          <p:cNvSpPr>
            <a:spLocks noGrp="1"/>
          </p:cNvSpPr>
          <p:nvPr>
            <p:ph type="body"/>
          </p:nvPr>
        </p:nvSpPr>
        <p:spPr>
          <a:xfrm>
            <a:off x="756000" y="5078520"/>
            <a:ext cx="6044760" cy="4808160"/>
          </a:xfrm>
          <a:prstGeom prst="rect">
            <a:avLst/>
          </a:prstGeom>
          <a:noFill/>
          <a:ln w="0">
            <a:noFill/>
          </a:ln>
        </p:spPr>
        <p:txBody>
          <a:bodyPr lIns="0" rIns="0" tIns="0" bIns="0" anchor="t">
            <a:noAutofit/>
          </a:bodyPr>
          <a:p>
            <a:pPr indent="0">
              <a:lnSpc>
                <a:spcPct val="100000"/>
              </a:lnSpc>
              <a:buNone/>
              <a:tabLst>
                <a:tab algn="l" pos="0"/>
              </a:tabLst>
            </a:pPr>
            <a:r>
              <a:rPr lang="en-US" sz="2000" b="0" u="none" strike="noStrike">
                <a:solidFill>
                  <a:srgbClr val="000000"/>
                </a:solidFill>
                <a:effectLst/>
                <a:uFillTx/>
                <a:latin typeface="Arial"/>
              </a:rPr>
              <a:t>Up-de-ra-ha-men</a:t>
            </a:r>
            <a:endParaRPr lang="en-AU" sz="2000" b="0" u="none" strike="noStrike">
              <a:solidFill>
                <a:srgbClr val="000000"/>
              </a:solidFill>
              <a:effectLst/>
              <a:uFillTx/>
              <a:latin typeface="Arial"/>
            </a:endParaRPr>
          </a:p>
          <a:p>
            <a:pPr indent="0">
              <a:lnSpc>
                <a:spcPct val="100000"/>
              </a:lnSpc>
              <a:buNone/>
              <a:tabLst>
                <a:tab algn="l" pos="0"/>
              </a:tabLst>
            </a:pPr>
            <a:endParaRPr lang="en-AU" sz="2000" b="0" u="none" strike="noStrike">
              <a:solidFill>
                <a:srgbClr val="000000"/>
              </a:solidFill>
              <a:effectLst/>
              <a:uFillTx/>
              <a:latin typeface="Arial"/>
            </a:endParaRPr>
          </a:p>
          <a:p>
            <a:pPr indent="0">
              <a:lnSpc>
                <a:spcPct val="100000"/>
              </a:lnSpc>
              <a:buNone/>
              <a:tabLst>
                <a:tab algn="l" pos="0"/>
              </a:tabLst>
            </a:pPr>
            <a:r>
              <a:rPr lang="en-US" sz="2000" b="0" u="none" strike="noStrike">
                <a:solidFill>
                  <a:srgbClr val="000000"/>
                </a:solidFill>
                <a:effectLst/>
                <a:uFillTx/>
                <a:latin typeface="Arial"/>
              </a:rPr>
              <a:t>Talk about how to train as well</a:t>
            </a:r>
            <a:endParaRPr lang="en-AU" sz="2000" b="0" u="none" strike="noStrike">
              <a:solidFill>
                <a:srgbClr val="000000"/>
              </a:solidFill>
              <a:effectLst/>
              <a:uFillTx/>
              <a:latin typeface="Arial"/>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3" name="PlaceHolder 1"/>
          <p:cNvSpPr>
            <a:spLocks noGrp="1"/>
          </p:cNvSpPr>
          <p:nvPr>
            <p:ph type="sldImg"/>
          </p:nvPr>
        </p:nvSpPr>
        <p:spPr>
          <a:xfrm>
            <a:off x="216000" y="812520"/>
            <a:ext cx="7124400" cy="4006080"/>
          </a:xfrm>
          <a:prstGeom prst="rect">
            <a:avLst/>
          </a:prstGeom>
          <a:ln w="0">
            <a:noFill/>
          </a:ln>
        </p:spPr>
      </p:sp>
      <p:sp>
        <p:nvSpPr>
          <p:cNvPr id="134" name="PlaceHolder 2"/>
          <p:cNvSpPr>
            <a:spLocks noGrp="1"/>
          </p:cNvSpPr>
          <p:nvPr>
            <p:ph type="body"/>
          </p:nvPr>
        </p:nvSpPr>
        <p:spPr>
          <a:xfrm>
            <a:off x="756000" y="5078520"/>
            <a:ext cx="6044760" cy="4808160"/>
          </a:xfrm>
          <a:prstGeom prst="rect">
            <a:avLst/>
          </a:prstGeom>
          <a:noFill/>
          <a:ln w="0">
            <a:noFill/>
          </a:ln>
        </p:spPr>
        <p:txBody>
          <a:bodyPr lIns="0" rIns="0" tIns="0" bIns="0" anchor="t">
            <a:noAutofit/>
          </a:bodyPr>
          <a:p>
            <a:pPr indent="0">
              <a:lnSpc>
                <a:spcPct val="100000"/>
              </a:lnSpc>
              <a:buNone/>
              <a:tabLst>
                <a:tab algn="l" pos="0"/>
              </a:tabLst>
            </a:pPr>
            <a:r>
              <a:rPr lang="en-US" sz="2000" b="0" u="none" strike="noStrike">
                <a:solidFill>
                  <a:srgbClr val="000000"/>
                </a:solidFill>
                <a:effectLst/>
                <a:uFillTx/>
                <a:latin typeface="Arial"/>
              </a:rPr>
              <a:t>Note that explicit is to some extent. The KC nodes itself may not be interpretable</a:t>
            </a:r>
            <a:endParaRPr lang="en-AU" sz="2000" b="0" u="none" strike="noStrike">
              <a:solidFill>
                <a:srgbClr val="000000"/>
              </a:solidFill>
              <a:effectLst/>
              <a:uFillTx/>
              <a:latin typeface="Arial"/>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5" name="PlaceHolder 1"/>
          <p:cNvSpPr>
            <a:spLocks noGrp="1"/>
          </p:cNvSpPr>
          <p:nvPr>
            <p:ph type="sldImg"/>
          </p:nvPr>
        </p:nvSpPr>
        <p:spPr>
          <a:xfrm>
            <a:off x="216000" y="812520"/>
            <a:ext cx="7124400" cy="4006080"/>
          </a:xfrm>
          <a:prstGeom prst="rect">
            <a:avLst/>
          </a:prstGeom>
          <a:ln w="0">
            <a:noFill/>
          </a:ln>
        </p:spPr>
      </p:sp>
      <p:sp>
        <p:nvSpPr>
          <p:cNvPr id="136" name="PlaceHolder 2"/>
          <p:cNvSpPr>
            <a:spLocks noGrp="1"/>
          </p:cNvSpPr>
          <p:nvPr>
            <p:ph type="body"/>
          </p:nvPr>
        </p:nvSpPr>
        <p:spPr>
          <a:xfrm>
            <a:off x="756000" y="5078520"/>
            <a:ext cx="6044760" cy="4808160"/>
          </a:xfrm>
          <a:prstGeom prst="rect">
            <a:avLst/>
          </a:prstGeom>
          <a:noFill/>
          <a:ln w="0">
            <a:noFill/>
          </a:ln>
        </p:spPr>
        <p:txBody>
          <a:bodyPr lIns="0" rIns="0" tIns="0" bIns="0" anchor="t">
            <a:noAutofit/>
          </a:bodyPr>
          <a:p>
            <a:pPr indent="0">
              <a:lnSpc>
                <a:spcPct val="100000"/>
              </a:lnSpc>
              <a:buNone/>
              <a:tabLst>
                <a:tab algn="l" pos="0"/>
              </a:tabLst>
            </a:pPr>
            <a:r>
              <a:rPr lang="en-US" sz="2000" b="0" u="none" strike="noStrike">
                <a:solidFill>
                  <a:srgbClr val="000000"/>
                </a:solidFill>
                <a:effectLst/>
                <a:uFillTx/>
                <a:latin typeface="Arial"/>
              </a:rPr>
              <a:t>Note that explicit is to some extent. The KC nodes itself may not be interpretable</a:t>
            </a:r>
            <a:endParaRPr lang="en-AU" sz="2000" b="0" u="none" strike="noStrike">
              <a:solidFill>
                <a:srgbClr val="000000"/>
              </a:solidFill>
              <a:effectLst/>
              <a:uFillTx/>
              <a:latin typeface="Arial"/>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7" name="PlaceHolder 1"/>
          <p:cNvSpPr>
            <a:spLocks noGrp="1"/>
          </p:cNvSpPr>
          <p:nvPr>
            <p:ph type="sldImg"/>
          </p:nvPr>
        </p:nvSpPr>
        <p:spPr>
          <a:xfrm>
            <a:off x="216000" y="812520"/>
            <a:ext cx="7124400" cy="4006080"/>
          </a:xfrm>
          <a:prstGeom prst="rect">
            <a:avLst/>
          </a:prstGeom>
          <a:ln w="0">
            <a:noFill/>
          </a:ln>
        </p:spPr>
      </p:sp>
      <p:sp>
        <p:nvSpPr>
          <p:cNvPr id="138" name="PlaceHolder 2"/>
          <p:cNvSpPr>
            <a:spLocks noGrp="1"/>
          </p:cNvSpPr>
          <p:nvPr>
            <p:ph type="body"/>
          </p:nvPr>
        </p:nvSpPr>
        <p:spPr>
          <a:xfrm>
            <a:off x="756000" y="5078520"/>
            <a:ext cx="6044760" cy="4808160"/>
          </a:xfrm>
          <a:prstGeom prst="rect">
            <a:avLst/>
          </a:prstGeom>
          <a:noFill/>
          <a:ln w="0">
            <a:noFill/>
          </a:ln>
        </p:spPr>
        <p:txBody>
          <a:bodyPr lIns="0" rIns="0" tIns="0" bIns="0" anchor="t">
            <a:noAutofit/>
          </a:bodyPr>
          <a:p>
            <a:pPr indent="0">
              <a:lnSpc>
                <a:spcPct val="100000"/>
              </a:lnSpc>
              <a:buNone/>
              <a:tabLst>
                <a:tab algn="l" pos="0"/>
              </a:tabLst>
            </a:pPr>
            <a:r>
              <a:rPr lang="en-US" sz="2000" b="0" u="none" strike="noStrike">
                <a:solidFill>
                  <a:srgbClr val="000000"/>
                </a:solidFill>
                <a:effectLst/>
                <a:uFillTx/>
                <a:latin typeface="Arial"/>
              </a:rPr>
              <a:t>Up-de-ra-ha-men</a:t>
            </a:r>
            <a:endParaRPr lang="en-AU" sz="2000" b="0" u="none" strike="noStrike">
              <a:solidFill>
                <a:srgbClr val="000000"/>
              </a:solidFill>
              <a:effectLst/>
              <a:uFillTx/>
              <a:latin typeface="Arial"/>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9" name="PlaceHolder 1"/>
          <p:cNvSpPr>
            <a:spLocks noGrp="1"/>
          </p:cNvSpPr>
          <p:nvPr>
            <p:ph type="sldImg"/>
          </p:nvPr>
        </p:nvSpPr>
        <p:spPr>
          <a:xfrm>
            <a:off x="216000" y="812520"/>
            <a:ext cx="7124400" cy="4006080"/>
          </a:xfrm>
          <a:prstGeom prst="rect">
            <a:avLst/>
          </a:prstGeom>
          <a:ln w="0">
            <a:noFill/>
          </a:ln>
        </p:spPr>
      </p:sp>
      <p:sp>
        <p:nvSpPr>
          <p:cNvPr id="140" name="PlaceHolder 2"/>
          <p:cNvSpPr>
            <a:spLocks noGrp="1"/>
          </p:cNvSpPr>
          <p:nvPr>
            <p:ph type="body"/>
          </p:nvPr>
        </p:nvSpPr>
        <p:spPr>
          <a:xfrm>
            <a:off x="756000" y="5078520"/>
            <a:ext cx="6044760" cy="4808160"/>
          </a:xfrm>
          <a:prstGeom prst="rect">
            <a:avLst/>
          </a:prstGeom>
          <a:noFill/>
          <a:ln w="0">
            <a:noFill/>
          </a:ln>
        </p:spPr>
        <p:txBody>
          <a:bodyPr lIns="0" rIns="0" tIns="0" bIns="0" anchor="t">
            <a:noAutofit/>
          </a:bodyPr>
          <a:p>
            <a:pPr indent="0">
              <a:lnSpc>
                <a:spcPct val="100000"/>
              </a:lnSpc>
              <a:spcBef>
                <a:spcPts val="1417"/>
              </a:spcBef>
              <a:buNone/>
              <a:tabLst>
                <a:tab algn="l" pos="0"/>
              </a:tabLst>
            </a:pPr>
            <a:r>
              <a:rPr lang="en-US" sz="1200" b="0" u="none" strike="noStrike">
                <a:solidFill>
                  <a:srgbClr val="000000"/>
                </a:solidFill>
                <a:effectLst/>
                <a:uFillTx/>
                <a:latin typeface="Arial"/>
              </a:rPr>
              <a:t>🤔 How does it model KC-KC relations?</a:t>
            </a:r>
            <a:endParaRPr lang="en-AU" sz="1200" b="0" u="none" strike="noStrike">
              <a:solidFill>
                <a:srgbClr val="000000"/>
              </a:solidFill>
              <a:effectLst/>
              <a:uFillTx/>
              <a:latin typeface="Arial"/>
            </a:endParaRPr>
          </a:p>
          <a:p>
            <a:pPr marL="432000" indent="-324000">
              <a:lnSpc>
                <a:spcPct val="100000"/>
              </a:lnSpc>
              <a:spcBef>
                <a:spcPts val="1417"/>
              </a:spcBef>
              <a:buClr>
                <a:srgbClr val="000000"/>
              </a:buClr>
              <a:buSzPct val="45000"/>
              <a:buFont typeface="Wingdings" charset="2"/>
              <a:buChar char=""/>
              <a:tabLst>
                <a:tab algn="l" pos="0"/>
              </a:tabLst>
            </a:pPr>
            <a:r>
              <a:rPr lang="en-US" sz="1200" b="1" u="none" strike="noStrike">
                <a:solidFill>
                  <a:srgbClr val="000000"/>
                </a:solidFill>
                <a:effectLst/>
                <a:uFillTx/>
                <a:latin typeface="Arial"/>
              </a:rPr>
              <a:t>Implicitly</a:t>
            </a:r>
            <a:r>
              <a:rPr lang="en-US" sz="1200" b="0" u="none" strike="noStrike">
                <a:solidFill>
                  <a:srgbClr val="000000"/>
                </a:solidFill>
                <a:effectLst/>
                <a:uFillTx/>
                <a:latin typeface="Arial"/>
              </a:rPr>
              <a:t> through Recurrent Weights</a:t>
            </a:r>
            <a:endParaRPr lang="en-AU" sz="1200" b="0" u="none" strike="noStrike">
              <a:solidFill>
                <a:srgbClr val="000000"/>
              </a:solidFill>
              <a:effectLst/>
              <a:uFillTx/>
              <a:latin typeface="Arial"/>
            </a:endParaRPr>
          </a:p>
          <a:p>
            <a:pPr marL="432000" indent="-324000">
              <a:lnSpc>
                <a:spcPct val="100000"/>
              </a:lnSpc>
              <a:spcBef>
                <a:spcPts val="1191"/>
              </a:spcBef>
              <a:spcAft>
                <a:spcPts val="992"/>
              </a:spcAft>
              <a:buClr>
                <a:srgbClr val="000000"/>
              </a:buClr>
              <a:buSzPct val="45000"/>
              <a:buFont typeface="Wingdings" charset="2"/>
              <a:buChar char=""/>
              <a:tabLst>
                <a:tab algn="l" pos="0"/>
              </a:tabLst>
            </a:pPr>
            <a:r>
              <a:rPr lang="en-US" sz="1200" b="0" u="none" strike="noStrike">
                <a:solidFill>
                  <a:srgbClr val="000000"/>
                </a:solidFill>
                <a:effectLst/>
                <a:uFillTx/>
                <a:latin typeface="Arial"/>
                <a:ea typeface="Noto Sans CJK SC"/>
              </a:rPr>
              <a:t>Why implicit? There’s no explicit graph or adjacency matrix connecting skills.</a:t>
            </a:r>
            <a:endParaRPr lang="en-AU" sz="1200" b="0" u="none" strike="noStrike">
              <a:solidFill>
                <a:srgbClr val="000000"/>
              </a:solidFill>
              <a:effectLst/>
              <a:uFillTx/>
              <a:latin typeface="Arial"/>
            </a:endParaRPr>
          </a:p>
          <a:p>
            <a:pPr marL="432000" indent="-324000">
              <a:lnSpc>
                <a:spcPct val="100000"/>
              </a:lnSpc>
              <a:spcBef>
                <a:spcPts val="1191"/>
              </a:spcBef>
              <a:spcAft>
                <a:spcPts val="992"/>
              </a:spcAft>
              <a:buClr>
                <a:srgbClr val="000000"/>
              </a:buClr>
              <a:buSzPct val="45000"/>
              <a:buFont typeface="Wingdings" charset="2"/>
              <a:buChar char=""/>
              <a:tabLst>
                <a:tab algn="l" pos="0"/>
              </a:tabLst>
            </a:pPr>
            <a:r>
              <a:rPr lang="en-US" sz="1200" b="0" u="none" strike="noStrike">
                <a:solidFill>
                  <a:srgbClr val="000000"/>
                </a:solidFill>
                <a:effectLst/>
                <a:uFillTx/>
                <a:latin typeface="Arial"/>
                <a:ea typeface="Noto Sans CJK SC"/>
              </a:rPr>
              <a:t>Why modelled? The recurrent update ht = f(Wh ht − 1 + Wx xt t), allows every dimension in h t-1 to influence every other dimension in ht. As a result, if learning one skill helps or hinders another, the RNN can learn these cross-dependencies through its shared recurrent weights.</a:t>
            </a:r>
            <a:endParaRPr lang="en-AU" sz="1200" b="0" u="none" strike="noStrike">
              <a:solidFill>
                <a:srgbClr val="000000"/>
              </a:solidFill>
              <a:effectLst/>
              <a:uFillTx/>
              <a:latin typeface="Arial"/>
            </a:endParaRPr>
          </a:p>
          <a:p>
            <a:pPr indent="0">
              <a:lnSpc>
                <a:spcPct val="100000"/>
              </a:lnSpc>
              <a:spcBef>
                <a:spcPts val="1417"/>
              </a:spcBef>
              <a:buNone/>
              <a:tabLst>
                <a:tab algn="l" pos="0"/>
              </a:tabLst>
            </a:pPr>
            <a:r>
              <a:rPr lang="en-US" sz="1200" b="0" u="none" strike="noStrike">
                <a:solidFill>
                  <a:srgbClr val="000000"/>
                </a:solidFill>
                <a:effectLst/>
                <a:uFillTx/>
                <a:latin typeface="Arial"/>
                <a:ea typeface="Noto Sans CJK SC"/>
              </a:rPr>
              <a:t>🤔 How does it model the learning of KCs?</a:t>
            </a:r>
            <a:endParaRPr lang="en-AU" sz="1200" b="0" u="none" strike="noStrike">
              <a:solidFill>
                <a:srgbClr val="000000"/>
              </a:solidFill>
              <a:effectLst/>
              <a:uFillTx/>
              <a:latin typeface="Arial"/>
            </a:endParaRPr>
          </a:p>
          <a:p>
            <a:pPr marL="432000" indent="-324000">
              <a:lnSpc>
                <a:spcPct val="100000"/>
              </a:lnSpc>
              <a:spcBef>
                <a:spcPts val="1191"/>
              </a:spcBef>
              <a:spcAft>
                <a:spcPts val="992"/>
              </a:spcAft>
              <a:buClr>
                <a:srgbClr val="000000"/>
              </a:buClr>
              <a:buSzPct val="45000"/>
              <a:buFont typeface="Wingdings" charset="2"/>
              <a:buChar char=""/>
              <a:tabLst>
                <a:tab algn="l" pos="0"/>
              </a:tabLst>
            </a:pPr>
            <a:r>
              <a:rPr lang="en-US" sz="1200" b="1" u="none" strike="noStrike">
                <a:solidFill>
                  <a:srgbClr val="000000"/>
                </a:solidFill>
                <a:effectLst/>
                <a:uFillTx/>
                <a:latin typeface="Arial"/>
                <a:ea typeface="Noto Sans CJK SC"/>
              </a:rPr>
              <a:t>Implicitly</a:t>
            </a:r>
            <a:r>
              <a:rPr lang="en-US" sz="1200" b="0" u="none" strike="noStrike">
                <a:solidFill>
                  <a:srgbClr val="000000"/>
                </a:solidFill>
                <a:effectLst/>
                <a:uFillTx/>
                <a:latin typeface="Arial"/>
                <a:ea typeface="Noto Sans CJK SC"/>
              </a:rPr>
              <a:t> through the Input &amp; Update Gates in RNN</a:t>
            </a:r>
            <a:endParaRPr lang="en-AU" sz="1200" b="0" u="none" strike="noStrike">
              <a:solidFill>
                <a:srgbClr val="000000"/>
              </a:solidFill>
              <a:effectLst/>
              <a:uFillTx/>
              <a:latin typeface="Arial"/>
            </a:endParaRPr>
          </a:p>
          <a:p>
            <a:pPr marL="432000" indent="-324000">
              <a:lnSpc>
                <a:spcPct val="100000"/>
              </a:lnSpc>
              <a:spcBef>
                <a:spcPts val="1191"/>
              </a:spcBef>
              <a:spcAft>
                <a:spcPts val="992"/>
              </a:spcAft>
              <a:buClr>
                <a:srgbClr val="000000"/>
              </a:buClr>
              <a:buSzPct val="45000"/>
              <a:buFont typeface="Wingdings" charset="2"/>
              <a:buChar char=""/>
              <a:tabLst>
                <a:tab algn="l" pos="0"/>
              </a:tabLst>
            </a:pPr>
            <a:r>
              <a:rPr lang="en-US" sz="1200" b="0" u="none" strike="noStrike">
                <a:solidFill>
                  <a:srgbClr val="000000"/>
                </a:solidFill>
                <a:effectLst/>
                <a:uFillTx/>
                <a:latin typeface="Arial"/>
                <a:ea typeface="Noto Sans CJK SC"/>
              </a:rPr>
              <a:t>Why implicit? No explicit learning function.</a:t>
            </a:r>
            <a:endParaRPr lang="en-AU" sz="1200" b="0" u="none" strike="noStrike">
              <a:solidFill>
                <a:srgbClr val="000000"/>
              </a:solidFill>
              <a:effectLst/>
              <a:uFillTx/>
              <a:latin typeface="Arial"/>
            </a:endParaRPr>
          </a:p>
          <a:p>
            <a:pPr marL="432000" indent="-324000">
              <a:lnSpc>
                <a:spcPct val="100000"/>
              </a:lnSpc>
              <a:spcBef>
                <a:spcPts val="1191"/>
              </a:spcBef>
              <a:spcAft>
                <a:spcPts val="992"/>
              </a:spcAft>
              <a:buClr>
                <a:srgbClr val="000000"/>
              </a:buClr>
              <a:buSzPct val="45000"/>
              <a:buFont typeface="Wingdings" charset="2"/>
              <a:buChar char=""/>
              <a:tabLst>
                <a:tab algn="l" pos="0"/>
              </a:tabLst>
            </a:pPr>
            <a:r>
              <a:rPr lang="en-US" sz="1200" b="0" u="none" strike="noStrike">
                <a:solidFill>
                  <a:srgbClr val="000000"/>
                </a:solidFill>
                <a:effectLst/>
                <a:uFillTx/>
                <a:latin typeface="Arial"/>
                <a:ea typeface="Noto Sans CJK SC"/>
              </a:rPr>
              <a:t>Why modelled? When a new interaction (qt,rt) arrives, the input gate and update operation of the RNN decide how much new information to add to the hidden state</a:t>
            </a:r>
            <a:endParaRPr lang="en-AU" sz="1200" b="0" u="none" strike="noStrike">
              <a:solidFill>
                <a:srgbClr val="000000"/>
              </a:solidFill>
              <a:effectLst/>
              <a:uFillTx/>
              <a:latin typeface="Arial"/>
            </a:endParaRPr>
          </a:p>
          <a:p>
            <a:pPr indent="0">
              <a:lnSpc>
                <a:spcPct val="100000"/>
              </a:lnSpc>
              <a:spcBef>
                <a:spcPts val="1417"/>
              </a:spcBef>
              <a:buNone/>
              <a:tabLst>
                <a:tab algn="l" pos="0"/>
              </a:tabLst>
            </a:pPr>
            <a:r>
              <a:rPr lang="en-US" sz="1200" b="0" u="none" strike="noStrike">
                <a:solidFill>
                  <a:srgbClr val="000000"/>
                </a:solidFill>
                <a:effectLst/>
                <a:uFillTx/>
                <a:latin typeface="Arial"/>
                <a:ea typeface="Noto Sans CJK SC"/>
              </a:rPr>
              <a:t>🤔 How does it model the forgetting of KCs?</a:t>
            </a:r>
            <a:endParaRPr lang="en-AU" sz="1200" b="0" u="none" strike="noStrike">
              <a:solidFill>
                <a:srgbClr val="000000"/>
              </a:solidFill>
              <a:effectLst/>
              <a:uFillTx/>
              <a:latin typeface="Arial"/>
            </a:endParaRPr>
          </a:p>
          <a:p>
            <a:pPr marL="432000" indent="-324000">
              <a:lnSpc>
                <a:spcPct val="100000"/>
              </a:lnSpc>
              <a:spcBef>
                <a:spcPts val="1191"/>
              </a:spcBef>
              <a:spcAft>
                <a:spcPts val="992"/>
              </a:spcAft>
              <a:buClr>
                <a:srgbClr val="000000"/>
              </a:buClr>
              <a:buSzPct val="45000"/>
              <a:buFont typeface="Wingdings" charset="2"/>
              <a:buChar char=""/>
              <a:tabLst>
                <a:tab algn="l" pos="0"/>
              </a:tabLst>
            </a:pPr>
            <a:r>
              <a:rPr lang="en-US" sz="1200" b="1" u="none" strike="noStrike">
                <a:solidFill>
                  <a:srgbClr val="000000"/>
                </a:solidFill>
                <a:effectLst/>
                <a:uFillTx/>
                <a:latin typeface="Arial"/>
                <a:ea typeface="Noto Sans CJK SC"/>
              </a:rPr>
              <a:t>Implicitly</a:t>
            </a:r>
            <a:r>
              <a:rPr lang="en-US" sz="1200" b="0" u="none" strike="noStrike">
                <a:solidFill>
                  <a:srgbClr val="000000"/>
                </a:solidFill>
                <a:effectLst/>
                <a:uFillTx/>
                <a:latin typeface="Arial"/>
                <a:ea typeface="Noto Sans CJK SC"/>
              </a:rPr>
              <a:t> through the Forget Gate in RNN</a:t>
            </a:r>
            <a:endParaRPr lang="en-AU" sz="1200" b="0" u="none" strike="noStrike">
              <a:solidFill>
                <a:srgbClr val="000000"/>
              </a:solidFill>
              <a:effectLst/>
              <a:uFillTx/>
              <a:latin typeface="Arial"/>
            </a:endParaRPr>
          </a:p>
          <a:p>
            <a:pPr marL="432000" indent="-324000">
              <a:lnSpc>
                <a:spcPct val="100000"/>
              </a:lnSpc>
              <a:spcBef>
                <a:spcPts val="1191"/>
              </a:spcBef>
              <a:spcAft>
                <a:spcPts val="992"/>
              </a:spcAft>
              <a:buClr>
                <a:srgbClr val="000000"/>
              </a:buClr>
              <a:buSzPct val="45000"/>
              <a:buFont typeface="Wingdings" charset="2"/>
              <a:buChar char=""/>
              <a:tabLst>
                <a:tab algn="l" pos="0"/>
              </a:tabLst>
            </a:pPr>
            <a:r>
              <a:rPr lang="en-US" sz="1200" b="0" u="none" strike="noStrike">
                <a:solidFill>
                  <a:srgbClr val="000000"/>
                </a:solidFill>
                <a:effectLst/>
                <a:uFillTx/>
                <a:latin typeface="Arial"/>
                <a:ea typeface="Noto Sans CJK SC"/>
              </a:rPr>
              <a:t>Why implicit? No dedicated forgetting functions</a:t>
            </a:r>
            <a:endParaRPr lang="en-AU" sz="1200" b="0" u="none" strike="noStrike">
              <a:solidFill>
                <a:srgbClr val="000000"/>
              </a:solidFill>
              <a:effectLst/>
              <a:uFillTx/>
              <a:latin typeface="Arial"/>
            </a:endParaRPr>
          </a:p>
          <a:p>
            <a:pPr marL="432000" indent="-324000">
              <a:lnSpc>
                <a:spcPct val="100000"/>
              </a:lnSpc>
              <a:spcBef>
                <a:spcPts val="1191"/>
              </a:spcBef>
              <a:spcAft>
                <a:spcPts val="992"/>
              </a:spcAft>
              <a:buClr>
                <a:srgbClr val="000000"/>
              </a:buClr>
              <a:buSzPct val="45000"/>
              <a:buFont typeface="Wingdings" charset="2"/>
              <a:buChar char=""/>
              <a:tabLst>
                <a:tab algn="l" pos="0"/>
              </a:tabLst>
            </a:pPr>
            <a:r>
              <a:rPr lang="en-US" sz="1200" b="0" u="none" strike="noStrike">
                <a:solidFill>
                  <a:srgbClr val="000000"/>
                </a:solidFill>
                <a:effectLst/>
                <a:uFillTx/>
                <a:latin typeface="Arial"/>
                <a:ea typeface="Noto Sans CJK SC"/>
              </a:rPr>
              <a:t>Why modelled? The forget gate ft=σ(Wfxt+Ufht−1+bf) controls how much of the previous memory ct−1 to retain</a:t>
            </a:r>
            <a:endParaRPr lang="en-AU" sz="1200" b="0" u="none" strike="noStrike">
              <a:solidFill>
                <a:srgbClr val="000000"/>
              </a:solidFill>
              <a:effectLst/>
              <a:uFillTx/>
              <a:latin typeface="Arial"/>
            </a:endParaRPr>
          </a:p>
          <a:p>
            <a:pPr indent="0">
              <a:lnSpc>
                <a:spcPct val="100000"/>
              </a:lnSpc>
              <a:spcBef>
                <a:spcPts val="1417"/>
              </a:spcBef>
              <a:buNone/>
              <a:tabLst>
                <a:tab algn="l" pos="0"/>
              </a:tabLst>
            </a:pPr>
            <a:r>
              <a:rPr lang="en-US" sz="1200" b="0" u="none" strike="noStrike">
                <a:solidFill>
                  <a:srgbClr val="000000"/>
                </a:solidFill>
                <a:effectLst/>
                <a:uFillTx/>
                <a:latin typeface="Arial"/>
                <a:ea typeface="Noto Sans CJK SC"/>
              </a:rPr>
              <a:t>🤔 How does it model the student’s knowledge state?</a:t>
            </a:r>
            <a:endParaRPr lang="en-AU" sz="1200" b="0" u="none" strike="noStrike">
              <a:solidFill>
                <a:srgbClr val="000000"/>
              </a:solidFill>
              <a:effectLst/>
              <a:uFillTx/>
              <a:latin typeface="Arial"/>
            </a:endParaRPr>
          </a:p>
          <a:p>
            <a:pPr marL="432000" indent="-324000">
              <a:lnSpc>
                <a:spcPct val="100000"/>
              </a:lnSpc>
              <a:spcBef>
                <a:spcPts val="1417"/>
              </a:spcBef>
              <a:buClr>
                <a:srgbClr val="000000"/>
              </a:buClr>
              <a:buSzPct val="45000"/>
              <a:buFont typeface="Wingdings" charset="2"/>
              <a:buChar char=""/>
              <a:tabLst>
                <a:tab algn="l" pos="0"/>
              </a:tabLst>
            </a:pPr>
            <a:r>
              <a:rPr lang="en-US" sz="1200" b="1" u="none" strike="noStrike">
                <a:solidFill>
                  <a:srgbClr val="000000"/>
                </a:solidFill>
                <a:effectLst/>
                <a:uFillTx/>
                <a:latin typeface="Arial"/>
                <a:ea typeface="Noto Sans CJK SC"/>
              </a:rPr>
              <a:t>Explicitly</a:t>
            </a:r>
            <a:r>
              <a:rPr lang="en-US" sz="1200" b="0" u="none" strike="noStrike">
                <a:solidFill>
                  <a:srgbClr val="000000"/>
                </a:solidFill>
                <a:effectLst/>
                <a:uFillTx/>
                <a:latin typeface="Arial"/>
                <a:ea typeface="Noto Sans CJK SC"/>
              </a:rPr>
              <a:t> through a hidden state vector(s)</a:t>
            </a:r>
            <a:endParaRPr lang="en-AU" sz="1200" b="0" u="none" strike="noStrike">
              <a:solidFill>
                <a:srgbClr val="000000"/>
              </a:solidFill>
              <a:effectLst/>
              <a:uFillTx/>
              <a:latin typeface="Arial"/>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1" name="PlaceHolder 1"/>
          <p:cNvSpPr>
            <a:spLocks noGrp="1"/>
          </p:cNvSpPr>
          <p:nvPr>
            <p:ph type="sldImg"/>
          </p:nvPr>
        </p:nvSpPr>
        <p:spPr>
          <a:xfrm>
            <a:off x="216000" y="812520"/>
            <a:ext cx="7124400" cy="4006080"/>
          </a:xfrm>
          <a:prstGeom prst="rect">
            <a:avLst/>
          </a:prstGeom>
          <a:ln w="0">
            <a:noFill/>
          </a:ln>
        </p:spPr>
      </p:sp>
      <p:sp>
        <p:nvSpPr>
          <p:cNvPr id="142" name="PlaceHolder 2"/>
          <p:cNvSpPr>
            <a:spLocks noGrp="1"/>
          </p:cNvSpPr>
          <p:nvPr>
            <p:ph type="body"/>
          </p:nvPr>
        </p:nvSpPr>
        <p:spPr>
          <a:xfrm>
            <a:off x="756000" y="5078520"/>
            <a:ext cx="6044760" cy="4808160"/>
          </a:xfrm>
          <a:prstGeom prst="rect">
            <a:avLst/>
          </a:prstGeom>
          <a:noFill/>
          <a:ln w="0">
            <a:noFill/>
          </a:ln>
        </p:spPr>
        <p:txBody>
          <a:bodyPr lIns="0" rIns="0" tIns="0" bIns="0" anchor="t">
            <a:noAutofit/>
          </a:bodyPr>
          <a:p>
            <a:pPr indent="0">
              <a:lnSpc>
                <a:spcPct val="100000"/>
              </a:lnSpc>
              <a:buNone/>
              <a:tabLst>
                <a:tab algn="l" pos="0"/>
              </a:tabLst>
            </a:pPr>
            <a:r>
              <a:rPr lang="en-US" sz="2000" b="0" u="none" strike="noStrike">
                <a:solidFill>
                  <a:srgbClr val="000000"/>
                </a:solidFill>
                <a:effectLst/>
                <a:uFillTx/>
                <a:latin typeface="Arial"/>
              </a:rPr>
              <a:t>Note that explicit is to some extent. The KC nodes itself may not be interpretable</a:t>
            </a:r>
            <a:endParaRPr lang="en-AU" sz="2000" b="0" u="none" strike="noStrike">
              <a:solidFill>
                <a:srgbClr val="000000"/>
              </a:solidFill>
              <a:effectLst/>
              <a:uFillTx/>
              <a:latin typeface="Arial"/>
            </a:endParaRPr>
          </a:p>
        </p:txBody>
      </p:sp>
    </p:spTree>
  </p:cSld>
</p:notes>
</file>

<file path=ppt/notesSlides/notesSlide1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3" name="PlaceHolder 1"/>
          <p:cNvSpPr>
            <a:spLocks noGrp="1"/>
          </p:cNvSpPr>
          <p:nvPr>
            <p:ph type="sldImg"/>
          </p:nvPr>
        </p:nvSpPr>
        <p:spPr>
          <a:xfrm>
            <a:off x="216000" y="812520"/>
            <a:ext cx="7124400" cy="4006080"/>
          </a:xfrm>
          <a:prstGeom prst="rect">
            <a:avLst/>
          </a:prstGeom>
          <a:ln w="0">
            <a:noFill/>
          </a:ln>
        </p:spPr>
      </p:sp>
      <p:sp>
        <p:nvSpPr>
          <p:cNvPr id="144" name="PlaceHolder 2"/>
          <p:cNvSpPr>
            <a:spLocks noGrp="1"/>
          </p:cNvSpPr>
          <p:nvPr>
            <p:ph type="body"/>
          </p:nvPr>
        </p:nvSpPr>
        <p:spPr>
          <a:xfrm>
            <a:off x="756000" y="5078520"/>
            <a:ext cx="6044760" cy="4808160"/>
          </a:xfrm>
          <a:prstGeom prst="rect">
            <a:avLst/>
          </a:prstGeom>
          <a:noFill/>
          <a:ln w="0">
            <a:noFill/>
          </a:ln>
        </p:spPr>
        <p:txBody>
          <a:bodyPr lIns="0" rIns="0" tIns="0" bIns="0" anchor="t">
            <a:noAutofit/>
          </a:bodyPr>
          <a:p>
            <a:pPr indent="0">
              <a:lnSpc>
                <a:spcPct val="100000"/>
              </a:lnSpc>
              <a:buNone/>
              <a:tabLst>
                <a:tab algn="l" pos="0"/>
              </a:tabLst>
            </a:pPr>
            <a:r>
              <a:rPr lang="en-US" sz="2000" b="0" u="none" strike="noStrike">
                <a:solidFill>
                  <a:srgbClr val="000000"/>
                </a:solidFill>
                <a:effectLst/>
                <a:uFillTx/>
                <a:latin typeface="Arial"/>
              </a:rPr>
              <a:t>Note that explicit is to some extent. The KC nodes itself may not be interpretable</a:t>
            </a:r>
            <a:endParaRPr lang="en-AU" sz="2000" b="0" u="none" strike="noStrike">
              <a:solidFill>
                <a:srgbClr val="000000"/>
              </a:solidFill>
              <a:effectLst/>
              <a:uFillTx/>
              <a:latin typeface="Arial"/>
            </a:endParaRPr>
          </a:p>
        </p:txBody>
      </p:sp>
    </p:spTree>
  </p:cSld>
</p:notes>
</file>

<file path=ppt/notesSlides/notesSlide2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5" name="PlaceHolder 1"/>
          <p:cNvSpPr>
            <a:spLocks noGrp="1"/>
          </p:cNvSpPr>
          <p:nvPr>
            <p:ph type="sldImg"/>
          </p:nvPr>
        </p:nvSpPr>
        <p:spPr>
          <a:xfrm>
            <a:off x="216000" y="812520"/>
            <a:ext cx="7124400" cy="4006080"/>
          </a:xfrm>
          <a:prstGeom prst="rect">
            <a:avLst/>
          </a:prstGeom>
          <a:ln w="0">
            <a:noFill/>
          </a:ln>
        </p:spPr>
      </p:sp>
      <p:sp>
        <p:nvSpPr>
          <p:cNvPr id="146" name="PlaceHolder 2"/>
          <p:cNvSpPr>
            <a:spLocks noGrp="1"/>
          </p:cNvSpPr>
          <p:nvPr>
            <p:ph type="body"/>
          </p:nvPr>
        </p:nvSpPr>
        <p:spPr>
          <a:xfrm>
            <a:off x="756000" y="5078520"/>
            <a:ext cx="6044760" cy="4808160"/>
          </a:xfrm>
          <a:prstGeom prst="rect">
            <a:avLst/>
          </a:prstGeom>
          <a:noFill/>
          <a:ln w="0">
            <a:noFill/>
          </a:ln>
        </p:spPr>
        <p:txBody>
          <a:bodyPr lIns="0" rIns="0" tIns="0" bIns="0" anchor="t">
            <a:noAutofit/>
          </a:bodyPr>
          <a:p>
            <a:pPr indent="0">
              <a:lnSpc>
                <a:spcPct val="100000"/>
              </a:lnSpc>
              <a:buNone/>
              <a:tabLst>
                <a:tab algn="l" pos="0"/>
              </a:tabLst>
            </a:pPr>
            <a:r>
              <a:rPr lang="en-US" sz="2000" b="0" u="none" strike="noStrike">
                <a:solidFill>
                  <a:srgbClr val="000000"/>
                </a:solidFill>
                <a:effectLst/>
                <a:uFillTx/>
                <a:latin typeface="Arial"/>
              </a:rPr>
              <a:t>Now we got to the most interesting part</a:t>
            </a:r>
            <a:endParaRPr lang="en-AU" sz="2000" b="0" u="none" strike="noStrike">
              <a:solidFill>
                <a:srgbClr val="000000"/>
              </a:solidFill>
              <a:effectLst/>
              <a:uFillTx/>
              <a:latin typeface="Arial"/>
            </a:endParaRPr>
          </a:p>
          <a:p>
            <a:pPr indent="0">
              <a:lnSpc>
                <a:spcPct val="100000"/>
              </a:lnSpc>
              <a:buNone/>
              <a:tabLst>
                <a:tab algn="l" pos="0"/>
              </a:tabLst>
            </a:pPr>
            <a:endParaRPr lang="en-AU" sz="2000" b="0" u="none" strike="noStrike">
              <a:solidFill>
                <a:srgbClr val="000000"/>
              </a:solidFill>
              <a:effectLst/>
              <a:uFillTx/>
              <a:latin typeface="Arial"/>
            </a:endParaRPr>
          </a:p>
          <a:p>
            <a:pPr indent="0">
              <a:lnSpc>
                <a:spcPct val="100000"/>
              </a:lnSpc>
              <a:buNone/>
              <a:tabLst>
                <a:tab algn="l" pos="0"/>
              </a:tabLst>
            </a:pPr>
            <a:r>
              <a:rPr lang="en-US" sz="2000" b="0" u="none" strike="noStrike">
                <a:solidFill>
                  <a:srgbClr val="000000"/>
                </a:solidFill>
                <a:effectLst/>
                <a:uFillTx/>
                <a:latin typeface="Arial"/>
              </a:rPr>
              <a:t>I think it is GNN</a:t>
            </a:r>
            <a:endParaRPr lang="en-AU" sz="2000" b="0" u="none" strike="noStrike">
              <a:solidFill>
                <a:srgbClr val="000000"/>
              </a:solidFill>
              <a:effectLst/>
              <a:uFillTx/>
              <a:latin typeface="Arial"/>
            </a:endParaRPr>
          </a:p>
        </p:txBody>
      </p:sp>
    </p:spTree>
  </p:cSld>
</p:notes>
</file>

<file path=ppt/notesSlides/notesSlide3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7" name="PlaceHolder 1"/>
          <p:cNvSpPr>
            <a:spLocks noGrp="1"/>
          </p:cNvSpPr>
          <p:nvPr>
            <p:ph type="sldImg"/>
          </p:nvPr>
        </p:nvSpPr>
        <p:spPr>
          <a:xfrm>
            <a:off x="216000" y="812520"/>
            <a:ext cx="7124400" cy="4006080"/>
          </a:xfrm>
          <a:prstGeom prst="rect">
            <a:avLst/>
          </a:prstGeom>
          <a:ln w="0">
            <a:noFill/>
          </a:ln>
        </p:spPr>
      </p:sp>
      <p:sp>
        <p:nvSpPr>
          <p:cNvPr id="148" name="PlaceHolder 2"/>
          <p:cNvSpPr>
            <a:spLocks noGrp="1"/>
          </p:cNvSpPr>
          <p:nvPr>
            <p:ph type="body"/>
          </p:nvPr>
        </p:nvSpPr>
        <p:spPr>
          <a:xfrm>
            <a:off x="756000" y="5078520"/>
            <a:ext cx="6044760" cy="4808160"/>
          </a:xfrm>
          <a:prstGeom prst="rect">
            <a:avLst/>
          </a:prstGeom>
          <a:noFill/>
          <a:ln w="0">
            <a:noFill/>
          </a:ln>
        </p:spPr>
        <p:txBody>
          <a:bodyPr lIns="0" rIns="0" tIns="0" bIns="0" anchor="t">
            <a:noAutofit/>
          </a:bodyPr>
          <a:p>
            <a:pPr indent="0">
              <a:lnSpc>
                <a:spcPct val="100000"/>
              </a:lnSpc>
              <a:buNone/>
              <a:tabLst>
                <a:tab algn="l" pos="0"/>
              </a:tabLst>
            </a:pPr>
            <a:r>
              <a:rPr lang="en-US" sz="2000" b="0" u="none" strike="noStrike">
                <a:solidFill>
                  <a:srgbClr val="000000"/>
                </a:solidFill>
                <a:effectLst/>
                <a:uFillTx/>
                <a:latin typeface="Arial"/>
              </a:rPr>
              <a:t>Note that explicit is to some extent. The KC nodes itself may not be interpretable</a:t>
            </a:r>
            <a:endParaRPr lang="en-AU" sz="2000" b="0" u="none" strike="noStrike">
              <a:solidFill>
                <a:srgbClr val="000000"/>
              </a:solidFill>
              <a:effectLst/>
              <a:uFillTx/>
              <a:latin typeface="Arial"/>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Default">
    <p:spTree>
      <p:nvGrpSpPr>
        <p:cNvPr id="1" name=""/>
        <p:cNvGrpSpPr/>
        <p:nvPr/>
      </p:nvGrpSpPr>
      <p:grpSpPr>
        <a:xfrm>
          <a:off x="0" y="0"/>
          <a:ext cx="0" cy="0"/>
          <a:chOff x="0" y="0"/>
          <a:chExt cx="0" cy="0"/>
        </a:xfrm>
      </p:grpSpPr>
      <p:sp>
        <p:nvSpPr>
          <p:cNvPr id="7" name="PlaceHolder 1"/>
          <p:cNvSpPr>
            <a:spLocks noGrp="1"/>
          </p:cNvSpPr>
          <p:nvPr>
            <p:ph type="title"/>
          </p:nvPr>
        </p:nvSpPr>
        <p:spPr>
          <a:xfrm>
            <a:off x="504000" y="383760"/>
            <a:ext cx="9068760" cy="625320"/>
          </a:xfrm>
          <a:prstGeom prst="rect">
            <a:avLst/>
          </a:prstGeom>
          <a:noFill/>
          <a:ln w="0">
            <a:noFill/>
          </a:ln>
        </p:spPr>
        <p:txBody>
          <a:bodyPr lIns="0" rIns="0" tIns="0" bIns="0" anchor="ctr">
            <a:spAutoFit/>
          </a:bodyPr>
          <a:p>
            <a:pPr indent="0" algn="ctr">
              <a:buNone/>
            </a:pPr>
            <a:endParaRPr lang="en-AU" sz="4400" b="0" u="none" strike="noStrike">
              <a:solidFill>
                <a:srgbClr val="000000"/>
              </a:solidFill>
              <a:effectLst/>
              <a:uFillTx/>
              <a:latin typeface="Arial"/>
            </a:endParaRPr>
          </a:p>
        </p:txBody>
      </p:sp>
      <p:sp>
        <p:nvSpPr>
          <p:cNvPr id="8" name="PlaceHolder 2"/>
          <p:cNvSpPr>
            <a:spLocks noGrp="1"/>
          </p:cNvSpPr>
          <p:nvPr>
            <p:ph/>
          </p:nvPr>
        </p:nvSpPr>
        <p:spPr>
          <a:xfrm>
            <a:off x="504000" y="1326600"/>
            <a:ext cx="9068760" cy="3285360"/>
          </a:xfrm>
          <a:prstGeom prst="rect">
            <a:avLst/>
          </a:prstGeom>
          <a:noFill/>
          <a:ln w="0">
            <a:noFill/>
          </a:ln>
        </p:spPr>
        <p:txBody>
          <a:bodyPr lIns="0" rIns="0" tIns="0" bIns="0" anchor="t">
            <a:normAutofit/>
          </a:bodyPr>
          <a:p>
            <a:pPr indent="0">
              <a:spcBef>
                <a:spcPts val="1417"/>
              </a:spcBef>
              <a:buNone/>
            </a:pPr>
            <a:endParaRPr lang="en-AU" sz="3200" b="0" u="none" strike="noStrike">
              <a:solidFill>
                <a:srgbClr val="000000"/>
              </a:solidFill>
              <a:effectLst/>
              <a:uFillTx/>
              <a:latin typeface="Arial"/>
            </a:endParaRPr>
          </a:p>
        </p:txBody>
      </p:sp>
      <p:sp>
        <p:nvSpPr>
          <p:cNvPr id="4" name="PlaceHolder 3"/>
          <p:cNvSpPr>
            <a:spLocks noGrp="1"/>
          </p:cNvSpPr>
          <p:nvPr>
            <p:ph type="ftr" idx="1"/>
          </p:nvPr>
        </p:nvSpPr>
        <p:spPr/>
        <p:txBody>
          <a:bodyPr/>
          <a:p>
            <a:r>
              <a:t>Footer</a:t>
            </a:r>
          </a:p>
        </p:txBody>
      </p:sp>
      <p:sp>
        <p:nvSpPr>
          <p:cNvPr id="5" name="PlaceHolder 4"/>
          <p:cNvSpPr>
            <a:spLocks noGrp="1"/>
          </p:cNvSpPr>
          <p:nvPr>
            <p:ph type="sldNum" idx="2"/>
          </p:nvPr>
        </p:nvSpPr>
        <p:spPr/>
        <p:txBody>
          <a:bodyPr/>
          <a:p>
            <a:fld id="{D1FE4328-0064-40D7-A1E0-80715A0990D1}" type="slidenum">
              <a:t>&lt;#&gt;</a:t>
            </a:fld>
          </a:p>
        </p:txBody>
      </p:sp>
      <p:sp>
        <p:nvSpPr>
          <p:cNvPr id="6" name="PlaceHolder 5"/>
          <p:cNvSpPr>
            <a:spLocks noGrp="1"/>
          </p:cNvSpPr>
          <p:nvPr>
            <p:ph type="dt" idx="3"/>
          </p:nvPr>
        </p:nvSpPr>
        <p:spPr/>
        <p:txBody>
          <a:bodyPr/>
          <a:p>
            <a:r>
              <a:rPr lang="en-AU"/>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 name="PlaceHolder 1"/>
          <p:cNvSpPr>
            <a:spLocks noGrp="1"/>
          </p:cNvSpPr>
          <p:nvPr>
            <p:ph type="title"/>
          </p:nvPr>
        </p:nvSpPr>
        <p:spPr>
          <a:xfrm>
            <a:off x="504000" y="559080"/>
            <a:ext cx="9068760" cy="274680"/>
          </a:xfrm>
          <a:prstGeom prst="rect">
            <a:avLst/>
          </a:prstGeom>
          <a:noFill/>
          <a:ln w="0">
            <a:noFill/>
          </a:ln>
        </p:spPr>
        <p:txBody>
          <a:bodyPr lIns="0" rIns="0" tIns="0" bIns="0" anchor="ctr">
            <a:spAutoFit/>
          </a:bodyPr>
          <a:p>
            <a:pPr indent="0">
              <a:buNone/>
            </a:pPr>
            <a:r>
              <a:rPr lang="en-AU" sz="1800" b="0" u="none" strike="noStrike">
                <a:solidFill>
                  <a:srgbClr val="000000"/>
                </a:solidFill>
                <a:effectLst/>
                <a:uFillTx/>
                <a:latin typeface="Arial"/>
              </a:rPr>
              <a:t>Click to edit the title text format</a:t>
            </a:r>
            <a:endParaRPr lang="en-AU" sz="1800" b="0" u="none" strike="noStrike">
              <a:solidFill>
                <a:srgbClr val="000000"/>
              </a:solidFill>
              <a:effectLst/>
              <a:uFillTx/>
              <a:latin typeface="Arial"/>
            </a:endParaRPr>
          </a:p>
        </p:txBody>
      </p:sp>
      <p:sp>
        <p:nvSpPr>
          <p:cNvPr id="3" name="PlaceHolder 2"/>
          <p:cNvSpPr>
            <a:spLocks noGrp="1"/>
          </p:cNvSpPr>
          <p:nvPr>
            <p:ph type="body"/>
          </p:nvPr>
        </p:nvSpPr>
        <p:spPr>
          <a:xfrm>
            <a:off x="504000" y="1326600"/>
            <a:ext cx="9068760" cy="32853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lang="en-AU" sz="1800" b="0" u="none" strike="noStrike">
                <a:solidFill>
                  <a:srgbClr val="000000"/>
                </a:solidFill>
                <a:effectLst/>
                <a:uFillTx/>
                <a:latin typeface="Arial"/>
              </a:rPr>
              <a:t>Click to edit the outline text format</a:t>
            </a:r>
            <a:endParaRPr lang="en-AU" sz="1800" b="0" u="none" strike="noStrike">
              <a:solidFill>
                <a:srgbClr val="000000"/>
              </a:solidFill>
              <a:effectLst/>
              <a:uFillTx/>
              <a:latin typeface="Arial"/>
            </a:endParaRPr>
          </a:p>
          <a:p>
            <a:pPr marL="864000" lvl="1" indent="-324000">
              <a:spcBef>
                <a:spcPts val="1134"/>
              </a:spcBef>
              <a:buClr>
                <a:srgbClr val="000000"/>
              </a:buClr>
              <a:buSzPct val="75000"/>
              <a:buFont typeface="Symbol" charset="2"/>
              <a:buChar char=""/>
            </a:pPr>
            <a:r>
              <a:rPr lang="en-AU" sz="1800" b="0" u="none" strike="noStrike">
                <a:solidFill>
                  <a:srgbClr val="000000"/>
                </a:solidFill>
                <a:effectLst/>
                <a:uFillTx/>
                <a:latin typeface="Arial"/>
              </a:rPr>
              <a:t>Second Outline Level</a:t>
            </a:r>
            <a:endParaRPr lang="en-AU" sz="1800" b="0" u="none" strike="noStrike">
              <a:solidFill>
                <a:srgbClr val="000000"/>
              </a:solidFill>
              <a:effectLst/>
              <a:uFillTx/>
              <a:latin typeface="Arial"/>
            </a:endParaRPr>
          </a:p>
          <a:p>
            <a:pPr marL="1296000" lvl="2" indent="-288000">
              <a:spcBef>
                <a:spcPts val="850"/>
              </a:spcBef>
              <a:buClr>
                <a:srgbClr val="000000"/>
              </a:buClr>
              <a:buSzPct val="45000"/>
              <a:buFont typeface="Wingdings" charset="2"/>
              <a:buChar char=""/>
            </a:pPr>
            <a:r>
              <a:rPr lang="en-AU" sz="1800" b="0" u="none" strike="noStrike">
                <a:solidFill>
                  <a:srgbClr val="000000"/>
                </a:solidFill>
                <a:effectLst/>
                <a:uFillTx/>
                <a:latin typeface="Arial"/>
              </a:rPr>
              <a:t>Third Outline Level</a:t>
            </a:r>
            <a:endParaRPr lang="en-AU" sz="1800" b="0" u="none" strike="noStrike">
              <a:solidFill>
                <a:srgbClr val="000000"/>
              </a:solidFill>
              <a:effectLst/>
              <a:uFillTx/>
              <a:latin typeface="Arial"/>
            </a:endParaRPr>
          </a:p>
          <a:p>
            <a:pPr marL="1728000" lvl="3" indent="-216000">
              <a:spcBef>
                <a:spcPts val="567"/>
              </a:spcBef>
              <a:buClr>
                <a:srgbClr val="000000"/>
              </a:buClr>
              <a:buSzPct val="75000"/>
              <a:buFont typeface="Symbol" charset="2"/>
              <a:buChar char=""/>
            </a:pPr>
            <a:r>
              <a:rPr lang="en-AU" sz="1800" b="0" u="none" strike="noStrike">
                <a:solidFill>
                  <a:srgbClr val="000000"/>
                </a:solidFill>
                <a:effectLst/>
                <a:uFillTx/>
                <a:latin typeface="Arial"/>
              </a:rPr>
              <a:t>Fourth Outline Level</a:t>
            </a:r>
            <a:endParaRPr lang="en-AU" sz="1800" b="0" u="none" strike="noStrike">
              <a:solidFill>
                <a:srgbClr val="000000"/>
              </a:solidFill>
              <a:effectLst/>
              <a:uFillTx/>
              <a:latin typeface="Arial"/>
            </a:endParaRPr>
          </a:p>
          <a:p>
            <a:pPr marL="2160000" lvl="4" indent="-216000">
              <a:spcBef>
                <a:spcPts val="283"/>
              </a:spcBef>
              <a:buClr>
                <a:srgbClr val="000000"/>
              </a:buClr>
              <a:buSzPct val="45000"/>
              <a:buFont typeface="Wingdings" charset="2"/>
              <a:buChar char=""/>
            </a:pPr>
            <a:r>
              <a:rPr lang="en-AU" sz="1800" b="0" u="none" strike="noStrike">
                <a:solidFill>
                  <a:srgbClr val="000000"/>
                </a:solidFill>
                <a:effectLst/>
                <a:uFillTx/>
                <a:latin typeface="Arial"/>
              </a:rPr>
              <a:t>Fifth Outline Level</a:t>
            </a:r>
            <a:endParaRPr lang="en-AU" sz="1800" b="0" u="none" strike="noStrike">
              <a:solidFill>
                <a:srgbClr val="000000"/>
              </a:solidFill>
              <a:effectLst/>
              <a:uFillTx/>
              <a:latin typeface="Arial"/>
            </a:endParaRPr>
          </a:p>
          <a:p>
            <a:pPr marL="2592000" lvl="5" indent="-216000">
              <a:spcBef>
                <a:spcPts val="283"/>
              </a:spcBef>
              <a:buClr>
                <a:srgbClr val="000000"/>
              </a:buClr>
              <a:buSzPct val="45000"/>
              <a:buFont typeface="Wingdings" charset="2"/>
              <a:buChar char=""/>
            </a:pPr>
            <a:r>
              <a:rPr lang="en-AU" sz="1800" b="0" u="none" strike="noStrike">
                <a:solidFill>
                  <a:srgbClr val="000000"/>
                </a:solidFill>
                <a:effectLst/>
                <a:uFillTx/>
                <a:latin typeface="Arial"/>
              </a:rPr>
              <a:t>Sixth Outline Level</a:t>
            </a:r>
            <a:endParaRPr lang="en-AU" sz="1800" b="0" u="none" strike="noStrike">
              <a:solidFill>
                <a:srgbClr val="000000"/>
              </a:solidFill>
              <a:effectLst/>
              <a:uFillTx/>
              <a:latin typeface="Arial"/>
            </a:endParaRPr>
          </a:p>
          <a:p>
            <a:pPr marL="3024000" lvl="6" indent="-216000">
              <a:spcBef>
                <a:spcPts val="283"/>
              </a:spcBef>
              <a:buClr>
                <a:srgbClr val="000000"/>
              </a:buClr>
              <a:buSzPct val="45000"/>
              <a:buFont typeface="Wingdings" charset="2"/>
              <a:buChar char=""/>
            </a:pPr>
            <a:r>
              <a:rPr lang="en-AU" sz="1800" b="0" u="none" strike="noStrike">
                <a:solidFill>
                  <a:srgbClr val="000000"/>
                </a:solidFill>
                <a:effectLst/>
                <a:uFillTx/>
                <a:latin typeface="Arial"/>
              </a:rPr>
              <a:t>Seventh Outline Level</a:t>
            </a:r>
            <a:endParaRPr lang="en-AU" sz="1800" b="0" u="none" strike="noStrike">
              <a:solidFill>
                <a:srgbClr val="000000"/>
              </a:solidFill>
              <a:effectLst/>
              <a:uFillTx/>
              <a:latin typeface="Arial"/>
            </a:endParaRPr>
          </a:p>
        </p:txBody>
      </p:sp>
      <p:sp>
        <p:nvSpPr>
          <p:cNvPr id="4" name="PlaceHolder 3"/>
          <p:cNvSpPr>
            <a:spLocks noGrp="1"/>
          </p:cNvSpPr>
          <p:nvPr>
            <p:ph type="ftr" idx="1"/>
          </p:nvPr>
        </p:nvSpPr>
        <p:spPr>
          <a:xfrm>
            <a:off x="3447360" y="5165280"/>
            <a:ext cx="3192120" cy="387720"/>
          </a:xfrm>
          <a:prstGeom prst="rect">
            <a:avLst/>
          </a:prstGeom>
          <a:noFill/>
          <a:ln w="0">
            <a:noFill/>
          </a:ln>
        </p:spPr>
        <p:txBody>
          <a:bodyPr lIns="0" rIns="0" tIns="0" bIns="0" anchor="t">
            <a:noAutofit/>
          </a:bodyPr>
          <a:lstStyle>
            <a:lvl1pPr indent="0" algn="ctr">
              <a:lnSpc>
                <a:spcPct val="100000"/>
              </a:lnSpc>
              <a:buNone/>
              <a:tabLst>
                <a:tab algn="l" pos="0"/>
              </a:tabLst>
              <a:defRPr lang="en-US" sz="1400" b="0" u="none" strike="noStrike">
                <a:solidFill>
                  <a:srgbClr val="000000"/>
                </a:solidFill>
                <a:effectLst/>
                <a:uFillTx/>
                <a:latin typeface="Times New Roman"/>
              </a:defRPr>
            </a:lvl1pPr>
          </a:lstStyle>
          <a:p>
            <a:pPr indent="0" algn="ctr">
              <a:lnSpc>
                <a:spcPct val="100000"/>
              </a:lnSpc>
              <a:buNone/>
              <a:tabLst>
                <a:tab algn="l" pos="0"/>
              </a:tabLst>
            </a:pPr>
            <a:r>
              <a:rPr lang="en-US" sz="1400" b="0" u="none" strike="noStrike">
                <a:solidFill>
                  <a:srgbClr val="000000"/>
                </a:solidFill>
                <a:effectLst/>
                <a:uFillTx/>
                <a:latin typeface="Times New Roman"/>
              </a:rPr>
              <a:t>&lt;footer&gt;</a:t>
            </a:r>
            <a:endParaRPr lang="en-AU" sz="1400" b="0" u="none" strike="noStrike">
              <a:solidFill>
                <a:srgbClr val="000000"/>
              </a:solidFill>
              <a:effectLst/>
              <a:uFillTx/>
              <a:latin typeface="Times New Roman"/>
            </a:endParaRPr>
          </a:p>
        </p:txBody>
      </p:sp>
      <p:sp>
        <p:nvSpPr>
          <p:cNvPr id="5" name="PlaceHolder 4"/>
          <p:cNvSpPr>
            <a:spLocks noGrp="1"/>
          </p:cNvSpPr>
          <p:nvPr>
            <p:ph type="sldNum" idx="2"/>
          </p:nvPr>
        </p:nvSpPr>
        <p:spPr>
          <a:xfrm>
            <a:off x="7227360" y="5165280"/>
            <a:ext cx="2345400" cy="387720"/>
          </a:xfrm>
          <a:prstGeom prst="rect">
            <a:avLst/>
          </a:prstGeom>
          <a:noFill/>
          <a:ln w="0">
            <a:noFill/>
          </a:ln>
        </p:spPr>
        <p:txBody>
          <a:bodyPr lIns="0" rIns="0" tIns="0" bIns="0" anchor="t">
            <a:noAutofit/>
          </a:bodyPr>
          <a:lstStyle>
            <a:lvl1pPr indent="0" algn="r">
              <a:lnSpc>
                <a:spcPct val="100000"/>
              </a:lnSpc>
              <a:buNone/>
              <a:tabLst>
                <a:tab algn="l" pos="0"/>
              </a:tabLst>
              <a:defRPr lang="en-US" sz="1400" b="0" u="none" strike="noStrike">
                <a:solidFill>
                  <a:srgbClr val="000000"/>
                </a:solidFill>
                <a:effectLst/>
                <a:uFillTx/>
                <a:latin typeface="Times New Roman"/>
              </a:defRPr>
            </a:lvl1pPr>
          </a:lstStyle>
          <a:p>
            <a:pPr indent="0" algn="r">
              <a:lnSpc>
                <a:spcPct val="100000"/>
              </a:lnSpc>
              <a:buNone/>
              <a:tabLst>
                <a:tab algn="l" pos="0"/>
              </a:tabLst>
            </a:pPr>
            <a:fld id="{DA878A23-25F1-4D0F-89CF-E4ED383A57C2}" type="slidenum">
              <a:rPr lang="en-US" sz="1400" b="0" u="none" strike="noStrike">
                <a:solidFill>
                  <a:srgbClr val="000000"/>
                </a:solidFill>
                <a:effectLst/>
                <a:uFillTx/>
                <a:latin typeface="Times New Roman"/>
              </a:rPr>
              <a:t>&lt;number&gt;</a:t>
            </a:fld>
            <a:endParaRPr lang="en-AU" sz="1400" b="0" u="none" strike="noStrike">
              <a:solidFill>
                <a:srgbClr val="000000"/>
              </a:solidFill>
              <a:effectLst/>
              <a:uFillTx/>
              <a:latin typeface="Times New Roman"/>
            </a:endParaRPr>
          </a:p>
        </p:txBody>
      </p:sp>
      <p:sp>
        <p:nvSpPr>
          <p:cNvPr id="6" name="PlaceHolder 5"/>
          <p:cNvSpPr>
            <a:spLocks noGrp="1"/>
          </p:cNvSpPr>
          <p:nvPr>
            <p:ph type="dt" idx="3"/>
          </p:nvPr>
        </p:nvSpPr>
        <p:spPr>
          <a:xfrm>
            <a:off x="504000" y="5165280"/>
            <a:ext cx="2345400" cy="387720"/>
          </a:xfrm>
          <a:prstGeom prst="rect">
            <a:avLst/>
          </a:prstGeom>
          <a:noFill/>
          <a:ln w="0">
            <a:noFill/>
          </a:ln>
        </p:spPr>
        <p:txBody>
          <a:bodyPr lIns="0" rIns="0" tIns="0" bIns="0" anchor="t">
            <a:noAutofit/>
          </a:bodyPr>
          <a:lstStyle>
            <a:lvl1pPr indent="0">
              <a:buNone/>
              <a:defRPr lang="en-AU" sz="1400" b="0" u="none" strike="noStrike">
                <a:solidFill>
                  <a:srgbClr val="000000"/>
                </a:solidFill>
                <a:effectLst/>
                <a:uFillTx/>
                <a:latin typeface="Times New Roman"/>
              </a:defRPr>
            </a:lvl1pPr>
          </a:lstStyle>
          <a:p>
            <a:pPr indent="0">
              <a:buNone/>
            </a:pPr>
            <a:r>
              <a:rPr lang="en-AU" sz="1400" b="0" u="none" strike="noStrike">
                <a:solidFill>
                  <a:srgbClr val="000000"/>
                </a:solidFill>
                <a:effectLst/>
                <a:uFillTx/>
                <a:latin typeface="Times New Roman"/>
              </a:rPr>
              <a:t>&lt;date/time&gt;</a:t>
            </a:r>
            <a:endParaRPr lang="en-AU" sz="14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649" r:id="rId2"/>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
</Relationships>
</file>

<file path=ppt/slides/_rels/slide8.xml.rels><?xml version="1.0" encoding="UTF-8"?>
<Relationships xmlns="http://schemas.openxmlformats.org/package/2006/relationships"><Relationship Id="rId1" Type="http://schemas.openxmlformats.org/officeDocument/2006/relationships/image" Target="../media/image3.gif"/><Relationship Id="rId2" Type="http://schemas.openxmlformats.org/officeDocument/2006/relationships/image" Target="../media/image4.png"/><Relationship Id="rId3" Type="http://schemas.openxmlformats.org/officeDocument/2006/relationships/slideLayout" Target="../slideLayouts/slideLayout1.xml"/><Relationship Id="rId4"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1.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image" Target="../media/image6.gif"/><Relationship Id="rId3" Type="http://schemas.openxmlformats.org/officeDocument/2006/relationships/slideLayout" Target="../slideLayouts/slideLayout1.xml"/>
</Relationships>
</file>

<file path=ppt/slides/_rels/slide12.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1.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image" Target="../media/image8.gif"/><Relationship Id="rId3" Type="http://schemas.openxmlformats.org/officeDocument/2006/relationships/slideLayout" Target="../slideLayouts/slideLayout1.xml"/><Relationship Id="rId4"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1.xml"/><Relationship Id="rId3"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
</Relationships>
</file>

<file path=ppt/slides/_rels/slide17.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image" Target="../media/image10.gif"/><Relationship Id="rId3" Type="http://schemas.openxmlformats.org/officeDocument/2006/relationships/slideLayout" Target="../slideLayouts/slideLayout1.xml"/>
</Relationships>
</file>

<file path=ppt/slides/_rels/slide18.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slideLayout" Target="../slideLayouts/slideLayout1.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
</Relationships>
</file>

<file path=ppt/slides/_rels/slide20.xml.rels><?xml version="1.0" encoding="UTF-8"?>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20.xml"/>
</Relationships>
</file>

<file path=ppt/slides/_rels/slide21.xml.rels><?xml version="1.0" encoding="UTF-8"?>
<Relationships xmlns="http://schemas.openxmlformats.org/package/2006/relationships"><Relationship Id="rId1" Type="http://schemas.openxmlformats.org/officeDocument/2006/relationships/image" Target="../media/image12.png"/><Relationship Id="rId2" Type="http://schemas.openxmlformats.org/officeDocument/2006/relationships/slideLayout" Target="../slideLayouts/slideLayout1.xml"/>
</Relationships>
</file>

<file path=ppt/slides/_rels/slide22.xml.rels><?xml version="1.0" encoding="UTF-8"?>
<Relationships xmlns="http://schemas.openxmlformats.org/package/2006/relationships"><Relationship Id="rId1" Type="http://schemas.openxmlformats.org/officeDocument/2006/relationships/image" Target="../media/image13.png"/><Relationship Id="rId2" Type="http://schemas.openxmlformats.org/officeDocument/2006/relationships/slideLayout" Target="../slideLayouts/slideLayout1.xml"/>
</Relationships>
</file>

<file path=ppt/slides/_rels/slide23.xml.rels><?xml version="1.0" encoding="UTF-8"?>
<Relationships xmlns="http://schemas.openxmlformats.org/package/2006/relationships"><Relationship Id="rId1" Type="http://schemas.openxmlformats.org/officeDocument/2006/relationships/image" Target="../media/image14.png"/><Relationship Id="rId2" Type="http://schemas.openxmlformats.org/officeDocument/2006/relationships/slideLayout" Target="../slideLayouts/slideLayout1.xml"/>
</Relationships>
</file>

<file path=ppt/slides/_rels/slide24.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5.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6.xml.rels><?xml version="1.0" encoding="UTF-8"?>
<Relationships xmlns="http://schemas.openxmlformats.org/package/2006/relationships"><Relationship Id="rId1" Type="http://schemas.openxmlformats.org/officeDocument/2006/relationships/image" Target="../media/image15.png"/><Relationship Id="rId2" Type="http://schemas.openxmlformats.org/officeDocument/2006/relationships/slideLayout" Target="../slideLayouts/slideLayout1.xml"/>
</Relationships>
</file>

<file path=ppt/slides/_rels/slide27.xml.rels><?xml version="1.0" encoding="UTF-8"?>
<Relationships xmlns="http://schemas.openxmlformats.org/package/2006/relationships"><Relationship Id="rId1" Type="http://schemas.openxmlformats.org/officeDocument/2006/relationships/image" Target="../media/image16.png"/><Relationship Id="rId2" Type="http://schemas.openxmlformats.org/officeDocument/2006/relationships/slideLayout" Target="../slideLayouts/slideLayout1.xml"/>
</Relationships>
</file>

<file path=ppt/slides/_rels/slide28.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1.png"/><Relationship Id="rId3" Type="http://schemas.openxmlformats.org/officeDocument/2006/relationships/slideLayout" Target="../slideLayouts/slideLayout1.xml"/>
</Relationships>
</file>

<file path=ppt/slides/_rels/slide29.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30.xml.rels><?xml version="1.0" encoding="UTF-8"?>
<Relationships xmlns="http://schemas.openxmlformats.org/package/2006/relationships"><Relationship Id="rId1" Type="http://schemas.openxmlformats.org/officeDocument/2006/relationships/image" Target="../media/image17.png"/><Relationship Id="rId2" Type="http://schemas.openxmlformats.org/officeDocument/2006/relationships/image" Target="../media/image18.gif"/><Relationship Id="rId3" Type="http://schemas.openxmlformats.org/officeDocument/2006/relationships/slideLayout" Target="../slideLayouts/slideLayout1.xml"/>
</Relationships>
</file>

<file path=ppt/slides/_rels/slide31.xml.rels><?xml version="1.0" encoding="UTF-8"?>
<Relationships xmlns="http://schemas.openxmlformats.org/package/2006/relationships"><Relationship Id="rId1" Type="http://schemas.openxmlformats.org/officeDocument/2006/relationships/image" Target="../media/image17.png"/><Relationship Id="rId2" Type="http://schemas.openxmlformats.org/officeDocument/2006/relationships/slideLayout" Target="../slideLayouts/slideLayout1.xml"/>
</Relationships>
</file>

<file path=ppt/slides/_rels/slide3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
</Relationships>
</file>

<file path=ppt/slides/_rels/slide33.xml.rels><?xml version="1.0" encoding="UTF-8"?>
<Relationships xmlns="http://schemas.openxmlformats.org/package/2006/relationships"><Relationship Id="rId1" Type="http://schemas.openxmlformats.org/officeDocument/2006/relationships/slideLayout" Target="../slideLayouts/slideLayout1.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 name="PlaceHolder 1"/>
          <p:cNvSpPr>
            <a:spLocks noGrp="1"/>
          </p:cNvSpPr>
          <p:nvPr>
            <p:ph type="title"/>
          </p:nvPr>
        </p:nvSpPr>
        <p:spPr>
          <a:xfrm>
            <a:off x="468360" y="224640"/>
            <a:ext cx="9068760" cy="1878120"/>
          </a:xfrm>
          <a:prstGeom prst="rect">
            <a:avLst/>
          </a:prstGeom>
          <a:noFill/>
          <a:ln w="0">
            <a:noFill/>
          </a:ln>
        </p:spPr>
        <p:txBody>
          <a:bodyPr lIns="0" rIns="0" tIns="0" bIns="0" anchor="ctr">
            <a:spAutoFit/>
          </a:bodyPr>
          <a:p>
            <a:pPr indent="0" algn="ctr">
              <a:lnSpc>
                <a:spcPct val="100000"/>
              </a:lnSpc>
              <a:buNone/>
              <a:tabLst>
                <a:tab algn="l" pos="0"/>
              </a:tabLst>
            </a:pPr>
            <a:r>
              <a:rPr lang="en-AU" sz="4400" b="0" u="none" strike="noStrike">
                <a:solidFill>
                  <a:srgbClr val="000000"/>
                </a:solidFill>
                <a:effectLst/>
                <a:uFillTx/>
                <a:latin typeface="Arial"/>
              </a:rPr>
              <a:t>Toward an Interpretable Knowledge Tracing Model</a:t>
            </a:r>
            <a:endParaRPr lang="en-AU" sz="4400" b="0" u="none" strike="noStrike">
              <a:solidFill>
                <a:srgbClr val="000000"/>
              </a:solidFill>
              <a:effectLst/>
              <a:uFillTx/>
              <a:latin typeface="Arial"/>
            </a:endParaRPr>
          </a:p>
        </p:txBody>
      </p:sp>
      <p:pic>
        <p:nvPicPr>
          <p:cNvPr id="16" name=""/>
          <p:cNvPicPr/>
          <p:nvPr/>
        </p:nvPicPr>
        <p:blipFill>
          <a:blip r:embed="rId1"/>
          <a:stretch/>
        </p:blipFill>
        <p:spPr>
          <a:xfrm>
            <a:off x="3416400" y="2237040"/>
            <a:ext cx="3240720" cy="2800080"/>
          </a:xfrm>
          <a:prstGeom prst="rect">
            <a:avLst/>
          </a:prstGeom>
          <a:noFill/>
          <a:ln w="0">
            <a:noFill/>
          </a:ln>
        </p:spPr>
      </p:pic>
      <p:sp>
        <p:nvSpPr>
          <p:cNvPr id="17" name=""/>
          <p:cNvSpPr/>
          <p:nvPr/>
        </p:nvSpPr>
        <p:spPr>
          <a:xfrm>
            <a:off x="2700000" y="3060000"/>
            <a:ext cx="2517120" cy="427320"/>
          </a:xfrm>
          <a:prstGeom prst="rect">
            <a:avLst/>
          </a:prstGeom>
          <a:noFill/>
          <a:ln w="0">
            <a:noFill/>
          </a:ln>
        </p:spPr>
        <p:style>
          <a:lnRef idx="0"/>
          <a:fillRef idx="0"/>
          <a:effectRef idx="0"/>
          <a:fontRef idx="minor"/>
        </p:style>
        <p:txBody>
          <a:bodyPr lIns="90000" rIns="90000" tIns="45000" bIns="45000" anchor="t" anchorCtr="1">
            <a:spAutoFit/>
          </a:bodyPr>
          <a:p>
            <a:pPr algn="ctr">
              <a:lnSpc>
                <a:spcPct val="100000"/>
              </a:lnSpc>
            </a:pPr>
            <a:r>
              <a:rPr lang="en-AU" sz="2400" b="0" u="none" strike="noStrike">
                <a:solidFill>
                  <a:srgbClr val="000000"/>
                </a:solidFill>
                <a:effectLst/>
                <a:highlight>
                  <a:srgbClr val="ffffff"/>
                </a:highlight>
                <a:uFillTx/>
                <a:latin typeface="Arial"/>
                <a:ea typeface="DejaVu Sans"/>
              </a:rPr>
              <a:t>Interpretability</a:t>
            </a:r>
            <a:endParaRPr lang="en-AU" sz="2400" b="0" u="none" strike="noStrike">
              <a:solidFill>
                <a:srgbClr val="000000"/>
              </a:solidFill>
              <a:effectLst/>
              <a:uFillTx/>
              <a:latin typeface="Arial"/>
            </a:endParaRPr>
          </a:p>
        </p:txBody>
      </p:sp>
      <p:sp>
        <p:nvSpPr>
          <p:cNvPr id="18" name=""/>
          <p:cNvSpPr/>
          <p:nvPr/>
        </p:nvSpPr>
        <p:spPr>
          <a:xfrm>
            <a:off x="5220000" y="3240000"/>
            <a:ext cx="1977120" cy="767160"/>
          </a:xfrm>
          <a:prstGeom prst="rect">
            <a:avLst/>
          </a:prstGeom>
          <a:noFill/>
          <a:ln w="0">
            <a:noFill/>
          </a:ln>
        </p:spPr>
        <p:style>
          <a:lnRef idx="0"/>
          <a:fillRef idx="0"/>
          <a:effectRef idx="0"/>
          <a:fontRef idx="minor"/>
        </p:style>
        <p:txBody>
          <a:bodyPr lIns="90000" rIns="90000" tIns="45000" bIns="45000" anchor="t" anchorCtr="1">
            <a:spAutoFit/>
          </a:bodyPr>
          <a:p>
            <a:pPr algn="ctr">
              <a:lnSpc>
                <a:spcPct val="100000"/>
              </a:lnSpc>
            </a:pPr>
            <a:r>
              <a:rPr lang="en-AU" sz="2400" b="0" u="none" strike="noStrike">
                <a:solidFill>
                  <a:srgbClr val="000000"/>
                </a:solidFill>
                <a:effectLst/>
                <a:highlight>
                  <a:srgbClr val="ffffff"/>
                </a:highlight>
                <a:uFillTx/>
                <a:latin typeface="Arial"/>
                <a:ea typeface="DejaVu Sans"/>
              </a:rPr>
              <a:t>Performance</a:t>
            </a:r>
            <a:endParaRPr lang="en-AU" sz="2400" b="0" u="none" strike="noStrike">
              <a:solidFill>
                <a:srgbClr val="000000"/>
              </a:solidFill>
              <a:effectLst/>
              <a:uFillTx/>
              <a:latin typeface="Arial"/>
            </a:endParaRPr>
          </a:p>
          <a:p>
            <a:pPr algn="ctr">
              <a:lnSpc>
                <a:spcPct val="100000"/>
              </a:lnSpc>
            </a:pPr>
            <a:r>
              <a:rPr lang="en-AU" sz="2400" b="0" u="none" strike="noStrike">
                <a:solidFill>
                  <a:srgbClr val="000000"/>
                </a:solidFill>
                <a:effectLst/>
                <a:highlight>
                  <a:srgbClr val="ffffff"/>
                </a:highlight>
                <a:uFillTx/>
                <a:latin typeface="Arial"/>
                <a:ea typeface="DejaVu Sans"/>
              </a:rPr>
              <a:t>Flexibility</a:t>
            </a:r>
            <a:endParaRPr lang="en-AU" sz="2400" b="0" u="none" strike="noStrike">
              <a:solidFill>
                <a:srgbClr val="000000"/>
              </a:solidFill>
              <a:effectLst/>
              <a:uFillTx/>
              <a:latin typeface="Arial"/>
            </a:endParaRPr>
          </a:p>
        </p:txBody>
      </p:sp>
      <p:sp>
        <p:nvSpPr>
          <p:cNvPr id="19" name=""/>
          <p:cNvSpPr/>
          <p:nvPr/>
        </p:nvSpPr>
        <p:spPr>
          <a:xfrm>
            <a:off x="7740000" y="4680000"/>
            <a:ext cx="1977120" cy="717120"/>
          </a:xfrm>
          <a:prstGeom prst="rect">
            <a:avLst/>
          </a:prstGeom>
          <a:noFill/>
          <a:ln w="0">
            <a:noFill/>
          </a:ln>
        </p:spPr>
        <p:style>
          <a:lnRef idx="0"/>
          <a:fillRef idx="0"/>
          <a:effectRef idx="0"/>
          <a:fontRef idx="minor"/>
        </p:style>
        <p:txBody>
          <a:bodyPr lIns="90000" rIns="90000" tIns="45000" bIns="45000" anchor="t" anchorCtr="1">
            <a:spAutoFit/>
          </a:bodyPr>
          <a:p>
            <a:pPr algn="ctr">
              <a:lnSpc>
                <a:spcPct val="100000"/>
              </a:lnSpc>
            </a:pPr>
            <a:r>
              <a:rPr lang="en-US" sz="1200" b="0" u="none" strike="noStrike">
                <a:solidFill>
                  <a:srgbClr val="000000"/>
                </a:solidFill>
                <a:effectLst/>
                <a:uFillTx/>
                <a:latin typeface="Arial"/>
                <a:ea typeface="DejaVu Sans"/>
              </a:rPr>
              <a:t>Haoting Chen</a:t>
            </a:r>
            <a:endParaRPr lang="en-AU" sz="1200" b="0" u="none" strike="noStrike">
              <a:solidFill>
                <a:srgbClr val="000000"/>
              </a:solidFill>
              <a:effectLst/>
              <a:uFillTx/>
              <a:latin typeface="Arial"/>
            </a:endParaRPr>
          </a:p>
          <a:p>
            <a:pPr algn="ctr">
              <a:lnSpc>
                <a:spcPct val="100000"/>
              </a:lnSpc>
            </a:pPr>
            <a:r>
              <a:rPr lang="en-US" sz="1200" b="0" u="none" strike="noStrike">
                <a:solidFill>
                  <a:srgbClr val="000000"/>
                </a:solidFill>
                <a:effectLst/>
                <a:uFillTx/>
                <a:latin typeface="Arial"/>
                <a:ea typeface="DejaVu Sans"/>
              </a:rPr>
              <a:t>u7227871@anu.edu.au</a:t>
            </a:r>
            <a:endParaRPr lang="en-AU" sz="1200" b="0" u="none" strike="noStrike">
              <a:solidFill>
                <a:srgbClr val="000000"/>
              </a:solidFill>
              <a:effectLst/>
              <a:uFillTx/>
              <a:latin typeface="Arial"/>
            </a:endParaRPr>
          </a:p>
        </p:txBody>
      </p:sp>
      <p:sp>
        <p:nvSpPr>
          <p:cNvPr id="20" name=""/>
          <p:cNvSpPr/>
          <p:nvPr/>
        </p:nvSpPr>
        <p:spPr>
          <a:xfrm>
            <a:off x="360000" y="4140000"/>
            <a:ext cx="2697120" cy="118692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r>
              <a:rPr lang="en-AU" sz="3600" b="0" u="none" strike="noStrike">
                <a:solidFill>
                  <a:srgbClr val="000000"/>
                </a:solidFill>
                <a:effectLst/>
                <a:uFillTx/>
                <a:latin typeface="Arial"/>
                <a:ea typeface="DejaVu Sans"/>
              </a:rPr>
              <a:t>Literature Review</a:t>
            </a:r>
            <a:endParaRPr lang="en-AU" sz="3600" b="0" u="none" strike="noStrike">
              <a:solidFill>
                <a:srgbClr val="000000"/>
              </a:solidFill>
              <a:effectLst/>
              <a:uFillTx/>
              <a:latin typeface="Arial"/>
            </a:endParaRPr>
          </a:p>
        </p:txBody>
      </p:sp>
      <p:sp>
        <p:nvSpPr>
          <p:cNvPr id="3" name="PlaceHolder 2"/>
          <p:cNvSpPr>
            <a:spLocks noGrp="1"/>
          </p:cNvSpPr>
          <p:nvPr>
            <p:ph type="sldNum" idx="2"/>
          </p:nvPr>
        </p:nvSpPr>
        <p:spPr/>
        <p:txBody>
          <a:bodyPr/>
          <a:p>
            <a:fld id="{699D2215-923D-476B-A3F8-F0B5B1C44FF4}" type="slidenum">
              <a:t>1</a:t>
            </a:fld>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 name="PlaceHolder 1"/>
          <p:cNvSpPr>
            <a:spLocks noGrp="1"/>
          </p:cNvSpPr>
          <p:nvPr>
            <p:ph type="title"/>
          </p:nvPr>
        </p:nvSpPr>
        <p:spPr>
          <a:xfrm>
            <a:off x="504000" y="130680"/>
            <a:ext cx="9068760" cy="949320"/>
          </a:xfrm>
          <a:prstGeom prst="rect">
            <a:avLst/>
          </a:prstGeom>
          <a:noFill/>
          <a:ln w="0">
            <a:noFill/>
          </a:ln>
        </p:spPr>
        <p:txBody>
          <a:bodyPr lIns="0" rIns="0" tIns="0" bIns="0" anchor="ctr">
            <a:spAutoFit/>
          </a:bodyPr>
          <a:p>
            <a:pPr indent="0" algn="ctr">
              <a:lnSpc>
                <a:spcPct val="100000"/>
              </a:lnSpc>
              <a:buNone/>
              <a:tabLst>
                <a:tab algn="l" pos="0"/>
              </a:tabLst>
            </a:pPr>
            <a:r>
              <a:rPr lang="en-US" sz="4400" b="0" u="none" strike="noStrike">
                <a:solidFill>
                  <a:srgbClr val="000000"/>
                </a:solidFill>
                <a:effectLst/>
                <a:uFillTx/>
                <a:latin typeface="Arial"/>
              </a:rPr>
              <a:t>Contents</a:t>
            </a:r>
            <a:endParaRPr lang="en-AU" sz="4400" b="0" u="none" strike="noStrike">
              <a:solidFill>
                <a:srgbClr val="000000"/>
              </a:solidFill>
              <a:effectLst/>
              <a:uFillTx/>
              <a:latin typeface="Arial"/>
            </a:endParaRPr>
          </a:p>
        </p:txBody>
      </p:sp>
      <p:sp>
        <p:nvSpPr>
          <p:cNvPr id="22" name="PlaceHolder 2"/>
          <p:cNvSpPr>
            <a:spLocks noGrp="1"/>
          </p:cNvSpPr>
          <p:nvPr>
            <p:ph/>
          </p:nvPr>
        </p:nvSpPr>
        <p:spPr>
          <a:xfrm>
            <a:off x="540000" y="1260000"/>
            <a:ext cx="6333120" cy="4070520"/>
          </a:xfrm>
          <a:prstGeom prst="rect">
            <a:avLst/>
          </a:prstGeom>
          <a:noFill/>
          <a:ln w="0">
            <a:noFill/>
          </a:ln>
        </p:spPr>
        <p:txBody>
          <a:bodyPr lIns="0" rIns="0" tIns="0" bIns="0" anchor="t">
            <a:normAutofit lnSpcReduction="9999"/>
          </a:bodyPr>
          <a:p>
            <a:pPr marL="432000" indent="-324000">
              <a:lnSpc>
                <a:spcPct val="100000"/>
              </a:lnSpc>
              <a:spcBef>
                <a:spcPts val="1417"/>
              </a:spcBef>
              <a:buClr>
                <a:srgbClr val="000000"/>
              </a:buClr>
              <a:buSzPct val="45000"/>
              <a:buFont typeface="Wingdings" charset="2"/>
              <a:buChar char=""/>
            </a:pPr>
            <a:r>
              <a:rPr lang="en-US" sz="1500" b="0" u="none" strike="noStrike">
                <a:solidFill>
                  <a:srgbClr val="000000"/>
                </a:solidFill>
                <a:effectLst/>
                <a:uFillTx/>
                <a:latin typeface="Arial"/>
              </a:rPr>
              <a:t>Knowledge Tracing: Problem Definition</a:t>
            </a:r>
            <a:endParaRPr lang="en-AU" sz="1500" b="0" u="none" strike="noStrike">
              <a:solidFill>
                <a:srgbClr val="000000"/>
              </a:solidFill>
              <a:effectLst/>
              <a:uFillTx/>
              <a:latin typeface="Arial"/>
            </a:endParaRPr>
          </a:p>
          <a:p>
            <a:pPr marL="432000" indent="-324000">
              <a:lnSpc>
                <a:spcPct val="100000"/>
              </a:lnSpc>
              <a:spcBef>
                <a:spcPts val="1417"/>
              </a:spcBef>
              <a:buClr>
                <a:srgbClr val="000000"/>
              </a:buClr>
              <a:buSzPct val="45000"/>
              <a:buFont typeface="Wingdings" charset="2"/>
              <a:buChar char=""/>
            </a:pPr>
            <a:r>
              <a:rPr lang="en-US" sz="1500" b="0" u="none" strike="noStrike">
                <a:solidFill>
                  <a:srgbClr val="000000"/>
                </a:solidFill>
                <a:effectLst/>
                <a:uFillTx/>
                <a:latin typeface="Arial"/>
              </a:rPr>
              <a:t>Knowledge Tracing Process: A High Level View</a:t>
            </a:r>
            <a:endParaRPr lang="en-AU" sz="1500" b="0" u="none" strike="noStrike">
              <a:solidFill>
                <a:srgbClr val="000000"/>
              </a:solidFill>
              <a:effectLst/>
              <a:uFillTx/>
              <a:latin typeface="Arial"/>
            </a:endParaRPr>
          </a:p>
          <a:p>
            <a:pPr marL="432000" indent="-324000">
              <a:lnSpc>
                <a:spcPct val="100000"/>
              </a:lnSpc>
              <a:spcBef>
                <a:spcPts val="1417"/>
              </a:spcBef>
              <a:buClr>
                <a:srgbClr val="000000"/>
              </a:buClr>
              <a:buSzPct val="45000"/>
              <a:buFont typeface="Wingdings" charset="2"/>
              <a:buChar char=""/>
            </a:pPr>
            <a:r>
              <a:rPr lang="en-US" sz="1500" b="0" u="none" strike="noStrike">
                <a:solidFill>
                  <a:srgbClr val="000000"/>
                </a:solidFill>
                <a:effectLst/>
                <a:uFillTx/>
                <a:latin typeface="Arial"/>
              </a:rPr>
              <a:t>Typical Types of Knowledge Tracing Models</a:t>
            </a:r>
            <a:endParaRPr lang="en-AU" sz="1500" b="0" u="none" strike="noStrike">
              <a:solidFill>
                <a:srgbClr val="000000"/>
              </a:solidFill>
              <a:effectLst/>
              <a:uFillTx/>
              <a:latin typeface="Arial"/>
            </a:endParaRPr>
          </a:p>
          <a:p>
            <a:pPr marL="864000" lvl="1" indent="-324000">
              <a:lnSpc>
                <a:spcPct val="100000"/>
              </a:lnSpc>
              <a:spcBef>
                <a:spcPts val="1134"/>
              </a:spcBef>
              <a:buClr>
                <a:srgbClr val="000000"/>
              </a:buClr>
              <a:buSzPct val="75000"/>
              <a:buFont typeface="Symbol" charset="2"/>
              <a:buChar char=""/>
            </a:pPr>
            <a:r>
              <a:rPr lang="en-US" sz="1500" b="0" u="none" strike="noStrike">
                <a:solidFill>
                  <a:srgbClr val="000000"/>
                </a:solidFill>
                <a:effectLst/>
                <a:uFillTx/>
                <a:latin typeface="Arial"/>
              </a:rPr>
              <a:t>Graph Neural Network (GNN)</a:t>
            </a:r>
            <a:endParaRPr lang="en-AU" sz="1500" b="0" u="none" strike="noStrike">
              <a:solidFill>
                <a:srgbClr val="000000"/>
              </a:solidFill>
              <a:effectLst/>
              <a:uFillTx/>
              <a:latin typeface="Arial"/>
            </a:endParaRPr>
          </a:p>
          <a:p>
            <a:pPr marL="864000" lvl="1" indent="-324000">
              <a:lnSpc>
                <a:spcPct val="100000"/>
              </a:lnSpc>
              <a:spcBef>
                <a:spcPts val="1134"/>
              </a:spcBef>
              <a:buClr>
                <a:srgbClr val="000000"/>
              </a:buClr>
              <a:buSzPct val="75000"/>
              <a:buFont typeface="Symbol" charset="2"/>
              <a:buChar char=""/>
            </a:pPr>
            <a:r>
              <a:rPr lang="en-US" sz="1500" b="0" u="none" strike="noStrike">
                <a:solidFill>
                  <a:srgbClr val="000000"/>
                </a:solidFill>
                <a:effectLst/>
                <a:uFillTx/>
                <a:latin typeface="Arial"/>
              </a:rPr>
              <a:t>Key-Value Memory Network (KVMN)    </a:t>
            </a:r>
            <a:endParaRPr lang="en-AU" sz="1500" b="0" u="none" strike="noStrike">
              <a:solidFill>
                <a:srgbClr val="000000"/>
              </a:solidFill>
              <a:effectLst/>
              <a:uFillTx/>
              <a:latin typeface="Arial"/>
            </a:endParaRPr>
          </a:p>
          <a:p>
            <a:pPr marL="864000" lvl="1" indent="-324000">
              <a:lnSpc>
                <a:spcPct val="100000"/>
              </a:lnSpc>
              <a:spcBef>
                <a:spcPts val="1134"/>
              </a:spcBef>
              <a:buClr>
                <a:srgbClr val="000000"/>
              </a:buClr>
              <a:buSzPct val="75000"/>
              <a:buFont typeface="Symbol" charset="2"/>
              <a:buChar char=""/>
            </a:pPr>
            <a:r>
              <a:rPr lang="en-US" sz="1500" b="0" u="none" strike="noStrike">
                <a:solidFill>
                  <a:srgbClr val="000000"/>
                </a:solidFill>
                <a:effectLst/>
                <a:uFillTx/>
                <a:latin typeface="Arial"/>
              </a:rPr>
              <a:t>Recurrent Neural Network (RNN)</a:t>
            </a:r>
            <a:endParaRPr lang="en-AU" sz="1500" b="0" u="none" strike="noStrike">
              <a:solidFill>
                <a:srgbClr val="000000"/>
              </a:solidFill>
              <a:effectLst/>
              <a:uFillTx/>
              <a:latin typeface="Arial"/>
            </a:endParaRPr>
          </a:p>
          <a:p>
            <a:pPr marL="864000" lvl="1" indent="-324000">
              <a:lnSpc>
                <a:spcPct val="100000"/>
              </a:lnSpc>
              <a:spcBef>
                <a:spcPts val="1134"/>
              </a:spcBef>
              <a:buClr>
                <a:srgbClr val="000000"/>
              </a:buClr>
              <a:buSzPct val="75000"/>
              <a:buFont typeface="Symbol" charset="2"/>
              <a:buChar char=""/>
            </a:pPr>
            <a:r>
              <a:rPr lang="en-US" sz="1500" b="0" u="none" strike="noStrike">
                <a:solidFill>
                  <a:srgbClr val="000000"/>
                </a:solidFill>
                <a:effectLst/>
                <a:uFillTx/>
                <a:latin typeface="Arial"/>
              </a:rPr>
              <a:t>Transformers</a:t>
            </a:r>
            <a:endParaRPr lang="en-AU" sz="1500" b="0" u="none" strike="noStrike">
              <a:solidFill>
                <a:srgbClr val="000000"/>
              </a:solidFill>
              <a:effectLst/>
              <a:uFillTx/>
              <a:latin typeface="Arial"/>
            </a:endParaRPr>
          </a:p>
          <a:p>
            <a:pPr marL="432000" indent="-324000">
              <a:lnSpc>
                <a:spcPct val="100000"/>
              </a:lnSpc>
              <a:spcBef>
                <a:spcPts val="1417"/>
              </a:spcBef>
              <a:buClr>
                <a:srgbClr val="000000"/>
              </a:buClr>
              <a:buSzPct val="45000"/>
              <a:buFont typeface="Wingdings" charset="2"/>
              <a:buChar char=""/>
            </a:pPr>
            <a:r>
              <a:rPr lang="en-US" sz="1500" b="0" u="none" strike="noStrike">
                <a:solidFill>
                  <a:srgbClr val="000000"/>
                </a:solidFill>
                <a:effectLst/>
                <a:uFillTx/>
                <a:latin typeface="Arial"/>
              </a:rPr>
              <a:t>Research Gaps</a:t>
            </a:r>
            <a:endParaRPr lang="en-AU" sz="1500" b="0" u="none" strike="noStrike">
              <a:solidFill>
                <a:srgbClr val="000000"/>
              </a:solidFill>
              <a:effectLst/>
              <a:uFillTx/>
              <a:latin typeface="Arial"/>
            </a:endParaRPr>
          </a:p>
          <a:p>
            <a:pPr marL="432000" indent="-324000">
              <a:lnSpc>
                <a:spcPct val="100000"/>
              </a:lnSpc>
              <a:spcBef>
                <a:spcPts val="1417"/>
              </a:spcBef>
              <a:buClr>
                <a:srgbClr val="000000"/>
              </a:buClr>
              <a:buSzPct val="45000"/>
              <a:buFont typeface="Wingdings" charset="2"/>
              <a:buChar char=""/>
            </a:pPr>
            <a:r>
              <a:rPr lang="en-US" sz="1500" b="0" u="none" strike="noStrike">
                <a:solidFill>
                  <a:srgbClr val="000000"/>
                </a:solidFill>
                <a:effectLst/>
                <a:uFillTx/>
                <a:latin typeface="Arial"/>
              </a:rPr>
              <a:t>Research Question</a:t>
            </a:r>
            <a:endParaRPr lang="en-AU" sz="1500" b="0" u="none" strike="noStrike">
              <a:solidFill>
                <a:srgbClr val="000000"/>
              </a:solidFill>
              <a:effectLst/>
              <a:uFillTx/>
              <a:latin typeface="Arial"/>
            </a:endParaRPr>
          </a:p>
          <a:p>
            <a:pPr marL="432000" indent="-324000">
              <a:lnSpc>
                <a:spcPct val="100000"/>
              </a:lnSpc>
              <a:spcBef>
                <a:spcPts val="1417"/>
              </a:spcBef>
              <a:buClr>
                <a:srgbClr val="000000"/>
              </a:buClr>
              <a:buSzPct val="45000"/>
              <a:buFont typeface="Wingdings" charset="2"/>
              <a:buChar char=""/>
            </a:pPr>
            <a:r>
              <a:rPr lang="en-US" sz="1500" b="0" u="none" strike="noStrike">
                <a:solidFill>
                  <a:srgbClr val="000000"/>
                </a:solidFill>
                <a:effectLst/>
                <a:uFillTx/>
                <a:latin typeface="Arial"/>
              </a:rPr>
              <a:t>Research Plan</a:t>
            </a:r>
            <a:endParaRPr lang="en-AU" sz="1500" b="0" u="none" strike="noStrike">
              <a:solidFill>
                <a:srgbClr val="000000"/>
              </a:solidFill>
              <a:effectLst/>
              <a:uFillTx/>
              <a:latin typeface="Arial"/>
            </a:endParaRPr>
          </a:p>
          <a:p>
            <a:pPr marL="432000" indent="-324000">
              <a:lnSpc>
                <a:spcPct val="100000"/>
              </a:lnSpc>
              <a:spcBef>
                <a:spcPts val="1417"/>
              </a:spcBef>
              <a:buClr>
                <a:srgbClr val="000000"/>
              </a:buClr>
              <a:buSzPct val="45000"/>
              <a:buFont typeface="Wingdings" charset="2"/>
              <a:buChar char=""/>
            </a:pPr>
            <a:r>
              <a:rPr lang="en-US" sz="1500" b="0" u="none" strike="noStrike">
                <a:solidFill>
                  <a:srgbClr val="000000"/>
                </a:solidFill>
                <a:effectLst/>
                <a:uFillTx/>
                <a:latin typeface="Arial"/>
              </a:rPr>
              <a:t>Bonus Slides</a:t>
            </a:r>
            <a:endParaRPr lang="en-AU" sz="1500" b="0" u="none" strike="noStrike">
              <a:solidFill>
                <a:srgbClr val="000000"/>
              </a:solidFill>
              <a:effectLst/>
              <a:uFillTx/>
              <a:latin typeface="Arial"/>
            </a:endParaRPr>
          </a:p>
        </p:txBody>
      </p:sp>
      <p:sp>
        <p:nvSpPr>
          <p:cNvPr id="23" name="PlaceHolder 3"/>
          <p:cNvSpPr>
            <a:spLocks noGrp="1"/>
          </p:cNvSpPr>
          <p:nvPr>
            <p:ph/>
          </p:nvPr>
        </p:nvSpPr>
        <p:spPr>
          <a:xfrm>
            <a:off x="7200000" y="1260000"/>
            <a:ext cx="1437120" cy="4070520"/>
          </a:xfrm>
          <a:prstGeom prst="rect">
            <a:avLst/>
          </a:prstGeom>
          <a:noFill/>
          <a:ln w="0">
            <a:noFill/>
          </a:ln>
        </p:spPr>
        <p:txBody>
          <a:bodyPr lIns="0" rIns="0" tIns="0" bIns="0" anchor="t">
            <a:normAutofit lnSpcReduction="9999"/>
          </a:bodyPr>
          <a:p>
            <a:pPr marL="432000" indent="0">
              <a:lnSpc>
                <a:spcPct val="100000"/>
              </a:lnSpc>
              <a:spcBef>
                <a:spcPts val="1417"/>
              </a:spcBef>
              <a:buNone/>
              <a:tabLst>
                <a:tab algn="l" pos="0"/>
              </a:tabLst>
            </a:pPr>
            <a:r>
              <a:rPr lang="en-US" sz="1600" b="0" u="none" strike="noStrike">
                <a:solidFill>
                  <a:srgbClr val="000000"/>
                </a:solidFill>
                <a:effectLst/>
                <a:uFillTx/>
                <a:latin typeface="Arial"/>
              </a:rPr>
              <a:t>(pg. 4 )</a:t>
            </a:r>
            <a:endParaRPr lang="en-AU" sz="1600" b="0" u="none" strike="noStrike">
              <a:solidFill>
                <a:srgbClr val="000000"/>
              </a:solidFill>
              <a:effectLst/>
              <a:uFillTx/>
              <a:latin typeface="Arial"/>
            </a:endParaRPr>
          </a:p>
          <a:p>
            <a:pPr marL="432000" indent="0">
              <a:lnSpc>
                <a:spcPct val="100000"/>
              </a:lnSpc>
              <a:spcBef>
                <a:spcPts val="1417"/>
              </a:spcBef>
              <a:buNone/>
              <a:tabLst>
                <a:tab algn="l" pos="0"/>
              </a:tabLst>
            </a:pPr>
            <a:r>
              <a:rPr lang="en-US" sz="1600" b="0" u="none" strike="noStrike">
                <a:solidFill>
                  <a:srgbClr val="000000"/>
                </a:solidFill>
                <a:effectLst/>
                <a:uFillTx/>
                <a:latin typeface="Arial"/>
              </a:rPr>
              <a:t>(pg. 5 )</a:t>
            </a:r>
            <a:endParaRPr lang="en-AU" sz="1600" b="0" u="none" strike="noStrike">
              <a:solidFill>
                <a:srgbClr val="000000"/>
              </a:solidFill>
              <a:effectLst/>
              <a:uFillTx/>
              <a:latin typeface="Arial"/>
            </a:endParaRPr>
          </a:p>
          <a:p>
            <a:pPr marL="432000" indent="0">
              <a:lnSpc>
                <a:spcPct val="100000"/>
              </a:lnSpc>
              <a:spcBef>
                <a:spcPts val="1417"/>
              </a:spcBef>
              <a:buNone/>
              <a:tabLst>
                <a:tab algn="l" pos="0"/>
              </a:tabLst>
            </a:pPr>
            <a:endParaRPr lang="en-AU" sz="1600" b="0" u="none" strike="noStrike">
              <a:solidFill>
                <a:srgbClr val="000000"/>
              </a:solidFill>
              <a:effectLst/>
              <a:uFillTx/>
              <a:latin typeface="Arial"/>
            </a:endParaRPr>
          </a:p>
          <a:p>
            <a:pPr marL="432000" indent="0">
              <a:lnSpc>
                <a:spcPct val="100000"/>
              </a:lnSpc>
              <a:spcBef>
                <a:spcPts val="1417"/>
              </a:spcBef>
              <a:buNone/>
              <a:tabLst>
                <a:tab algn="l" pos="0"/>
              </a:tabLst>
            </a:pPr>
            <a:r>
              <a:rPr lang="en-US" sz="1600" b="0" u="none" strike="noStrike">
                <a:solidFill>
                  <a:srgbClr val="000000"/>
                </a:solidFill>
                <a:effectLst/>
                <a:uFillTx/>
                <a:latin typeface="Arial"/>
              </a:rPr>
              <a:t>(pg. 8 )</a:t>
            </a:r>
            <a:endParaRPr lang="en-AU" sz="1600" b="0" u="none" strike="noStrike">
              <a:solidFill>
                <a:srgbClr val="000000"/>
              </a:solidFill>
              <a:effectLst/>
              <a:uFillTx/>
              <a:latin typeface="Arial"/>
            </a:endParaRPr>
          </a:p>
          <a:p>
            <a:pPr marL="432000" indent="0">
              <a:lnSpc>
                <a:spcPct val="100000"/>
              </a:lnSpc>
              <a:spcBef>
                <a:spcPts val="1417"/>
              </a:spcBef>
              <a:buNone/>
              <a:tabLst>
                <a:tab algn="l" pos="0"/>
              </a:tabLst>
            </a:pPr>
            <a:r>
              <a:rPr lang="en-US" sz="1600" b="0" u="none" strike="noStrike">
                <a:solidFill>
                  <a:srgbClr val="000000"/>
                </a:solidFill>
                <a:effectLst/>
                <a:uFillTx/>
                <a:latin typeface="Arial"/>
              </a:rPr>
              <a:t>(pg.11)</a:t>
            </a:r>
            <a:endParaRPr lang="en-AU" sz="1600" b="0" u="none" strike="noStrike">
              <a:solidFill>
                <a:srgbClr val="000000"/>
              </a:solidFill>
              <a:effectLst/>
              <a:uFillTx/>
              <a:latin typeface="Arial"/>
            </a:endParaRPr>
          </a:p>
          <a:p>
            <a:pPr marL="432000" indent="0">
              <a:lnSpc>
                <a:spcPct val="100000"/>
              </a:lnSpc>
              <a:spcBef>
                <a:spcPts val="1417"/>
              </a:spcBef>
              <a:buNone/>
              <a:tabLst>
                <a:tab algn="l" pos="0"/>
              </a:tabLst>
            </a:pPr>
            <a:r>
              <a:rPr lang="en-US" sz="1600" b="0" u="none" strike="noStrike">
                <a:solidFill>
                  <a:srgbClr val="000000"/>
                </a:solidFill>
                <a:effectLst/>
                <a:uFillTx/>
                <a:latin typeface="Arial"/>
              </a:rPr>
              <a:t>(pg.14)</a:t>
            </a:r>
            <a:endParaRPr lang="en-AU" sz="1600" b="0" u="none" strike="noStrike">
              <a:solidFill>
                <a:srgbClr val="000000"/>
              </a:solidFill>
              <a:effectLst/>
              <a:uFillTx/>
              <a:latin typeface="Arial"/>
            </a:endParaRPr>
          </a:p>
          <a:p>
            <a:pPr marL="432000" indent="0">
              <a:lnSpc>
                <a:spcPct val="100000"/>
              </a:lnSpc>
              <a:spcBef>
                <a:spcPts val="1417"/>
              </a:spcBef>
              <a:buNone/>
              <a:tabLst>
                <a:tab algn="l" pos="0"/>
              </a:tabLst>
            </a:pPr>
            <a:r>
              <a:rPr lang="en-US" sz="1600" b="0" u="none" strike="noStrike">
                <a:solidFill>
                  <a:srgbClr val="000000"/>
                </a:solidFill>
                <a:effectLst/>
                <a:uFillTx/>
                <a:latin typeface="Arial"/>
              </a:rPr>
              <a:t>(pg.17)</a:t>
            </a:r>
            <a:endParaRPr lang="en-AU" sz="1600" b="0" u="none" strike="noStrike">
              <a:solidFill>
                <a:srgbClr val="000000"/>
              </a:solidFill>
              <a:effectLst/>
              <a:uFillTx/>
              <a:latin typeface="Arial"/>
            </a:endParaRPr>
          </a:p>
          <a:p>
            <a:pPr marL="432000" indent="0">
              <a:lnSpc>
                <a:spcPct val="100000"/>
              </a:lnSpc>
              <a:spcBef>
                <a:spcPts val="1417"/>
              </a:spcBef>
              <a:buNone/>
              <a:tabLst>
                <a:tab algn="l" pos="0"/>
              </a:tabLst>
            </a:pPr>
            <a:r>
              <a:rPr lang="en-US" sz="1600" b="0" u="none" strike="noStrike">
                <a:solidFill>
                  <a:srgbClr val="000000"/>
                </a:solidFill>
                <a:effectLst/>
                <a:uFillTx/>
                <a:latin typeface="Arial"/>
              </a:rPr>
              <a:t>(pg.20)</a:t>
            </a:r>
            <a:endParaRPr lang="en-AU" sz="1600" b="0" u="none" strike="noStrike">
              <a:solidFill>
                <a:srgbClr val="000000"/>
              </a:solidFill>
              <a:effectLst/>
              <a:uFillTx/>
              <a:latin typeface="Arial"/>
            </a:endParaRPr>
          </a:p>
          <a:p>
            <a:pPr marL="432000" indent="0">
              <a:lnSpc>
                <a:spcPct val="100000"/>
              </a:lnSpc>
              <a:spcBef>
                <a:spcPts val="1417"/>
              </a:spcBef>
              <a:buNone/>
              <a:tabLst>
                <a:tab algn="l" pos="0"/>
              </a:tabLst>
            </a:pPr>
            <a:r>
              <a:rPr lang="en-US" sz="1600" b="0" u="none" strike="noStrike">
                <a:solidFill>
                  <a:srgbClr val="000000"/>
                </a:solidFill>
                <a:effectLst/>
                <a:uFillTx/>
                <a:latin typeface="Arial"/>
              </a:rPr>
              <a:t>(pg.24)</a:t>
            </a:r>
            <a:endParaRPr lang="en-AU" sz="1600" b="0" u="none" strike="noStrike">
              <a:solidFill>
                <a:srgbClr val="000000"/>
              </a:solidFill>
              <a:effectLst/>
              <a:uFillTx/>
              <a:latin typeface="Arial"/>
            </a:endParaRPr>
          </a:p>
          <a:p>
            <a:pPr marL="432000" indent="0">
              <a:lnSpc>
                <a:spcPct val="100000"/>
              </a:lnSpc>
              <a:spcBef>
                <a:spcPts val="1417"/>
              </a:spcBef>
              <a:buNone/>
              <a:tabLst>
                <a:tab algn="l" pos="0"/>
              </a:tabLst>
            </a:pPr>
            <a:r>
              <a:rPr lang="en-US" sz="1600" b="0" u="none" strike="noStrike">
                <a:solidFill>
                  <a:srgbClr val="000000"/>
                </a:solidFill>
                <a:effectLst/>
                <a:uFillTx/>
                <a:latin typeface="Arial"/>
              </a:rPr>
              <a:t>(pg.25)</a:t>
            </a:r>
            <a:endParaRPr lang="en-AU" sz="1600" b="0" u="none" strike="noStrike">
              <a:solidFill>
                <a:srgbClr val="000000"/>
              </a:solidFill>
              <a:effectLst/>
              <a:uFillTx/>
              <a:latin typeface="Arial"/>
            </a:endParaRPr>
          </a:p>
          <a:p>
            <a:pPr marL="432000" indent="0">
              <a:lnSpc>
                <a:spcPct val="100000"/>
              </a:lnSpc>
              <a:spcBef>
                <a:spcPts val="1417"/>
              </a:spcBef>
              <a:buNone/>
              <a:tabLst>
                <a:tab algn="l" pos="0"/>
              </a:tabLst>
            </a:pPr>
            <a:r>
              <a:rPr lang="en-US" sz="1600" b="0" u="none" strike="noStrike">
                <a:solidFill>
                  <a:srgbClr val="000000"/>
                </a:solidFill>
                <a:effectLst/>
                <a:uFillTx/>
                <a:latin typeface="Arial"/>
              </a:rPr>
              <a:t>(pg.30)</a:t>
            </a:r>
            <a:endParaRPr lang="en-AU" sz="1600" b="0" u="none" strike="noStrike">
              <a:solidFill>
                <a:srgbClr val="000000"/>
              </a:solidFill>
              <a:effectLst/>
              <a:uFillTx/>
              <a:latin typeface="Arial"/>
            </a:endParaRPr>
          </a:p>
        </p:txBody>
      </p:sp>
      <p:sp>
        <p:nvSpPr>
          <p:cNvPr id="5" name="PlaceHolder 4"/>
          <p:cNvSpPr>
            <a:spLocks noGrp="1"/>
          </p:cNvSpPr>
          <p:nvPr>
            <p:ph type="sldNum" idx="2"/>
          </p:nvPr>
        </p:nvSpPr>
        <p:spPr/>
        <p:txBody>
          <a:bodyPr/>
          <a:p>
            <a:fld id="{6479E12A-5108-426F-B526-D5A62EE11BF8}" type="slidenum">
              <a:t>2</a:t>
            </a:fld>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 name="PlaceHolder 1"/>
          <p:cNvSpPr>
            <a:spLocks noGrp="1"/>
          </p:cNvSpPr>
          <p:nvPr>
            <p:ph type="title"/>
          </p:nvPr>
        </p:nvSpPr>
        <p:spPr>
          <a:xfrm>
            <a:off x="504000" y="223200"/>
            <a:ext cx="9068760" cy="949320"/>
          </a:xfrm>
          <a:prstGeom prst="rect">
            <a:avLst/>
          </a:prstGeom>
          <a:noFill/>
          <a:ln w="0">
            <a:noFill/>
          </a:ln>
        </p:spPr>
        <p:txBody>
          <a:bodyPr lIns="0" rIns="0" tIns="0" bIns="0" anchor="ctr">
            <a:spAutoFit/>
          </a:bodyPr>
          <a:p>
            <a:pPr indent="0" algn="ctr">
              <a:lnSpc>
                <a:spcPct val="100000"/>
              </a:lnSpc>
              <a:buNone/>
              <a:tabLst>
                <a:tab algn="l" pos="0"/>
              </a:tabLst>
            </a:pPr>
            <a:r>
              <a:rPr lang="en-US" sz="4400" b="0" u="none" strike="noStrike">
                <a:solidFill>
                  <a:srgbClr val="000000"/>
                </a:solidFill>
                <a:effectLst/>
                <a:uFillTx/>
                <a:latin typeface="Arial"/>
              </a:rPr>
              <a:t>Knowledge Tracing (KT)</a:t>
            </a:r>
            <a:endParaRPr lang="en-AU" sz="4400" b="0" u="none" strike="noStrike">
              <a:solidFill>
                <a:srgbClr val="000000"/>
              </a:solidFill>
              <a:effectLst/>
              <a:uFillTx/>
              <a:latin typeface="Arial"/>
            </a:endParaRPr>
          </a:p>
        </p:txBody>
      </p:sp>
      <p:sp>
        <p:nvSpPr>
          <p:cNvPr id="25" name="PlaceHolder 2"/>
          <p:cNvSpPr>
            <a:spLocks noGrp="1"/>
          </p:cNvSpPr>
          <p:nvPr>
            <p:ph/>
          </p:nvPr>
        </p:nvSpPr>
        <p:spPr>
          <a:xfrm>
            <a:off x="540000" y="2340000"/>
            <a:ext cx="9068760" cy="1257120"/>
          </a:xfrm>
          <a:prstGeom prst="rect">
            <a:avLst/>
          </a:prstGeom>
          <a:noFill/>
          <a:ln w="0">
            <a:noFill/>
          </a:ln>
        </p:spPr>
        <p:txBody>
          <a:bodyPr lIns="0" rIns="0" tIns="0" bIns="0" anchor="t" anchorCtr="1">
            <a:normAutofit/>
          </a:bodyPr>
          <a:p>
            <a:pPr indent="0" algn="ctr">
              <a:lnSpc>
                <a:spcPct val="100000"/>
              </a:lnSpc>
              <a:spcBef>
                <a:spcPts val="1417"/>
              </a:spcBef>
              <a:buNone/>
              <a:tabLst>
                <a:tab algn="l" pos="0"/>
              </a:tabLst>
            </a:pPr>
            <a:r>
              <a:rPr lang="en-US" sz="2000" b="0" i="1" u="none" strike="noStrike">
                <a:solidFill>
                  <a:srgbClr val="000000"/>
                </a:solidFill>
                <a:effectLst/>
                <a:uFillTx/>
                <a:latin typeface="Arial"/>
              </a:rPr>
              <a:t>“[Using] machines to track the knowledge of students and tailor their learning experience”</a:t>
            </a:r>
            <a:endParaRPr lang="en-AU" sz="2000" b="0" u="none" strike="noStrike">
              <a:solidFill>
                <a:srgbClr val="000000"/>
              </a:solidFill>
              <a:effectLst/>
              <a:uFillTx/>
              <a:latin typeface="Arial"/>
            </a:endParaRPr>
          </a:p>
          <a:p>
            <a:pPr indent="0" algn="r">
              <a:lnSpc>
                <a:spcPct val="100000"/>
              </a:lnSpc>
              <a:spcBef>
                <a:spcPts val="1417"/>
              </a:spcBef>
              <a:buNone/>
              <a:tabLst>
                <a:tab algn="l" pos="0"/>
              </a:tabLst>
            </a:pPr>
            <a:r>
              <a:rPr lang="en-US" sz="2000" b="0" u="none" strike="noStrike">
                <a:solidFill>
                  <a:srgbClr val="000000"/>
                </a:solidFill>
                <a:effectLst/>
                <a:uFillTx/>
                <a:latin typeface="Arial"/>
              </a:rPr>
              <a:t>---- (Abdelrahman 2022)</a:t>
            </a:r>
            <a:endParaRPr lang="en-AU" sz="2000" b="0" u="none" strike="noStrike">
              <a:solidFill>
                <a:srgbClr val="000000"/>
              </a:solidFill>
              <a:effectLst/>
              <a:uFillTx/>
              <a:latin typeface="Arial"/>
            </a:endParaRPr>
          </a:p>
        </p:txBody>
      </p:sp>
      <p:sp>
        <p:nvSpPr>
          <p:cNvPr id="4" name="PlaceHolder 3"/>
          <p:cNvSpPr>
            <a:spLocks noGrp="1"/>
          </p:cNvSpPr>
          <p:nvPr>
            <p:ph type="sldNum" idx="2"/>
          </p:nvPr>
        </p:nvSpPr>
        <p:spPr/>
        <p:txBody>
          <a:bodyPr/>
          <a:p>
            <a:fld id="{D0F882A2-5DB3-42B3-A7AD-D2A06C121CC0}" type="slidenum">
              <a:t>3</a:t>
            </a:fld>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 name="PlaceHolder 1"/>
          <p:cNvSpPr>
            <a:spLocks noGrp="1"/>
          </p:cNvSpPr>
          <p:nvPr>
            <p:ph type="title"/>
          </p:nvPr>
        </p:nvSpPr>
        <p:spPr>
          <a:xfrm>
            <a:off x="468360" y="177120"/>
            <a:ext cx="9068760" cy="949320"/>
          </a:xfrm>
          <a:prstGeom prst="rect">
            <a:avLst/>
          </a:prstGeom>
          <a:noFill/>
          <a:ln w="0">
            <a:noFill/>
          </a:ln>
        </p:spPr>
        <p:txBody>
          <a:bodyPr lIns="0" rIns="0" tIns="0" bIns="0" anchor="ctr">
            <a:spAutoFit/>
          </a:bodyPr>
          <a:p>
            <a:pPr indent="0" algn="ctr">
              <a:lnSpc>
                <a:spcPct val="100000"/>
              </a:lnSpc>
              <a:buNone/>
              <a:tabLst>
                <a:tab algn="l" pos="0"/>
              </a:tabLst>
            </a:pPr>
            <a:r>
              <a:rPr lang="en-US" sz="4400" b="0" u="none" strike="noStrike">
                <a:solidFill>
                  <a:srgbClr val="000000"/>
                </a:solidFill>
                <a:effectLst/>
                <a:uFillTx/>
                <a:latin typeface="Arial"/>
              </a:rPr>
              <a:t>Problem Definition </a:t>
            </a:r>
            <a:endParaRPr lang="en-AU" sz="4400" b="0" u="none" strike="noStrike">
              <a:solidFill>
                <a:srgbClr val="000000"/>
              </a:solidFill>
              <a:effectLst/>
              <a:uFillTx/>
              <a:latin typeface="Arial"/>
            </a:endParaRPr>
          </a:p>
        </p:txBody>
      </p:sp>
      <p:sp>
        <p:nvSpPr>
          <p:cNvPr id="27" name="PlaceHolder 2"/>
          <p:cNvSpPr>
            <a:spLocks noGrp="1"/>
          </p:cNvSpPr>
          <p:nvPr>
            <p:ph/>
          </p:nvPr>
        </p:nvSpPr>
        <p:spPr>
          <a:xfrm>
            <a:off x="540000" y="1260000"/>
            <a:ext cx="9068760" cy="2205360"/>
          </a:xfrm>
          <a:prstGeom prst="rect">
            <a:avLst/>
          </a:prstGeom>
          <a:noFill/>
          <a:ln w="0">
            <a:noFill/>
          </a:ln>
        </p:spPr>
        <p:txBody>
          <a:bodyPr lIns="0" rIns="0" tIns="0" bIns="0" anchor="t">
            <a:normAutofit fontScale="92500" lnSpcReduction="9999"/>
          </a:bodyPr>
          <a:p>
            <a:pPr marL="432000" indent="-324000">
              <a:lnSpc>
                <a:spcPct val="100000"/>
              </a:lnSpc>
              <a:spcBef>
                <a:spcPts val="1417"/>
              </a:spcBef>
              <a:buClr>
                <a:srgbClr val="000000"/>
              </a:buClr>
              <a:buSzPct val="45000"/>
              <a:buFont typeface="Wingdings" charset="2"/>
              <a:buChar char=""/>
            </a:pPr>
            <a:r>
              <a:rPr lang="en-US" sz="2600" b="0" u="none" strike="noStrike">
                <a:solidFill>
                  <a:srgbClr val="000000"/>
                </a:solidFill>
                <a:effectLst/>
                <a:uFillTx/>
                <a:latin typeface="Arial"/>
              </a:rPr>
              <a:t>Given: </a:t>
            </a:r>
            <a:endParaRPr lang="en-AU" sz="2600" b="0" u="none" strike="noStrike">
              <a:solidFill>
                <a:srgbClr val="000000"/>
              </a:solidFill>
              <a:effectLst/>
              <a:uFillTx/>
              <a:latin typeface="Arial"/>
            </a:endParaRPr>
          </a:p>
          <a:p>
            <a:pPr marL="864000" lvl="1" indent="-324000">
              <a:lnSpc>
                <a:spcPct val="100000"/>
              </a:lnSpc>
              <a:spcBef>
                <a:spcPts val="1134"/>
              </a:spcBef>
              <a:buClr>
                <a:srgbClr val="000000"/>
              </a:buClr>
              <a:buSzPct val="75000"/>
              <a:buFont typeface="Symbol" charset="2"/>
              <a:buChar char=""/>
            </a:pPr>
            <a:r>
              <a:rPr lang="en-US" sz="2600" b="0" u="none" strike="noStrike">
                <a:solidFill>
                  <a:srgbClr val="000000"/>
                </a:solidFill>
                <a:effectLst/>
                <a:uFillTx/>
                <a:latin typeface="Arial"/>
              </a:rPr>
              <a:t>[(q1, right), (q8, wrong), (q6, right), (q1, wrong)…]</a:t>
            </a:r>
            <a:endParaRPr lang="en-AU" sz="2600" b="0" u="none" strike="noStrike">
              <a:solidFill>
                <a:srgbClr val="000000"/>
              </a:solidFill>
              <a:effectLst/>
              <a:uFillTx/>
              <a:latin typeface="Arial"/>
            </a:endParaRPr>
          </a:p>
          <a:p>
            <a:pPr marL="864000" lvl="1" indent="-324000">
              <a:lnSpc>
                <a:spcPct val="100000"/>
              </a:lnSpc>
              <a:spcBef>
                <a:spcPts val="1134"/>
              </a:spcBef>
              <a:buClr>
                <a:srgbClr val="000000"/>
              </a:buClr>
              <a:buSzPct val="75000"/>
              <a:buFont typeface="Symbol" charset="2"/>
              <a:buChar char=""/>
            </a:pPr>
            <a:r>
              <a:rPr lang="en-US" sz="2600" b="0" u="none" strike="noStrike">
                <a:solidFill>
                  <a:srgbClr val="000000"/>
                </a:solidFill>
                <a:effectLst/>
                <a:uFillTx/>
                <a:latin typeface="Arial"/>
              </a:rPr>
              <a:t>(q6, ?)</a:t>
            </a:r>
            <a:endParaRPr lang="en-AU" sz="2600" b="0" u="none" strike="noStrike">
              <a:solidFill>
                <a:srgbClr val="000000"/>
              </a:solidFill>
              <a:effectLst/>
              <a:uFillTx/>
              <a:latin typeface="Arial"/>
            </a:endParaRPr>
          </a:p>
          <a:p>
            <a:pPr marL="432000" indent="-324000">
              <a:lnSpc>
                <a:spcPct val="100000"/>
              </a:lnSpc>
              <a:spcBef>
                <a:spcPts val="1417"/>
              </a:spcBef>
              <a:buClr>
                <a:srgbClr val="000000"/>
              </a:buClr>
              <a:buSzPct val="45000"/>
              <a:buFont typeface="Wingdings" charset="2"/>
              <a:buChar char=""/>
            </a:pPr>
            <a:r>
              <a:rPr lang="en-US" sz="2600" b="0" u="none" strike="noStrike">
                <a:solidFill>
                  <a:srgbClr val="000000"/>
                </a:solidFill>
                <a:effectLst/>
                <a:uFillTx/>
                <a:latin typeface="Arial"/>
              </a:rPr>
              <a:t>Output</a:t>
            </a:r>
            <a:endParaRPr lang="en-AU" sz="2600" b="0" u="none" strike="noStrike">
              <a:solidFill>
                <a:srgbClr val="000000"/>
              </a:solidFill>
              <a:effectLst/>
              <a:uFillTx/>
              <a:latin typeface="Arial"/>
            </a:endParaRPr>
          </a:p>
          <a:p>
            <a:pPr marL="864000" lvl="1" indent="-324000">
              <a:lnSpc>
                <a:spcPct val="100000"/>
              </a:lnSpc>
              <a:spcBef>
                <a:spcPts val="1134"/>
              </a:spcBef>
              <a:buClr>
                <a:srgbClr val="000000"/>
              </a:buClr>
              <a:buSzPct val="75000"/>
              <a:buFont typeface="Symbol" charset="2"/>
              <a:buChar char=""/>
            </a:pPr>
            <a:r>
              <a:rPr lang="en-US" sz="2600" b="0" u="none" strike="noStrike">
                <a:solidFill>
                  <a:srgbClr val="000000"/>
                </a:solidFill>
                <a:effectLst/>
                <a:uFillTx/>
                <a:latin typeface="Arial"/>
              </a:rPr>
              <a:t>right/wrong</a:t>
            </a:r>
            <a:endParaRPr lang="en-AU" sz="2600" b="0" u="none" strike="noStrike">
              <a:solidFill>
                <a:srgbClr val="000000"/>
              </a:solidFill>
              <a:effectLst/>
              <a:uFillTx/>
              <a:latin typeface="Arial"/>
            </a:endParaRPr>
          </a:p>
        </p:txBody>
      </p:sp>
      <p:sp>
        <p:nvSpPr>
          <p:cNvPr id="28" name=""/>
          <p:cNvSpPr/>
          <p:nvPr/>
        </p:nvSpPr>
        <p:spPr>
          <a:xfrm>
            <a:off x="540000" y="3780000"/>
            <a:ext cx="9177120" cy="1703520"/>
          </a:xfrm>
          <a:prstGeom prst="rect">
            <a:avLst/>
          </a:prstGeom>
          <a:noFill/>
          <a:ln w="36000">
            <a:solidFill>
              <a:srgbClr val="3465a4"/>
            </a:solidFill>
            <a:prstDash val="sysDot"/>
            <a:round/>
          </a:ln>
        </p:spPr>
        <p:style>
          <a:lnRef idx="0"/>
          <a:fillRef idx="0"/>
          <a:effectRef idx="0"/>
          <a:fontRef idx="minor"/>
        </p:style>
        <p:txBody>
          <a:bodyPr lIns="108000" rIns="108000" tIns="63000" bIns="63000" anchor="t">
            <a:spAutoFit/>
          </a:bodyPr>
          <a:p>
            <a:pPr>
              <a:lnSpc>
                <a:spcPct val="100000"/>
              </a:lnSpc>
            </a:pPr>
            <a:r>
              <a:rPr lang="en-US" sz="1600" b="0" u="none" strike="noStrike">
                <a:solidFill>
                  <a:srgbClr val="000000"/>
                </a:solidFill>
                <a:effectLst/>
                <a:uFillTx/>
                <a:latin typeface="Arial"/>
                <a:ea typeface="DejaVu Sans"/>
              </a:rPr>
              <a:t>Given the student historical performance, predict the student’s performance on a query question.</a:t>
            </a:r>
            <a:endParaRPr lang="en-AU" sz="1600" b="0" u="none" strike="noStrike">
              <a:solidFill>
                <a:srgbClr val="000000"/>
              </a:solidFill>
              <a:effectLst/>
              <a:uFillTx/>
              <a:latin typeface="Arial"/>
            </a:endParaRPr>
          </a:p>
          <a:p>
            <a:pPr>
              <a:lnSpc>
                <a:spcPct val="100000"/>
              </a:lnSpc>
            </a:pPr>
            <a:endParaRPr lang="en-AU" sz="1600" b="0" u="none" strike="noStrike">
              <a:solidFill>
                <a:srgbClr val="000000"/>
              </a:solidFill>
              <a:effectLst/>
              <a:uFillTx/>
              <a:latin typeface="Arial"/>
            </a:endParaRPr>
          </a:p>
          <a:p>
            <a:pPr marL="216000" indent="-216000">
              <a:lnSpc>
                <a:spcPct val="100000"/>
              </a:lnSpc>
              <a:buClr>
                <a:srgbClr val="000000"/>
              </a:buClr>
              <a:buSzPct val="45000"/>
              <a:buFont typeface="Wingdings" charset="2"/>
              <a:buChar char=""/>
            </a:pPr>
            <a:r>
              <a:rPr lang="en-US" sz="1600" b="0" u="none" strike="noStrike">
                <a:solidFill>
                  <a:srgbClr val="000000"/>
                </a:solidFill>
                <a:effectLst/>
                <a:uFillTx/>
                <a:latin typeface="Arial"/>
                <a:ea typeface="Noto Sans CJK SC"/>
              </a:rPr>
              <a:t>The historical performance can be represented as a list of </a:t>
            </a:r>
            <a:r>
              <a:rPr lang="en-US" sz="1600" b="1" u="none" strike="noStrike">
                <a:solidFill>
                  <a:srgbClr val="000000"/>
                </a:solidFill>
                <a:effectLst/>
                <a:uFillTx/>
                <a:latin typeface="Arial"/>
                <a:ea typeface="Noto Sans CJK SC"/>
              </a:rPr>
              <a:t>(Question ID, Result)</a:t>
            </a:r>
            <a:r>
              <a:rPr lang="en-US" sz="1600" b="0" u="none" strike="noStrike">
                <a:solidFill>
                  <a:srgbClr val="000000"/>
                </a:solidFill>
                <a:effectLst/>
                <a:uFillTx/>
                <a:latin typeface="Arial"/>
                <a:ea typeface="Noto Sans CJK SC"/>
              </a:rPr>
              <a:t> </a:t>
            </a:r>
            <a:r>
              <a:rPr lang="en-US" sz="1600" b="1" u="none" strike="noStrike">
                <a:solidFill>
                  <a:srgbClr val="000000"/>
                </a:solidFill>
                <a:effectLst/>
                <a:uFillTx/>
                <a:latin typeface="Arial"/>
                <a:ea typeface="Noto Sans CJK SC"/>
              </a:rPr>
              <a:t>Interactions</a:t>
            </a:r>
            <a:r>
              <a:rPr lang="en-US" sz="1600" b="0" u="none" strike="noStrike">
                <a:solidFill>
                  <a:srgbClr val="000000"/>
                </a:solidFill>
                <a:effectLst/>
                <a:uFillTx/>
                <a:latin typeface="Arial"/>
                <a:ea typeface="Noto Sans CJK SC"/>
              </a:rPr>
              <a:t>, sorted by time.</a:t>
            </a:r>
            <a:endParaRPr lang="en-AU" sz="1600" b="0" u="none" strike="noStrike">
              <a:solidFill>
                <a:srgbClr val="000000"/>
              </a:solidFill>
              <a:effectLst/>
              <a:uFillTx/>
              <a:latin typeface="Arial"/>
            </a:endParaRPr>
          </a:p>
          <a:p>
            <a:pPr marL="216000" indent="-216000">
              <a:lnSpc>
                <a:spcPct val="100000"/>
              </a:lnSpc>
              <a:buClr>
                <a:srgbClr val="000000"/>
              </a:buClr>
              <a:buSzPct val="45000"/>
              <a:buFont typeface="Wingdings" charset="2"/>
              <a:buChar char=""/>
            </a:pPr>
            <a:r>
              <a:rPr lang="en-US" sz="1600" b="0" u="none" strike="noStrike">
                <a:solidFill>
                  <a:srgbClr val="000000"/>
                </a:solidFill>
                <a:effectLst/>
                <a:uFillTx/>
                <a:latin typeface="Arial"/>
                <a:ea typeface="Noto Sans CJK SC"/>
              </a:rPr>
              <a:t>Usually, the query question have been done by the student before, i.e., appearing in the historical performance list.</a:t>
            </a:r>
            <a:endParaRPr lang="en-AU" sz="1600" b="0" u="none" strike="noStrike">
              <a:solidFill>
                <a:srgbClr val="000000"/>
              </a:solidFill>
              <a:effectLst/>
              <a:uFillTx/>
              <a:latin typeface="Arial"/>
            </a:endParaRPr>
          </a:p>
        </p:txBody>
      </p:sp>
      <p:sp>
        <p:nvSpPr>
          <p:cNvPr id="4" name="PlaceHolder 3"/>
          <p:cNvSpPr>
            <a:spLocks noGrp="1"/>
          </p:cNvSpPr>
          <p:nvPr>
            <p:ph type="sldNum" idx="2"/>
          </p:nvPr>
        </p:nvSpPr>
        <p:spPr/>
        <p:txBody>
          <a:bodyPr/>
          <a:p>
            <a:fld id="{70FCD26A-DC7A-4D31-93DB-5A02C256477B}" type="slidenum">
              <a:t>4</a:t>
            </a:fld>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 name="PlaceHolder 1"/>
          <p:cNvSpPr>
            <a:spLocks noGrp="1"/>
          </p:cNvSpPr>
          <p:nvPr>
            <p:ph type="title"/>
          </p:nvPr>
        </p:nvSpPr>
        <p:spPr>
          <a:xfrm>
            <a:off x="504000" y="130680"/>
            <a:ext cx="9068760" cy="949320"/>
          </a:xfrm>
          <a:prstGeom prst="rect">
            <a:avLst/>
          </a:prstGeom>
          <a:noFill/>
          <a:ln w="0">
            <a:noFill/>
          </a:ln>
        </p:spPr>
        <p:txBody>
          <a:bodyPr lIns="0" rIns="0" tIns="0" bIns="0" anchor="ctr">
            <a:spAutoFit/>
          </a:bodyPr>
          <a:p>
            <a:pPr indent="0" algn="ctr">
              <a:lnSpc>
                <a:spcPct val="100000"/>
              </a:lnSpc>
              <a:buNone/>
              <a:tabLst>
                <a:tab algn="l" pos="0"/>
              </a:tabLst>
            </a:pPr>
            <a:r>
              <a:rPr lang="en-US" sz="4400" b="0" u="none" strike="noStrike">
                <a:solidFill>
                  <a:srgbClr val="000000"/>
                </a:solidFill>
                <a:effectLst/>
                <a:uFillTx/>
                <a:latin typeface="Arial"/>
              </a:rPr>
              <a:t>Problem Definition (More Formal)</a:t>
            </a:r>
            <a:endParaRPr lang="en-AU" sz="4400" b="0" u="none" strike="noStrike">
              <a:solidFill>
                <a:srgbClr val="000000"/>
              </a:solidFill>
              <a:effectLst/>
              <a:uFillTx/>
              <a:latin typeface="Arial"/>
            </a:endParaRPr>
          </a:p>
        </p:txBody>
      </p:sp>
      <p:sp>
        <p:nvSpPr>
          <p:cNvPr id="30" name="PlaceHolder 2"/>
          <p:cNvSpPr>
            <a:spLocks noGrp="1"/>
          </p:cNvSpPr>
          <p:nvPr>
            <p:ph/>
          </p:nvPr>
        </p:nvSpPr>
        <p:spPr>
          <a:xfrm>
            <a:off x="360000" y="4680000"/>
            <a:ext cx="9357120" cy="717120"/>
          </a:xfrm>
          <a:prstGeom prst="rect">
            <a:avLst/>
          </a:prstGeom>
          <a:noFill/>
          <a:ln w="36000">
            <a:solidFill>
              <a:srgbClr val="3465a4"/>
            </a:solidFill>
            <a:prstDash val="sysDot"/>
            <a:round/>
          </a:ln>
        </p:spPr>
        <p:txBody>
          <a:bodyPr lIns="18000" rIns="18000" tIns="18000" bIns="18000" anchor="t">
            <a:normAutofit lnSpcReduction="9999"/>
          </a:bodyPr>
          <a:p>
            <a:pPr marL="432000" indent="0">
              <a:lnSpc>
                <a:spcPct val="100000"/>
              </a:lnSpc>
              <a:spcBef>
                <a:spcPts val="1417"/>
              </a:spcBef>
              <a:buNone/>
              <a:tabLst>
                <a:tab algn="l" pos="0"/>
              </a:tabLst>
            </a:pPr>
            <a:r>
              <a:rPr lang="en-US" sz="1600" b="0" u="none" strike="noStrike">
                <a:solidFill>
                  <a:srgbClr val="000000"/>
                </a:solidFill>
                <a:effectLst/>
                <a:uFillTx/>
                <a:latin typeface="Arial"/>
                <a:ea typeface="Noto Sans CJK SC"/>
              </a:rPr>
              <a:t>Datasets usually provides more than just (Question ID, Result) pairs. However, having ordered (Question, Result) pairs is </a:t>
            </a:r>
            <a:r>
              <a:rPr lang="en-US" sz="1600" b="1" u="none" strike="noStrike">
                <a:solidFill>
                  <a:srgbClr val="000000"/>
                </a:solidFill>
                <a:effectLst/>
                <a:uFillTx/>
                <a:latin typeface="Arial"/>
                <a:ea typeface="Noto Sans CJK SC"/>
              </a:rPr>
              <a:t>sufficient</a:t>
            </a:r>
            <a:r>
              <a:rPr lang="en-US" sz="1600" b="0" u="none" strike="noStrike">
                <a:solidFill>
                  <a:srgbClr val="000000"/>
                </a:solidFill>
                <a:effectLst/>
                <a:uFillTx/>
                <a:latin typeface="Arial"/>
                <a:ea typeface="Noto Sans CJK SC"/>
              </a:rPr>
              <a:t> to do knowledge tracing. We will mainly discuss the case when only the (Question, Result) pairs are available.</a:t>
            </a:r>
            <a:endParaRPr lang="en-AU" sz="1600" b="0" u="none" strike="noStrike">
              <a:solidFill>
                <a:srgbClr val="000000"/>
              </a:solidFill>
              <a:effectLst/>
              <a:uFillTx/>
              <a:latin typeface="Arial"/>
            </a:endParaRPr>
          </a:p>
        </p:txBody>
      </p:sp>
      <p:sp>
        <p:nvSpPr>
          <p:cNvPr id="31" name="PlaceHolder 3"/>
          <p:cNvSpPr>
            <a:spLocks noGrp="1"/>
          </p:cNvSpPr>
          <p:nvPr>
            <p:ph/>
          </p:nvPr>
        </p:nvSpPr>
        <p:spPr>
          <a:xfrm>
            <a:off x="180000" y="1172520"/>
            <a:ext cx="4497120" cy="58536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lang="en-US" sz="2400" b="0" u="none" strike="noStrike">
                <a:solidFill>
                  <a:srgbClr val="000000"/>
                </a:solidFill>
                <a:effectLst/>
                <a:uFillTx/>
                <a:latin typeface="Arial"/>
              </a:rPr>
              <a:t>Given</a:t>
            </a:r>
            <a:endParaRPr lang="en-AU" sz="2400" b="0" u="none" strike="noStrike">
              <a:solidFill>
                <a:srgbClr val="000000"/>
              </a:solidFill>
              <a:effectLst/>
              <a:uFillTx/>
              <a:latin typeface="Arial"/>
            </a:endParaRPr>
          </a:p>
          <a:p>
            <a:pPr marL="432000" indent="0">
              <a:lnSpc>
                <a:spcPct val="100000"/>
              </a:lnSpc>
              <a:spcBef>
                <a:spcPts val="1417"/>
              </a:spcBef>
              <a:buNone/>
              <a:tabLst>
                <a:tab algn="l" pos="0"/>
              </a:tabLst>
            </a:pPr>
            <a:endParaRPr lang="en-AU" sz="2600" b="0" u="none" strike="noStrike">
              <a:solidFill>
                <a:srgbClr val="000000"/>
              </a:solidFill>
              <a:effectLst/>
              <a:uFillTx/>
              <a:latin typeface="Arial"/>
            </a:endParaRPr>
          </a:p>
        </p:txBody>
      </p:sp>
      <p:graphicFrame>
        <p:nvGraphicFramePr>
          <p:cNvPr id="32" name=""/>
          <p:cNvGraphicFramePr/>
          <p:nvPr/>
        </p:nvGraphicFramePr>
        <p:xfrm>
          <a:off x="454320" y="1605600"/>
          <a:ext cx="9165960" cy="2007720"/>
        </p:xfrm>
        <a:graphic>
          <a:graphicData uri="http://schemas.openxmlformats.org/drawingml/2006/table">
            <a:tbl>
              <a:tblPr/>
              <a:tblGrid>
                <a:gridCol w="1013040"/>
                <a:gridCol w="1238400"/>
                <a:gridCol w="1933560"/>
                <a:gridCol w="1218960"/>
                <a:gridCol w="2000160"/>
                <a:gridCol w="800280"/>
                <a:gridCol w="961920"/>
              </a:tblGrid>
              <a:tr h="346320">
                <a:tc>
                  <a:txBody>
                    <a:bodyPr lIns="36000" rIns="36000" tIns="36000" bIns="36000" anchor="t">
                      <a:noAutofit/>
                    </a:bodyPr>
                    <a:p>
                      <a:pPr algn="ctr">
                        <a:lnSpc>
                          <a:spcPct val="100000"/>
                        </a:lnSpc>
                      </a:pPr>
                      <a:r>
                        <a:rPr lang="en-US" sz="1800" b="0" u="none" strike="noStrike">
                          <a:solidFill>
                            <a:srgbClr val="000000"/>
                          </a:solidFill>
                          <a:effectLst/>
                          <a:uFillTx/>
                          <a:latin typeface="Arial"/>
                        </a:rPr>
                        <a:t>Question ID</a:t>
                      </a:r>
                      <a:endParaRPr lang="en-AU" sz="18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pPr>
                      <a:r>
                        <a:rPr lang="en-US" sz="1800" b="0" u="none" strike="noStrike">
                          <a:solidFill>
                            <a:srgbClr val="666666"/>
                          </a:solidFill>
                          <a:effectLst/>
                          <a:uFillTx/>
                          <a:latin typeface="Arial"/>
                        </a:rPr>
                        <a:t>Timestamp</a:t>
                      </a:r>
                      <a:endParaRPr lang="en-AU" sz="18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pPr>
                      <a:r>
                        <a:rPr lang="en-US" sz="1800" b="0" u="none" strike="noStrike">
                          <a:solidFill>
                            <a:srgbClr val="666666"/>
                          </a:solidFill>
                          <a:effectLst/>
                          <a:uFillTx/>
                          <a:latin typeface="Arial"/>
                        </a:rPr>
                        <a:t>Question Text</a:t>
                      </a:r>
                      <a:endParaRPr lang="en-AU" sz="18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pPr>
                      <a:r>
                        <a:rPr lang="en-US" sz="1800" b="0" u="none" strike="noStrike">
                          <a:solidFill>
                            <a:srgbClr val="666666"/>
                          </a:solidFill>
                          <a:effectLst/>
                          <a:uFillTx/>
                          <a:latin typeface="Arial"/>
                        </a:rPr>
                        <a:t>Duration</a:t>
                      </a:r>
                      <a:endParaRPr lang="en-AU" sz="18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pPr>
                      <a:r>
                        <a:rPr lang="en-US" sz="1800" b="0" u="none" strike="noStrike">
                          <a:solidFill>
                            <a:srgbClr val="666666"/>
                          </a:solidFill>
                          <a:effectLst/>
                          <a:uFillTx/>
                          <a:latin typeface="Arial"/>
                        </a:rPr>
                        <a:t>Knowledge Components</a:t>
                      </a:r>
                      <a:endParaRPr lang="en-AU" sz="18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pPr>
                      <a:r>
                        <a:rPr lang="en-US" sz="1800" b="0" u="none" strike="noStrike">
                          <a:solidFill>
                            <a:srgbClr val="666666"/>
                          </a:solidFill>
                          <a:effectLst/>
                          <a:uFillTx/>
                          <a:latin typeface="Arial"/>
                        </a:rPr>
                        <a:t>...</a:t>
                      </a:r>
                      <a:endParaRPr lang="en-AU" sz="18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pPr>
                      <a:r>
                        <a:rPr lang="en-US" sz="1800" b="0" u="none" strike="noStrike">
                          <a:solidFill>
                            <a:srgbClr val="000000"/>
                          </a:solidFill>
                          <a:effectLst/>
                          <a:uFillTx/>
                          <a:latin typeface="Arial"/>
                        </a:rPr>
                        <a:t>Result</a:t>
                      </a:r>
                      <a:endParaRPr lang="en-AU" sz="18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r>
              <a:tr h="346320">
                <a:tc>
                  <a:txBody>
                    <a:bodyPr lIns="36000" rIns="36000" tIns="36000" bIns="36000" anchor="t">
                      <a:noAutofit/>
                    </a:bodyPr>
                    <a:p>
                      <a:pPr algn="ctr">
                        <a:lnSpc>
                          <a:spcPct val="100000"/>
                        </a:lnSpc>
                      </a:pPr>
                      <a:r>
                        <a:rPr lang="en-US" sz="1800" b="0" u="none" strike="noStrike">
                          <a:solidFill>
                            <a:srgbClr val="000000"/>
                          </a:solidFill>
                          <a:effectLst/>
                          <a:uFillTx/>
                          <a:latin typeface="Arial"/>
                        </a:rPr>
                        <a:t>q1</a:t>
                      </a:r>
                      <a:endParaRPr lang="en-AU" sz="18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pPr>
                      <a:r>
                        <a:rPr lang="en-US" sz="1800" b="0" u="none" strike="noStrike">
                          <a:solidFill>
                            <a:srgbClr val="666666"/>
                          </a:solidFill>
                          <a:effectLst/>
                          <a:uFillTx/>
                          <a:latin typeface="Arial"/>
                        </a:rPr>
                        <a:t>1 Sep</a:t>
                      </a:r>
                      <a:endParaRPr lang="en-AU" sz="18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pPr>
                      <a:r>
                        <a:rPr lang="en-US" sz="1800" b="0" u="none" strike="noStrike">
                          <a:solidFill>
                            <a:srgbClr val="666666"/>
                          </a:solidFill>
                          <a:effectLst/>
                          <a:uFillTx/>
                          <a:latin typeface="Arial"/>
                        </a:rPr>
                        <a:t>What is 55 + 63?</a:t>
                      </a:r>
                      <a:endParaRPr lang="en-AU" sz="18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pPr>
                      <a:r>
                        <a:rPr lang="en-US" sz="1800" b="0" u="none" strike="noStrike">
                          <a:solidFill>
                            <a:srgbClr val="666666"/>
                          </a:solidFill>
                          <a:effectLst/>
                          <a:uFillTx/>
                          <a:latin typeface="Arial"/>
                        </a:rPr>
                        <a:t>5s</a:t>
                      </a:r>
                      <a:endParaRPr lang="en-AU" sz="18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pPr>
                      <a:r>
                        <a:rPr lang="en-US" sz="1800" b="0" u="none" strike="noStrike">
                          <a:solidFill>
                            <a:srgbClr val="666666"/>
                          </a:solidFill>
                          <a:effectLst/>
                          <a:uFillTx/>
                          <a:latin typeface="Arial"/>
                        </a:rPr>
                        <a:t>[Addition, … ]</a:t>
                      </a:r>
                      <a:endParaRPr lang="en-AU" sz="18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pPr>
                      <a:r>
                        <a:rPr lang="en-US" sz="1800" b="0" u="none" strike="noStrike">
                          <a:solidFill>
                            <a:srgbClr val="666666"/>
                          </a:solidFill>
                          <a:effectLst/>
                          <a:uFillTx/>
                          <a:latin typeface="Arial"/>
                        </a:rPr>
                        <a:t>...</a:t>
                      </a:r>
                      <a:endParaRPr lang="en-AU" sz="18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pPr>
                      <a:r>
                        <a:rPr lang="en-US" sz="1800" b="0" u="none" strike="noStrike">
                          <a:solidFill>
                            <a:srgbClr val="000000"/>
                          </a:solidFill>
                          <a:effectLst/>
                          <a:uFillTx/>
                          <a:latin typeface="Arial"/>
                        </a:rPr>
                        <a:t>right</a:t>
                      </a:r>
                      <a:endParaRPr lang="en-AU" sz="18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r>
              <a:tr h="346320">
                <a:tc>
                  <a:txBody>
                    <a:bodyPr lIns="36000" rIns="36000" tIns="36000" bIns="36000" anchor="t">
                      <a:noAutofit/>
                    </a:bodyPr>
                    <a:p>
                      <a:pPr algn="ctr">
                        <a:lnSpc>
                          <a:spcPct val="100000"/>
                        </a:lnSpc>
                      </a:pPr>
                      <a:r>
                        <a:rPr lang="en-US" sz="1800" b="0" u="none" strike="noStrike">
                          <a:solidFill>
                            <a:srgbClr val="000000"/>
                          </a:solidFill>
                          <a:effectLst/>
                          <a:uFillTx/>
                          <a:latin typeface="Arial"/>
                        </a:rPr>
                        <a:t>q8</a:t>
                      </a:r>
                      <a:endParaRPr lang="en-AU" sz="18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pPr>
                      <a:r>
                        <a:rPr lang="en-US" sz="1800" b="0" u="none" strike="noStrike">
                          <a:solidFill>
                            <a:srgbClr val="666666"/>
                          </a:solidFill>
                          <a:effectLst/>
                          <a:uFillTx/>
                          <a:latin typeface="Arial"/>
                        </a:rPr>
                        <a:t>1 Sep</a:t>
                      </a:r>
                      <a:endParaRPr lang="en-AU" sz="18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pPr>
                      <a:r>
                        <a:rPr lang="en-US" sz="1800" b="0" u="none" strike="noStrike">
                          <a:solidFill>
                            <a:srgbClr val="666666"/>
                          </a:solidFill>
                          <a:effectLst/>
                          <a:uFillTx/>
                          <a:latin typeface="Arial"/>
                        </a:rPr>
                        <a:t>What is 64 x 64?</a:t>
                      </a:r>
                      <a:endParaRPr lang="en-AU" sz="18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pPr>
                      <a:r>
                        <a:rPr lang="en-US" sz="1800" b="0" u="none" strike="noStrike">
                          <a:solidFill>
                            <a:srgbClr val="666666"/>
                          </a:solidFill>
                          <a:effectLst/>
                          <a:uFillTx/>
                          <a:latin typeface="Arial"/>
                        </a:rPr>
                        <a:t>20s</a:t>
                      </a:r>
                      <a:endParaRPr lang="en-AU" sz="18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pPr>
                      <a:r>
                        <a:rPr lang="en-US" sz="1800" b="0" u="none" strike="noStrike">
                          <a:solidFill>
                            <a:srgbClr val="666666"/>
                          </a:solidFill>
                          <a:effectLst/>
                          <a:uFillTx/>
                          <a:latin typeface="Arial"/>
                        </a:rPr>
                        <a:t>[Multiplication, ...]</a:t>
                      </a:r>
                      <a:endParaRPr lang="en-AU" sz="18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pPr>
                      <a:r>
                        <a:rPr lang="en-US" sz="1800" b="0" u="none" strike="noStrike">
                          <a:solidFill>
                            <a:srgbClr val="666666"/>
                          </a:solidFill>
                          <a:effectLst/>
                          <a:uFillTx/>
                          <a:latin typeface="Arial"/>
                        </a:rPr>
                        <a:t>...</a:t>
                      </a:r>
                      <a:endParaRPr lang="en-AU" sz="18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pPr>
                      <a:r>
                        <a:rPr lang="en-US" sz="1800" b="0" u="none" strike="noStrike">
                          <a:solidFill>
                            <a:srgbClr val="000000"/>
                          </a:solidFill>
                          <a:effectLst/>
                          <a:uFillTx/>
                          <a:latin typeface="Arial"/>
                        </a:rPr>
                        <a:t>wrong</a:t>
                      </a:r>
                      <a:endParaRPr lang="en-AU" sz="18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r>
              <a:tr h="346320">
                <a:tc>
                  <a:txBody>
                    <a:bodyPr lIns="36000" rIns="36000" tIns="36000" bIns="36000" anchor="t">
                      <a:noAutofit/>
                    </a:bodyPr>
                    <a:p>
                      <a:pPr algn="ctr">
                        <a:lnSpc>
                          <a:spcPct val="100000"/>
                        </a:lnSpc>
                      </a:pPr>
                      <a:r>
                        <a:rPr lang="en-US" sz="1800" b="0" u="none" strike="noStrike">
                          <a:solidFill>
                            <a:srgbClr val="000000"/>
                          </a:solidFill>
                          <a:effectLst/>
                          <a:uFillTx/>
                          <a:latin typeface="Arial"/>
                        </a:rPr>
                        <a:t>q6</a:t>
                      </a:r>
                      <a:endParaRPr lang="en-AU" sz="18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pPr>
                      <a:r>
                        <a:rPr lang="en-US" sz="1800" b="0" u="none" strike="noStrike">
                          <a:solidFill>
                            <a:srgbClr val="666666"/>
                          </a:solidFill>
                          <a:effectLst/>
                          <a:uFillTx/>
                          <a:latin typeface="Arial"/>
                        </a:rPr>
                        <a:t>2 Sep</a:t>
                      </a:r>
                      <a:endParaRPr lang="en-AU" sz="18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pPr>
                      <a:r>
                        <a:rPr lang="en-US" sz="1800" b="0" u="none" strike="noStrike">
                          <a:solidFill>
                            <a:srgbClr val="666666"/>
                          </a:solidFill>
                          <a:effectLst/>
                          <a:uFillTx/>
                          <a:latin typeface="Arial"/>
                        </a:rPr>
                        <a:t>What is 12 / 3?</a:t>
                      </a:r>
                      <a:endParaRPr lang="en-AU" sz="18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pPr>
                      <a:r>
                        <a:rPr lang="en-US" sz="1800" b="0" u="none" strike="noStrike">
                          <a:solidFill>
                            <a:srgbClr val="666666"/>
                          </a:solidFill>
                          <a:effectLst/>
                          <a:uFillTx/>
                          <a:latin typeface="Arial"/>
                        </a:rPr>
                        <a:t>1s</a:t>
                      </a:r>
                      <a:endParaRPr lang="en-AU" sz="18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pPr>
                      <a:r>
                        <a:rPr lang="en-US" sz="1800" b="0" u="none" strike="noStrike">
                          <a:solidFill>
                            <a:srgbClr val="666666"/>
                          </a:solidFill>
                          <a:effectLst/>
                          <a:uFillTx/>
                          <a:latin typeface="Arial"/>
                        </a:rPr>
                        <a:t>[Division, ...]</a:t>
                      </a:r>
                      <a:endParaRPr lang="en-AU" sz="18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pPr>
                      <a:r>
                        <a:rPr lang="en-US" sz="1800" b="0" u="none" strike="noStrike">
                          <a:solidFill>
                            <a:srgbClr val="666666"/>
                          </a:solidFill>
                          <a:effectLst/>
                          <a:uFillTx/>
                          <a:latin typeface="Arial"/>
                        </a:rPr>
                        <a:t>...</a:t>
                      </a:r>
                      <a:endParaRPr lang="en-AU" sz="18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pPr>
                      <a:r>
                        <a:rPr lang="en-US" sz="1800" b="0" u="none" strike="noStrike">
                          <a:solidFill>
                            <a:srgbClr val="000000"/>
                          </a:solidFill>
                          <a:effectLst/>
                          <a:uFillTx/>
                          <a:latin typeface="Arial"/>
                        </a:rPr>
                        <a:t>right</a:t>
                      </a:r>
                      <a:endParaRPr lang="en-AU" sz="18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r>
              <a:tr h="346320">
                <a:tc>
                  <a:txBody>
                    <a:bodyPr lIns="36000" rIns="36000" tIns="36000" bIns="36000" anchor="t">
                      <a:noAutofit/>
                    </a:bodyPr>
                    <a:p>
                      <a:pPr algn="ctr">
                        <a:lnSpc>
                          <a:spcPct val="100000"/>
                        </a:lnSpc>
                      </a:pPr>
                      <a:r>
                        <a:rPr lang="en-US" sz="1800" b="0" u="none" strike="noStrike">
                          <a:solidFill>
                            <a:srgbClr val="000000"/>
                          </a:solidFill>
                          <a:effectLst/>
                          <a:uFillTx/>
                          <a:latin typeface="Arial"/>
                        </a:rPr>
                        <a:t>q1</a:t>
                      </a:r>
                      <a:endParaRPr lang="en-AU" sz="18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pPr>
                      <a:r>
                        <a:rPr lang="en-US" sz="1800" b="0" u="none" strike="noStrike">
                          <a:solidFill>
                            <a:srgbClr val="666666"/>
                          </a:solidFill>
                          <a:effectLst/>
                          <a:uFillTx/>
                          <a:latin typeface="Arial"/>
                        </a:rPr>
                        <a:t>1 Oct</a:t>
                      </a:r>
                      <a:endParaRPr lang="en-AU" sz="18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pPr>
                      <a:r>
                        <a:rPr lang="en-US" sz="1800" b="0" u="none" strike="noStrike">
                          <a:solidFill>
                            <a:srgbClr val="666666"/>
                          </a:solidFill>
                          <a:effectLst/>
                          <a:uFillTx/>
                          <a:latin typeface="Arial"/>
                        </a:rPr>
                        <a:t>What is 55 + 63?</a:t>
                      </a:r>
                      <a:endParaRPr lang="en-AU" sz="18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pPr>
                      <a:r>
                        <a:rPr lang="en-US" sz="1800" b="0" u="none" strike="noStrike">
                          <a:solidFill>
                            <a:srgbClr val="666666"/>
                          </a:solidFill>
                          <a:effectLst/>
                          <a:uFillTx/>
                          <a:latin typeface="Arial"/>
                        </a:rPr>
                        <a:t>10s</a:t>
                      </a:r>
                      <a:endParaRPr lang="en-AU" sz="18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pPr>
                      <a:r>
                        <a:rPr lang="en-US" sz="1800" b="0" u="none" strike="noStrike">
                          <a:solidFill>
                            <a:srgbClr val="666666"/>
                          </a:solidFill>
                          <a:effectLst/>
                          <a:uFillTx/>
                          <a:latin typeface="Arial"/>
                        </a:rPr>
                        <a:t>[Addition, ...]</a:t>
                      </a:r>
                      <a:endParaRPr lang="en-AU" sz="18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pPr>
                      <a:r>
                        <a:rPr lang="en-US" sz="1800" b="0" u="none" strike="noStrike">
                          <a:solidFill>
                            <a:srgbClr val="666666"/>
                          </a:solidFill>
                          <a:effectLst/>
                          <a:uFillTx/>
                          <a:latin typeface="Arial"/>
                        </a:rPr>
                        <a:t>...</a:t>
                      </a:r>
                      <a:endParaRPr lang="en-AU" sz="18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pPr>
                      <a:r>
                        <a:rPr lang="en-US" sz="1800" b="0" u="none" strike="noStrike">
                          <a:solidFill>
                            <a:srgbClr val="000000"/>
                          </a:solidFill>
                          <a:effectLst/>
                          <a:uFillTx/>
                          <a:latin typeface="Arial"/>
                        </a:rPr>
                        <a:t>wrong</a:t>
                      </a:r>
                      <a:endParaRPr lang="en-AU" sz="18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r>
            </a:tbl>
          </a:graphicData>
        </a:graphic>
      </p:graphicFrame>
      <p:sp>
        <p:nvSpPr>
          <p:cNvPr id="33" name=""/>
          <p:cNvSpPr/>
          <p:nvPr/>
        </p:nvSpPr>
        <p:spPr>
          <a:xfrm>
            <a:off x="180000" y="3709800"/>
            <a:ext cx="1437120" cy="427320"/>
          </a:xfrm>
          <a:prstGeom prst="rect">
            <a:avLst/>
          </a:prstGeom>
          <a:noFill/>
          <a:ln w="0">
            <a:noFill/>
          </a:ln>
        </p:spPr>
        <p:style>
          <a:lnRef idx="0"/>
          <a:fillRef idx="0"/>
          <a:effectRef idx="0"/>
          <a:fontRef idx="minor"/>
        </p:style>
        <p:txBody>
          <a:bodyPr lIns="90000" rIns="90000" tIns="45000" bIns="45000" anchor="t">
            <a:spAutoFit/>
          </a:bodyPr>
          <a:p>
            <a:pPr marL="216000" indent="-216000">
              <a:lnSpc>
                <a:spcPct val="100000"/>
              </a:lnSpc>
              <a:buClr>
                <a:srgbClr val="000000"/>
              </a:buClr>
              <a:buSzPct val="45000"/>
              <a:buFont typeface="Wingdings" charset="2"/>
              <a:buChar char=""/>
            </a:pPr>
            <a:r>
              <a:rPr lang="en-US" sz="2400" b="0" u="none" strike="noStrike">
                <a:solidFill>
                  <a:srgbClr val="000000"/>
                </a:solidFill>
                <a:effectLst/>
                <a:uFillTx/>
                <a:latin typeface="Arial"/>
                <a:ea typeface="DejaVu Sans"/>
              </a:rPr>
              <a:t>Output</a:t>
            </a:r>
            <a:endParaRPr lang="en-AU" sz="2400" b="0" u="none" strike="noStrike">
              <a:solidFill>
                <a:srgbClr val="000000"/>
              </a:solidFill>
              <a:effectLst/>
              <a:uFillTx/>
              <a:latin typeface="Arial"/>
            </a:endParaRPr>
          </a:p>
        </p:txBody>
      </p:sp>
      <p:sp>
        <p:nvSpPr>
          <p:cNvPr id="34" name=""/>
          <p:cNvSpPr/>
          <p:nvPr/>
        </p:nvSpPr>
        <p:spPr>
          <a:xfrm>
            <a:off x="583920" y="4140000"/>
            <a:ext cx="8953200" cy="59940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lang="en-US" sz="1800" b="0" u="none" strike="noStrike">
                <a:solidFill>
                  <a:srgbClr val="000000"/>
                </a:solidFill>
                <a:effectLst/>
                <a:uFillTx/>
                <a:latin typeface="Arial"/>
                <a:ea typeface="Noto Sans CJK SC"/>
              </a:rPr>
              <a:t>Probability (right | q6, </a:t>
            </a:r>
            <a:r>
              <a:rPr lang="en-US" sz="1800" b="0" u="none" strike="noStrike">
                <a:solidFill>
                  <a:srgbClr val="666666"/>
                </a:solidFill>
                <a:effectLst/>
                <a:uFillTx/>
                <a:latin typeface="Arial"/>
                <a:ea typeface="Noto Sans CJK SC"/>
              </a:rPr>
              <a:t>Additional Features, </a:t>
            </a:r>
            <a:r>
              <a:rPr lang="en-US" sz="1800" b="0" u="none" strike="noStrike">
                <a:solidFill>
                  <a:srgbClr val="000000"/>
                </a:solidFill>
                <a:effectLst/>
                <a:uFillTx/>
                <a:latin typeface="Arial"/>
                <a:ea typeface="Noto Sans CJK SC"/>
              </a:rPr>
              <a:t>Historical Interactions)</a:t>
            </a:r>
            <a:endParaRPr lang="en-AU" sz="1800" b="0" u="none" strike="noStrike">
              <a:solidFill>
                <a:srgbClr val="000000"/>
              </a:solidFill>
              <a:effectLst/>
              <a:uFillTx/>
              <a:latin typeface="Arial"/>
            </a:endParaRPr>
          </a:p>
        </p:txBody>
      </p:sp>
      <p:sp>
        <p:nvSpPr>
          <p:cNvPr id="35" name=""/>
          <p:cNvSpPr/>
          <p:nvPr/>
        </p:nvSpPr>
        <p:spPr>
          <a:xfrm rot="19860000">
            <a:off x="7039080" y="1321920"/>
            <a:ext cx="357120" cy="177120"/>
          </a:xfrm>
          <a:prstGeom prst="leftArrow">
            <a:avLst>
              <a:gd name="adj1" fmla="val 50000"/>
              <a:gd name="adj2" fmla="val 50000"/>
            </a:avLst>
          </a:prstGeom>
          <a:solidFill>
            <a:srgbClr val="729fcf"/>
          </a:solidFill>
          <a:ln w="0">
            <a:solidFill>
              <a:srgbClr val="3465a4"/>
            </a:solidFill>
          </a:ln>
        </p:spPr>
        <p:style>
          <a:lnRef idx="0"/>
          <a:fillRef idx="0"/>
          <a:effectRef idx="0"/>
          <a:fontRef idx="minor"/>
        </p:style>
        <p:txBody>
          <a:bodyPr lIns="90000" rIns="90000" tIns="44280" bIns="44280" anchor="ctr">
            <a:noAutofit/>
          </a:bodyPr>
          <a:p>
            <a:pPr>
              <a:lnSpc>
                <a:spcPct val="100000"/>
              </a:lnSpc>
            </a:pPr>
            <a:endParaRPr lang="en-US" sz="1800" b="0" u="none" strike="noStrike">
              <a:solidFill>
                <a:srgbClr val="000000"/>
              </a:solidFill>
              <a:effectLst/>
              <a:uFillTx/>
              <a:latin typeface="Arial"/>
              <a:ea typeface="DejaVu Sans"/>
            </a:endParaRPr>
          </a:p>
        </p:txBody>
      </p:sp>
      <p:sp>
        <p:nvSpPr>
          <p:cNvPr id="36" name=""/>
          <p:cNvSpPr/>
          <p:nvPr/>
        </p:nvSpPr>
        <p:spPr>
          <a:xfrm>
            <a:off x="7380000" y="1080000"/>
            <a:ext cx="1617120" cy="495360"/>
          </a:xfrm>
          <a:prstGeom prst="rect">
            <a:avLst/>
          </a:prstGeom>
          <a:noFill/>
          <a:ln w="0">
            <a:noFill/>
          </a:ln>
        </p:spPr>
        <p:style>
          <a:lnRef idx="0"/>
          <a:fillRef idx="0"/>
          <a:effectRef idx="0"/>
          <a:fontRef idx="minor"/>
        </p:style>
        <p:txBody>
          <a:bodyPr lIns="90000" rIns="90000" tIns="45000" bIns="45000" anchor="t" anchorCtr="1">
            <a:spAutoFit/>
          </a:bodyPr>
          <a:p>
            <a:pPr algn="ctr">
              <a:lnSpc>
                <a:spcPct val="100000"/>
              </a:lnSpc>
            </a:pPr>
            <a:r>
              <a:rPr lang="en-US" sz="1200" b="0" u="none" strike="noStrike">
                <a:solidFill>
                  <a:srgbClr val="000000"/>
                </a:solidFill>
                <a:effectLst/>
                <a:uFillTx/>
                <a:latin typeface="Arial"/>
                <a:ea typeface="DejaVu Sans"/>
              </a:rPr>
              <a:t>😯 Expensive 💲</a:t>
            </a:r>
            <a:endParaRPr lang="en-AU" sz="1200" b="0" u="none" strike="noStrike">
              <a:solidFill>
                <a:srgbClr val="000000"/>
              </a:solidFill>
              <a:effectLst/>
              <a:uFillTx/>
              <a:latin typeface="Arial"/>
            </a:endParaRPr>
          </a:p>
          <a:p>
            <a:pPr algn="ctr">
              <a:lnSpc>
                <a:spcPct val="100000"/>
              </a:lnSpc>
            </a:pPr>
            <a:r>
              <a:rPr lang="en-US" sz="1200" b="0" u="none" strike="noStrike">
                <a:solidFill>
                  <a:srgbClr val="000000"/>
                </a:solidFill>
                <a:effectLst/>
                <a:uFillTx/>
                <a:latin typeface="Arial"/>
                <a:ea typeface="DejaVu Sans"/>
              </a:rPr>
              <a:t>Manually Annotated</a:t>
            </a:r>
            <a:endParaRPr lang="en-AU" sz="1200" b="0" u="none" strike="noStrike">
              <a:solidFill>
                <a:srgbClr val="000000"/>
              </a:solidFill>
              <a:effectLst/>
              <a:uFillTx/>
              <a:latin typeface="Arial"/>
            </a:endParaRPr>
          </a:p>
        </p:txBody>
      </p:sp>
      <p:sp>
        <p:nvSpPr>
          <p:cNvPr id="5" name="PlaceHolder 4"/>
          <p:cNvSpPr>
            <a:spLocks noGrp="1"/>
          </p:cNvSpPr>
          <p:nvPr>
            <p:ph type="sldNum" idx="2"/>
          </p:nvPr>
        </p:nvSpPr>
        <p:spPr/>
        <p:txBody>
          <a:bodyPr/>
          <a:p>
            <a:fld id="{12EFB708-3E7D-412A-B714-4543EA57BBF6}" type="slidenum">
              <a:t>5</a:t>
            </a:fld>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 name="PlaceHolder 1"/>
          <p:cNvSpPr>
            <a:spLocks noGrp="1"/>
          </p:cNvSpPr>
          <p:nvPr>
            <p:ph type="title"/>
          </p:nvPr>
        </p:nvSpPr>
        <p:spPr>
          <a:xfrm>
            <a:off x="494280" y="357120"/>
            <a:ext cx="9068760" cy="769320"/>
          </a:xfrm>
          <a:prstGeom prst="rect">
            <a:avLst/>
          </a:prstGeom>
          <a:noFill/>
          <a:ln w="0">
            <a:noFill/>
          </a:ln>
        </p:spPr>
        <p:txBody>
          <a:bodyPr lIns="0" rIns="0" tIns="0" bIns="0" anchor="ctr">
            <a:spAutoFit/>
          </a:bodyPr>
          <a:p>
            <a:pPr marL="432000" indent="0" algn="ctr">
              <a:lnSpc>
                <a:spcPct val="100000"/>
              </a:lnSpc>
              <a:spcBef>
                <a:spcPts val="1417"/>
              </a:spcBef>
              <a:buNone/>
              <a:tabLst>
                <a:tab algn="l" pos="0"/>
              </a:tabLst>
            </a:pPr>
            <a:r>
              <a:rPr lang="en-US" sz="3600" b="0" u="none" strike="noStrike">
                <a:solidFill>
                  <a:srgbClr val="000000"/>
                </a:solidFill>
                <a:effectLst/>
                <a:uFillTx/>
                <a:latin typeface="Arial"/>
              </a:rPr>
              <a:t>A High-Level View of Knowledge Tracing</a:t>
            </a:r>
            <a:endParaRPr lang="en-AU" sz="3600" b="0" u="none" strike="noStrike">
              <a:solidFill>
                <a:srgbClr val="000000"/>
              </a:solidFill>
              <a:effectLst/>
              <a:uFillTx/>
              <a:latin typeface="Arial"/>
            </a:endParaRPr>
          </a:p>
        </p:txBody>
      </p:sp>
      <p:sp>
        <p:nvSpPr>
          <p:cNvPr id="38" name="PlaceHolder 2"/>
          <p:cNvSpPr>
            <a:spLocks noGrp="1"/>
          </p:cNvSpPr>
          <p:nvPr>
            <p:ph/>
          </p:nvPr>
        </p:nvSpPr>
        <p:spPr>
          <a:xfrm>
            <a:off x="540000" y="1440000"/>
            <a:ext cx="9068760" cy="2157120"/>
          </a:xfrm>
          <a:prstGeom prst="rect">
            <a:avLst/>
          </a:prstGeom>
          <a:noFill/>
          <a:ln w="0">
            <a:noFill/>
          </a:ln>
        </p:spPr>
        <p:txBody>
          <a:bodyPr lIns="0" rIns="0" tIns="0" bIns="0" anchor="t">
            <a:normAutofit lnSpcReduction="9999"/>
          </a:bodyPr>
          <a:p>
            <a:pPr indent="0">
              <a:lnSpc>
                <a:spcPct val="100000"/>
              </a:lnSpc>
              <a:spcBef>
                <a:spcPts val="1417"/>
              </a:spcBef>
              <a:buNone/>
              <a:tabLst>
                <a:tab algn="l" pos="0"/>
              </a:tabLst>
            </a:pPr>
            <a:r>
              <a:rPr lang="en-US" sz="2000" b="0" u="none" strike="noStrike">
                <a:solidFill>
                  <a:srgbClr val="000000"/>
                </a:solidFill>
                <a:effectLst/>
                <a:uFillTx/>
                <a:latin typeface="Arial"/>
              </a:rPr>
              <a:t>Many knowledge tracing models are essentially doing two things logically, even though the ways they do are different.</a:t>
            </a:r>
            <a:endParaRPr lang="en-AU" sz="2000" b="0" u="none" strike="noStrike">
              <a:solidFill>
                <a:srgbClr val="000000"/>
              </a:solidFill>
              <a:effectLst/>
              <a:uFillTx/>
              <a:latin typeface="Arial"/>
            </a:endParaRPr>
          </a:p>
          <a:p>
            <a:pPr marL="432000" indent="-324000">
              <a:lnSpc>
                <a:spcPct val="100000"/>
              </a:lnSpc>
              <a:spcBef>
                <a:spcPts val="1417"/>
              </a:spcBef>
              <a:buClr>
                <a:srgbClr val="000000"/>
              </a:buClr>
              <a:buSzPct val="45000"/>
              <a:buFont typeface="Wingdings" charset="2"/>
              <a:buChar char=""/>
              <a:tabLst>
                <a:tab algn="l" pos="0"/>
              </a:tabLst>
            </a:pPr>
            <a:r>
              <a:rPr lang="en-US" sz="2000" b="0" u="none" strike="noStrike">
                <a:solidFill>
                  <a:srgbClr val="000000"/>
                </a:solidFill>
                <a:effectLst/>
                <a:uFillTx/>
                <a:latin typeface="Arial"/>
              </a:rPr>
              <a:t>Modelling the latent </a:t>
            </a:r>
            <a:r>
              <a:rPr lang="en-US" sz="2000" b="1" u="none" strike="noStrike">
                <a:solidFill>
                  <a:srgbClr val="000000"/>
                </a:solidFill>
                <a:effectLst/>
                <a:uFillTx/>
                <a:latin typeface="Arial"/>
              </a:rPr>
              <a:t>Knowledge Components (KCs)</a:t>
            </a:r>
            <a:r>
              <a:rPr lang="en-US" sz="2000" b="0" u="none" strike="noStrike">
                <a:solidFill>
                  <a:srgbClr val="000000"/>
                </a:solidFill>
                <a:effectLst/>
                <a:uFillTx/>
                <a:latin typeface="Arial"/>
              </a:rPr>
              <a:t> and their relationship in the questions.</a:t>
            </a:r>
            <a:endParaRPr lang="en-AU" sz="2000" b="0" u="none" strike="noStrike">
              <a:solidFill>
                <a:srgbClr val="000000"/>
              </a:solidFill>
              <a:effectLst/>
              <a:uFillTx/>
              <a:latin typeface="Arial"/>
            </a:endParaRPr>
          </a:p>
          <a:p>
            <a:pPr marL="432000" indent="-324000">
              <a:lnSpc>
                <a:spcPct val="100000"/>
              </a:lnSpc>
              <a:spcBef>
                <a:spcPts val="1417"/>
              </a:spcBef>
              <a:buClr>
                <a:srgbClr val="000000"/>
              </a:buClr>
              <a:buSzPct val="45000"/>
              <a:buFont typeface="Wingdings" charset="2"/>
              <a:buChar char=""/>
              <a:tabLst>
                <a:tab algn="l" pos="0"/>
              </a:tabLst>
            </a:pPr>
            <a:r>
              <a:rPr lang="en-US" sz="2000" b="0" u="none" strike="noStrike">
                <a:solidFill>
                  <a:srgbClr val="000000"/>
                </a:solidFill>
                <a:effectLst/>
                <a:uFillTx/>
                <a:latin typeface="Arial"/>
              </a:rPr>
              <a:t>Modelling the </a:t>
            </a:r>
            <a:r>
              <a:rPr lang="en-US" sz="2000" b="1" u="none" strike="noStrike">
                <a:solidFill>
                  <a:srgbClr val="000000"/>
                </a:solidFill>
                <a:effectLst/>
                <a:uFillTx/>
                <a:latin typeface="Arial"/>
              </a:rPr>
              <a:t>growth (learning) and decay (forgetting)</a:t>
            </a:r>
            <a:r>
              <a:rPr lang="en-US" sz="2000" b="0" u="none" strike="noStrike">
                <a:solidFill>
                  <a:srgbClr val="000000"/>
                </a:solidFill>
                <a:effectLst/>
                <a:uFillTx/>
                <a:latin typeface="Arial"/>
              </a:rPr>
              <a:t> of the </a:t>
            </a:r>
            <a:r>
              <a:rPr lang="en-US" sz="2000" b="1" u="none" strike="noStrike">
                <a:solidFill>
                  <a:srgbClr val="000000"/>
                </a:solidFill>
                <a:effectLst/>
                <a:uFillTx/>
                <a:latin typeface="Arial"/>
              </a:rPr>
              <a:t>Knowledge Components</a:t>
            </a:r>
            <a:r>
              <a:rPr lang="en-US" sz="2000" b="0" u="none" strike="noStrike">
                <a:solidFill>
                  <a:srgbClr val="000000"/>
                </a:solidFill>
                <a:effectLst/>
                <a:uFillTx/>
                <a:latin typeface="Arial"/>
              </a:rPr>
              <a:t> of a student over time.</a:t>
            </a:r>
            <a:endParaRPr lang="en-AU" sz="2000" b="0" u="none" strike="noStrike">
              <a:solidFill>
                <a:srgbClr val="000000"/>
              </a:solidFill>
              <a:effectLst/>
              <a:uFillTx/>
              <a:latin typeface="Arial"/>
            </a:endParaRPr>
          </a:p>
          <a:p>
            <a:pPr indent="0">
              <a:lnSpc>
                <a:spcPct val="100000"/>
              </a:lnSpc>
              <a:spcBef>
                <a:spcPts val="1417"/>
              </a:spcBef>
              <a:buNone/>
              <a:tabLst>
                <a:tab algn="l" pos="0"/>
              </a:tabLst>
            </a:pPr>
            <a:endParaRPr lang="en-AU" sz="2000" b="0" u="none" strike="noStrike">
              <a:solidFill>
                <a:srgbClr val="000000"/>
              </a:solidFill>
              <a:effectLst/>
              <a:uFillTx/>
              <a:latin typeface="Arial"/>
            </a:endParaRPr>
          </a:p>
          <a:p>
            <a:pPr indent="0">
              <a:lnSpc>
                <a:spcPct val="100000"/>
              </a:lnSpc>
              <a:spcBef>
                <a:spcPts val="1417"/>
              </a:spcBef>
              <a:buNone/>
              <a:tabLst>
                <a:tab algn="l" pos="0"/>
              </a:tabLst>
            </a:pPr>
            <a:endParaRPr lang="en-AU" sz="2400" b="0" u="none" strike="noStrike">
              <a:solidFill>
                <a:srgbClr val="000000"/>
              </a:solidFill>
              <a:effectLst/>
              <a:uFillTx/>
              <a:latin typeface="Arial"/>
            </a:endParaRPr>
          </a:p>
        </p:txBody>
      </p:sp>
      <p:sp>
        <p:nvSpPr>
          <p:cNvPr id="39" name=""/>
          <p:cNvSpPr/>
          <p:nvPr/>
        </p:nvSpPr>
        <p:spPr>
          <a:xfrm>
            <a:off x="181080" y="3780000"/>
            <a:ext cx="9717120" cy="1620000"/>
          </a:xfrm>
          <a:prstGeom prst="rect">
            <a:avLst/>
          </a:prstGeom>
          <a:noFill/>
          <a:ln w="36000">
            <a:solidFill>
              <a:srgbClr val="55308d"/>
            </a:solidFill>
            <a:prstDash val="sysDot"/>
            <a:round/>
          </a:ln>
        </p:spPr>
        <p:style>
          <a:lnRef idx="0"/>
          <a:fillRef idx="0"/>
          <a:effectRef idx="0"/>
          <a:fontRef idx="minor"/>
        </p:style>
        <p:txBody>
          <a:bodyPr lIns="108000" rIns="108000" tIns="63000" bIns="63000" anchor="t">
            <a:spAutoFit/>
          </a:bodyPr>
          <a:p>
            <a:pPr>
              <a:lnSpc>
                <a:spcPct val="100000"/>
              </a:lnSpc>
            </a:pPr>
            <a:r>
              <a:rPr lang="en-US" sz="1400" b="0" u="none" strike="noStrike">
                <a:solidFill>
                  <a:srgbClr val="000000"/>
                </a:solidFill>
                <a:effectLst/>
                <a:uFillTx/>
                <a:latin typeface="Arial"/>
                <a:ea typeface="DejaVu Sans"/>
              </a:rPr>
              <a:t>Why does it work?</a:t>
            </a:r>
            <a:endParaRPr lang="en-AU" sz="1400" b="0" u="none" strike="noStrike">
              <a:solidFill>
                <a:srgbClr val="000000"/>
              </a:solidFill>
              <a:effectLst/>
              <a:uFillTx/>
              <a:latin typeface="Arial"/>
            </a:endParaRPr>
          </a:p>
          <a:p>
            <a:pPr>
              <a:lnSpc>
                <a:spcPct val="100000"/>
              </a:lnSpc>
            </a:pPr>
            <a:endParaRPr lang="en-AU" sz="1400" b="0" u="none" strike="noStrike">
              <a:solidFill>
                <a:srgbClr val="000000"/>
              </a:solidFill>
              <a:effectLst/>
              <a:uFillTx/>
              <a:latin typeface="Arial"/>
            </a:endParaRPr>
          </a:p>
          <a:p>
            <a:pPr>
              <a:lnSpc>
                <a:spcPct val="100000"/>
              </a:lnSpc>
            </a:pPr>
            <a:r>
              <a:rPr lang="en-US" sz="1400" b="0" u="none" strike="noStrike">
                <a:solidFill>
                  <a:srgbClr val="000000"/>
                </a:solidFill>
                <a:effectLst/>
                <a:uFillTx/>
                <a:latin typeface="Arial"/>
                <a:ea typeface="Noto Sans CJK SC"/>
              </a:rPr>
              <a:t>Given a past attempt, (Question ID, Result), the model first</a:t>
            </a:r>
            <a:r>
              <a:rPr lang="en-US" sz="1400" b="1" u="none" strike="noStrike">
                <a:solidFill>
                  <a:srgbClr val="000000"/>
                </a:solidFill>
                <a:effectLst/>
                <a:uFillTx/>
                <a:latin typeface="Arial"/>
                <a:ea typeface="Noto Sans CJK SC"/>
              </a:rPr>
              <a:t> transforms </a:t>
            </a:r>
            <a:r>
              <a:rPr lang="en-US" sz="1400" b="0" u="none" strike="noStrike">
                <a:solidFill>
                  <a:srgbClr val="000000"/>
                </a:solidFill>
                <a:effectLst/>
                <a:uFillTx/>
                <a:latin typeface="Arial"/>
                <a:ea typeface="Noto Sans CJK SC"/>
              </a:rPr>
              <a:t>the Question into a combination of some </a:t>
            </a:r>
            <a:r>
              <a:rPr lang="en-US" sz="1400" b="1" u="none" strike="noStrike">
                <a:solidFill>
                  <a:srgbClr val="000000"/>
                </a:solidFill>
                <a:effectLst/>
                <a:uFillTx/>
                <a:latin typeface="Arial"/>
                <a:ea typeface="Noto Sans CJK SC"/>
              </a:rPr>
              <a:t>Knowledge Components</a:t>
            </a:r>
            <a:r>
              <a:rPr lang="en-US" sz="1400" b="0" u="none" strike="noStrike">
                <a:solidFill>
                  <a:srgbClr val="000000"/>
                </a:solidFill>
                <a:effectLst/>
                <a:uFillTx/>
                <a:latin typeface="Arial"/>
                <a:ea typeface="Noto Sans CJK SC"/>
              </a:rPr>
              <a:t>, and update the </a:t>
            </a:r>
            <a:r>
              <a:rPr lang="en-US" sz="1400" b="1" u="none" strike="noStrike">
                <a:solidFill>
                  <a:srgbClr val="000000"/>
                </a:solidFill>
                <a:effectLst/>
                <a:uFillTx/>
                <a:latin typeface="Arial"/>
                <a:ea typeface="Noto Sans CJK SC"/>
              </a:rPr>
              <a:t>Mastery</a:t>
            </a:r>
            <a:r>
              <a:rPr lang="en-US" sz="1400" b="0" u="none" strike="noStrike">
                <a:solidFill>
                  <a:srgbClr val="000000"/>
                </a:solidFill>
                <a:effectLst/>
                <a:uFillTx/>
                <a:latin typeface="Arial"/>
                <a:ea typeface="Noto Sans CJK SC"/>
              </a:rPr>
              <a:t> of the related Knowledge Components based on the Result.</a:t>
            </a:r>
            <a:endParaRPr lang="en-AU" sz="1400" b="0" u="none" strike="noStrike">
              <a:solidFill>
                <a:srgbClr val="000000"/>
              </a:solidFill>
              <a:effectLst/>
              <a:uFillTx/>
              <a:latin typeface="Arial"/>
            </a:endParaRPr>
          </a:p>
          <a:p>
            <a:pPr>
              <a:lnSpc>
                <a:spcPct val="100000"/>
              </a:lnSpc>
            </a:pPr>
            <a:endParaRPr lang="en-AU" sz="1400" b="0" u="none" strike="noStrike">
              <a:solidFill>
                <a:srgbClr val="000000"/>
              </a:solidFill>
              <a:effectLst/>
              <a:uFillTx/>
              <a:latin typeface="Arial"/>
            </a:endParaRPr>
          </a:p>
          <a:p>
            <a:pPr>
              <a:lnSpc>
                <a:spcPct val="100000"/>
              </a:lnSpc>
            </a:pPr>
            <a:r>
              <a:rPr lang="en-US" sz="1400" b="0" u="none" strike="noStrike">
                <a:solidFill>
                  <a:srgbClr val="000000"/>
                </a:solidFill>
                <a:effectLst/>
                <a:uFillTx/>
                <a:latin typeface="Arial"/>
                <a:ea typeface="Noto Sans CJK SC"/>
              </a:rPr>
              <a:t>Given a query Question, the model</a:t>
            </a:r>
            <a:r>
              <a:rPr lang="en-US" sz="1400" b="1" u="none" strike="noStrike">
                <a:solidFill>
                  <a:srgbClr val="000000"/>
                </a:solidFill>
                <a:effectLst/>
                <a:uFillTx/>
                <a:latin typeface="Arial"/>
                <a:ea typeface="Noto Sans CJK SC"/>
              </a:rPr>
              <a:t> transforms it into</a:t>
            </a:r>
            <a:r>
              <a:rPr lang="en-US" sz="1400" b="0" u="none" strike="noStrike">
                <a:solidFill>
                  <a:srgbClr val="000000"/>
                </a:solidFill>
                <a:effectLst/>
                <a:uFillTx/>
                <a:latin typeface="Arial"/>
                <a:ea typeface="Noto Sans CJK SC"/>
              </a:rPr>
              <a:t> a combination of some </a:t>
            </a:r>
            <a:r>
              <a:rPr lang="en-US" sz="1400" b="1" u="none" strike="noStrike">
                <a:solidFill>
                  <a:srgbClr val="000000"/>
                </a:solidFill>
                <a:effectLst/>
                <a:uFillTx/>
                <a:latin typeface="Arial"/>
                <a:ea typeface="Noto Sans CJK SC"/>
              </a:rPr>
              <a:t>Knowledge Components.</a:t>
            </a:r>
            <a:r>
              <a:rPr lang="en-US" sz="1400" b="0" u="none" strike="noStrike">
                <a:solidFill>
                  <a:srgbClr val="000000"/>
                </a:solidFill>
                <a:effectLst/>
                <a:uFillTx/>
                <a:latin typeface="Arial"/>
                <a:ea typeface="Noto Sans CJK SC"/>
              </a:rPr>
              <a:t> Based on the </a:t>
            </a:r>
            <a:r>
              <a:rPr lang="en-US" sz="1400" b="1" u="none" strike="noStrike">
                <a:solidFill>
                  <a:srgbClr val="000000"/>
                </a:solidFill>
                <a:effectLst/>
                <a:uFillTx/>
                <a:latin typeface="Arial"/>
                <a:ea typeface="Noto Sans CJK SC"/>
              </a:rPr>
              <a:t>Mastery</a:t>
            </a:r>
            <a:r>
              <a:rPr lang="en-US" sz="1400" b="0" u="none" strike="noStrike">
                <a:solidFill>
                  <a:srgbClr val="000000"/>
                </a:solidFill>
                <a:effectLst/>
                <a:uFillTx/>
                <a:latin typeface="Arial"/>
                <a:ea typeface="Noto Sans CJK SC"/>
              </a:rPr>
              <a:t> of the related Knowledge Components updated early, we can then predict if the student can answer it right.</a:t>
            </a:r>
            <a:endParaRPr lang="en-AU" sz="1400" b="0" u="none" strike="noStrike">
              <a:solidFill>
                <a:srgbClr val="000000"/>
              </a:solidFill>
              <a:effectLst/>
              <a:uFillTx/>
              <a:latin typeface="Arial"/>
            </a:endParaRPr>
          </a:p>
        </p:txBody>
      </p:sp>
      <p:sp>
        <p:nvSpPr>
          <p:cNvPr id="4" name="PlaceHolder 3"/>
          <p:cNvSpPr>
            <a:spLocks noGrp="1"/>
          </p:cNvSpPr>
          <p:nvPr>
            <p:ph type="sldNum" idx="2"/>
          </p:nvPr>
        </p:nvSpPr>
        <p:spPr/>
        <p:txBody>
          <a:bodyPr/>
          <a:p>
            <a:fld id="{7ED3C220-5671-4F68-9B6E-11190E8E53AD}" type="slidenum">
              <a:t>6</a:t>
            </a:fld>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 name="PlaceHolder 1"/>
          <p:cNvSpPr>
            <a:spLocks noGrp="1"/>
          </p:cNvSpPr>
          <p:nvPr>
            <p:ph type="title"/>
          </p:nvPr>
        </p:nvSpPr>
        <p:spPr>
          <a:xfrm>
            <a:off x="504000" y="148320"/>
            <a:ext cx="9068760" cy="1099440"/>
          </a:xfrm>
          <a:prstGeom prst="rect">
            <a:avLst/>
          </a:prstGeom>
          <a:noFill/>
          <a:ln w="0">
            <a:noFill/>
          </a:ln>
        </p:spPr>
        <p:txBody>
          <a:bodyPr lIns="0" rIns="0" tIns="0" bIns="0" anchor="ctr">
            <a:spAutoFit/>
          </a:bodyPr>
          <a:p>
            <a:pPr indent="0" algn="ctr">
              <a:lnSpc>
                <a:spcPct val="100000"/>
              </a:lnSpc>
              <a:buNone/>
              <a:tabLst>
                <a:tab algn="l" pos="0"/>
              </a:tabLst>
            </a:pPr>
            <a:r>
              <a:rPr lang="en-US" sz="3600" b="0" u="none" strike="noStrike">
                <a:solidFill>
                  <a:srgbClr val="000000"/>
                </a:solidFill>
                <a:effectLst/>
                <a:uFillTx/>
                <a:latin typeface="Arial"/>
              </a:rPr>
              <a:t>Typical Knowledge Tracing Model Architectures</a:t>
            </a:r>
            <a:endParaRPr lang="en-AU" sz="3600" b="0" u="none" strike="noStrike">
              <a:solidFill>
                <a:srgbClr val="000000"/>
              </a:solidFill>
              <a:effectLst/>
              <a:uFillTx/>
              <a:latin typeface="Arial"/>
            </a:endParaRPr>
          </a:p>
        </p:txBody>
      </p:sp>
      <p:sp>
        <p:nvSpPr>
          <p:cNvPr id="41" name=""/>
          <p:cNvSpPr/>
          <p:nvPr/>
        </p:nvSpPr>
        <p:spPr>
          <a:xfrm>
            <a:off x="7560000" y="1440000"/>
            <a:ext cx="1797120" cy="111132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lang="en-US" sz="1800" b="0" u="none" strike="noStrike">
                <a:solidFill>
                  <a:srgbClr val="000000"/>
                </a:solidFill>
                <a:effectLst/>
                <a:uFillTx/>
                <a:latin typeface="Arial"/>
                <a:ea typeface="DejaVu Sans"/>
              </a:rPr>
              <a:t>Let’s explore them in reverse order 💪</a:t>
            </a:r>
            <a:endParaRPr lang="en-AU" sz="1800" b="0" u="none" strike="noStrike">
              <a:solidFill>
                <a:srgbClr val="000000"/>
              </a:solidFill>
              <a:effectLst/>
              <a:uFillTx/>
              <a:latin typeface="Arial"/>
            </a:endParaRPr>
          </a:p>
        </p:txBody>
      </p:sp>
      <p:sp>
        <p:nvSpPr>
          <p:cNvPr id="42" name=""/>
          <p:cNvSpPr/>
          <p:nvPr/>
        </p:nvSpPr>
        <p:spPr>
          <a:xfrm>
            <a:off x="7020000" y="2880000"/>
            <a:ext cx="2697120" cy="1077120"/>
          </a:xfrm>
          <a:prstGeom prst="rect">
            <a:avLst/>
          </a:prstGeom>
          <a:noFill/>
          <a:ln w="36000">
            <a:noFill/>
          </a:ln>
        </p:spPr>
        <p:style>
          <a:lnRef idx="0"/>
          <a:fillRef idx="0"/>
          <a:effectRef idx="0"/>
          <a:fontRef idx="minor"/>
        </p:style>
        <p:txBody>
          <a:bodyPr numCol="1" spcCol="0" lIns="108000" rIns="108000" tIns="63000" bIns="63000" anchor="t">
            <a:spAutoFit/>
          </a:bodyPr>
          <a:p>
            <a:pPr>
              <a:lnSpc>
                <a:spcPct val="100000"/>
              </a:lnSpc>
            </a:pPr>
            <a:r>
              <a:rPr lang="en-US" sz="1200" b="0" u="none" strike="noStrike">
                <a:solidFill>
                  <a:srgbClr val="000000"/>
                </a:solidFill>
                <a:effectLst/>
                <a:uFillTx/>
                <a:latin typeface="Arial"/>
                <a:ea typeface="DejaVu Sans"/>
              </a:rPr>
              <a:t>Bayesian: Bayesian Belief Network</a:t>
            </a:r>
            <a:endParaRPr lang="en-AU" sz="1200" b="0" u="none" strike="noStrike">
              <a:solidFill>
                <a:srgbClr val="000000"/>
              </a:solidFill>
              <a:effectLst/>
              <a:uFillTx/>
              <a:latin typeface="Arial"/>
            </a:endParaRPr>
          </a:p>
          <a:p>
            <a:pPr>
              <a:lnSpc>
                <a:spcPct val="100000"/>
              </a:lnSpc>
            </a:pPr>
            <a:r>
              <a:rPr lang="en-US" sz="1200" b="0" u="none" strike="noStrike">
                <a:solidFill>
                  <a:srgbClr val="000000"/>
                </a:solidFill>
                <a:effectLst/>
                <a:uFillTx/>
                <a:latin typeface="Arial"/>
                <a:ea typeface="DejaVu Sans"/>
              </a:rPr>
              <a:t>RNN: Recurrent Neural Network</a:t>
            </a:r>
            <a:endParaRPr lang="en-AU" sz="1200" b="0" u="none" strike="noStrike">
              <a:solidFill>
                <a:srgbClr val="000000"/>
              </a:solidFill>
              <a:effectLst/>
              <a:uFillTx/>
              <a:latin typeface="Arial"/>
            </a:endParaRPr>
          </a:p>
          <a:p>
            <a:pPr>
              <a:lnSpc>
                <a:spcPct val="100000"/>
              </a:lnSpc>
            </a:pPr>
            <a:r>
              <a:rPr lang="en-US" sz="1200" b="0" u="none" strike="noStrike">
                <a:solidFill>
                  <a:srgbClr val="000000"/>
                </a:solidFill>
                <a:effectLst/>
                <a:uFillTx/>
                <a:latin typeface="Arial"/>
                <a:ea typeface="DejaVu Sans"/>
              </a:rPr>
              <a:t>KVMN: Key-Value Memory Network</a:t>
            </a:r>
            <a:endParaRPr lang="en-AU" sz="1200" b="0" u="none" strike="noStrike">
              <a:solidFill>
                <a:srgbClr val="000000"/>
              </a:solidFill>
              <a:effectLst/>
              <a:uFillTx/>
              <a:latin typeface="Arial"/>
            </a:endParaRPr>
          </a:p>
          <a:p>
            <a:pPr>
              <a:lnSpc>
                <a:spcPct val="100000"/>
              </a:lnSpc>
            </a:pPr>
            <a:r>
              <a:rPr lang="en-US" sz="1200" b="0" u="none" strike="noStrike">
                <a:solidFill>
                  <a:srgbClr val="000000"/>
                </a:solidFill>
                <a:effectLst/>
                <a:uFillTx/>
                <a:latin typeface="Arial"/>
                <a:ea typeface="DejaVu Sans"/>
              </a:rPr>
              <a:t>GNN: Graph Neural Network</a:t>
            </a:r>
            <a:endParaRPr lang="en-AU" sz="1200" b="0" u="none" strike="noStrike">
              <a:solidFill>
                <a:srgbClr val="000000"/>
              </a:solidFill>
              <a:effectLst/>
              <a:uFillTx/>
              <a:latin typeface="Arial"/>
            </a:endParaRPr>
          </a:p>
          <a:p>
            <a:pPr>
              <a:lnSpc>
                <a:spcPct val="100000"/>
              </a:lnSpc>
            </a:pPr>
            <a:r>
              <a:rPr lang="en-US" sz="1200" b="0" u="none" strike="noStrike">
                <a:solidFill>
                  <a:srgbClr val="000000"/>
                </a:solidFill>
                <a:effectLst/>
                <a:uFillTx/>
                <a:latin typeface="Arial"/>
                <a:ea typeface="DejaVu Sans"/>
              </a:rPr>
              <a:t>Transformer: Transformer</a:t>
            </a:r>
            <a:endParaRPr lang="en-AU" sz="1200" b="0" u="none" strike="noStrike">
              <a:solidFill>
                <a:srgbClr val="000000"/>
              </a:solidFill>
              <a:effectLst/>
              <a:uFillTx/>
              <a:latin typeface="Arial"/>
            </a:endParaRPr>
          </a:p>
        </p:txBody>
      </p:sp>
      <p:pic>
        <p:nvPicPr>
          <p:cNvPr id="43" name=""/>
          <p:cNvPicPr/>
          <p:nvPr/>
        </p:nvPicPr>
        <p:blipFill>
          <a:blip r:embed="rId1"/>
          <a:stretch/>
        </p:blipFill>
        <p:spPr>
          <a:xfrm>
            <a:off x="720000" y="1620000"/>
            <a:ext cx="6117120" cy="2491920"/>
          </a:xfrm>
          <a:prstGeom prst="rect">
            <a:avLst/>
          </a:prstGeom>
          <a:noFill/>
          <a:ln w="0">
            <a:noFill/>
          </a:ln>
        </p:spPr>
      </p:pic>
      <p:sp>
        <p:nvSpPr>
          <p:cNvPr id="44" name=""/>
          <p:cNvSpPr/>
          <p:nvPr/>
        </p:nvSpPr>
        <p:spPr>
          <a:xfrm rot="20760000">
            <a:off x="6624720" y="1701000"/>
            <a:ext cx="717120" cy="357120"/>
          </a:xfrm>
          <a:prstGeom prst="leftArrow">
            <a:avLst>
              <a:gd name="adj1" fmla="val 50000"/>
              <a:gd name="adj2" fmla="val 50000"/>
            </a:avLst>
          </a:prstGeom>
          <a:solidFill>
            <a:srgbClr val="729fcf"/>
          </a:solidFill>
          <a:ln w="0">
            <a:solidFill>
              <a:srgbClr val="3465a4"/>
            </a:solidFill>
          </a:ln>
        </p:spPr>
        <p:style>
          <a:lnRef idx="0"/>
          <a:fillRef idx="0"/>
          <a:effectRef idx="0"/>
          <a:fontRef idx="minor"/>
        </p:style>
        <p:txBody>
          <a:bodyPr lIns="90000" rIns="90000" tIns="45000" bIns="45000" anchor="ctr">
            <a:noAutofit/>
          </a:bodyPr>
          <a:p>
            <a:pPr>
              <a:lnSpc>
                <a:spcPct val="100000"/>
              </a:lnSpc>
            </a:pPr>
            <a:endParaRPr lang="en-US" sz="1800" b="0" u="none" strike="noStrike">
              <a:solidFill>
                <a:srgbClr val="000000"/>
              </a:solidFill>
              <a:effectLst/>
              <a:uFillTx/>
              <a:latin typeface="Arial"/>
              <a:ea typeface="DejaVu Sans"/>
            </a:endParaRPr>
          </a:p>
        </p:txBody>
      </p:sp>
      <p:sp>
        <p:nvSpPr>
          <p:cNvPr id="45" name=""/>
          <p:cNvSpPr/>
          <p:nvPr/>
        </p:nvSpPr>
        <p:spPr>
          <a:xfrm>
            <a:off x="360000" y="4500000"/>
            <a:ext cx="9357120" cy="552600"/>
          </a:xfrm>
          <a:prstGeom prst="rect">
            <a:avLst/>
          </a:prstGeom>
          <a:noFill/>
          <a:ln w="36000">
            <a:solidFill>
              <a:srgbClr val="55308d"/>
            </a:solidFill>
            <a:prstDash val="sysDot"/>
            <a:round/>
          </a:ln>
        </p:spPr>
        <p:style>
          <a:lnRef idx="0"/>
          <a:fillRef idx="0"/>
          <a:effectRef idx="0"/>
          <a:fontRef idx="minor"/>
        </p:style>
        <p:txBody>
          <a:bodyPr numCol="1" spcCol="0" lIns="108000" rIns="108000" tIns="63000" bIns="63000" anchor="t">
            <a:spAutoFit/>
          </a:bodyPr>
          <a:p>
            <a:pPr>
              <a:lnSpc>
                <a:spcPct val="100000"/>
              </a:lnSpc>
            </a:pPr>
            <a:r>
              <a:rPr lang="en-US" sz="1400" b="0" u="none" strike="noStrike">
                <a:solidFill>
                  <a:srgbClr val="000000"/>
                </a:solidFill>
                <a:effectLst/>
                <a:uFillTx/>
                <a:latin typeface="Arial"/>
                <a:ea typeface="DejaVu Sans"/>
              </a:rPr>
              <a:t>Note: the year represents when the specific model architecture was first used for Knowledge Tracing, not the invention of the model architecture itself.</a:t>
            </a:r>
            <a:endParaRPr lang="en-AU" sz="1400" b="0" u="none" strike="noStrike">
              <a:solidFill>
                <a:srgbClr val="000000"/>
              </a:solidFill>
              <a:effectLst/>
              <a:uFillTx/>
              <a:latin typeface="Arial"/>
            </a:endParaRPr>
          </a:p>
        </p:txBody>
      </p:sp>
      <p:sp>
        <p:nvSpPr>
          <p:cNvPr id="3" name="PlaceHolder 2"/>
          <p:cNvSpPr>
            <a:spLocks noGrp="1"/>
          </p:cNvSpPr>
          <p:nvPr>
            <p:ph type="sldNum" idx="2"/>
          </p:nvPr>
        </p:nvSpPr>
        <p:spPr/>
        <p:txBody>
          <a:bodyPr/>
          <a:p>
            <a:fld id="{A18E9C53-C2DE-4A5D-AE5D-57874EAC2A29}" type="slidenum">
              <a:t>7</a:t>
            </a:fld>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6" name=""/>
          <p:cNvSpPr/>
          <p:nvPr/>
        </p:nvSpPr>
        <p:spPr>
          <a:xfrm>
            <a:off x="6480000" y="720000"/>
            <a:ext cx="3417120" cy="1186920"/>
          </a:xfrm>
          <a:prstGeom prst="rect">
            <a:avLst/>
          </a:prstGeom>
          <a:noFill/>
          <a:ln w="0">
            <a:noFill/>
          </a:ln>
        </p:spPr>
        <p:style>
          <a:lnRef idx="0"/>
          <a:fillRef idx="0"/>
          <a:effectRef idx="0"/>
          <a:fontRef idx="minor"/>
        </p:style>
        <p:txBody>
          <a:bodyPr lIns="90000" rIns="90000" tIns="45000" bIns="45000" anchor="t">
            <a:spAutoFit/>
          </a:bodyPr>
          <a:p>
            <a:pPr marL="216000" indent="-216000">
              <a:lnSpc>
                <a:spcPct val="100000"/>
              </a:lnSpc>
              <a:buClr>
                <a:srgbClr val="000000"/>
              </a:buClr>
              <a:buSzPct val="45000"/>
              <a:buFont typeface="Wingdings" charset="2"/>
              <a:buChar char=""/>
            </a:pPr>
            <a:r>
              <a:rPr lang="en-US" sz="1200" b="0" u="none" strike="noStrike">
                <a:solidFill>
                  <a:srgbClr val="2a6099"/>
                </a:solidFill>
                <a:effectLst/>
                <a:uFillTx/>
                <a:latin typeface="Arial"/>
                <a:ea typeface="DejaVu Sans"/>
              </a:rPr>
              <a:t>Static/global parameters</a:t>
            </a:r>
            <a:r>
              <a:rPr lang="en-US" sz="1200" b="0" u="none" strike="noStrike">
                <a:solidFill>
                  <a:srgbClr val="000000"/>
                </a:solidFill>
                <a:effectLst/>
                <a:uFillTx/>
                <a:latin typeface="Arial"/>
                <a:ea typeface="DejaVu Sans"/>
              </a:rPr>
              <a:t>. </a:t>
            </a:r>
            <a:endParaRPr lang="en-AU" sz="1200" b="0" u="none" strike="noStrike">
              <a:solidFill>
                <a:srgbClr val="000000"/>
              </a:solidFill>
              <a:effectLst/>
              <a:uFillTx/>
              <a:latin typeface="Arial"/>
            </a:endParaRPr>
          </a:p>
          <a:p>
            <a:pPr marL="432000" lvl="1" indent="-216000">
              <a:lnSpc>
                <a:spcPct val="100000"/>
              </a:lnSpc>
              <a:buClr>
                <a:srgbClr val="000000"/>
              </a:buClr>
              <a:buSzPct val="45000"/>
              <a:buFont typeface="Wingdings" charset="2"/>
              <a:buChar char=""/>
            </a:pPr>
            <a:r>
              <a:rPr lang="en-US" sz="1200" b="0" u="none" strike="noStrike">
                <a:solidFill>
                  <a:srgbClr val="000000"/>
                </a:solidFill>
                <a:effectLst/>
                <a:uFillTx/>
                <a:latin typeface="Arial"/>
                <a:ea typeface="DejaVu Sans"/>
              </a:rPr>
              <a:t>Learned during training. </a:t>
            </a:r>
            <a:endParaRPr lang="en-AU" sz="1200" b="0" u="none" strike="noStrike">
              <a:solidFill>
                <a:srgbClr val="000000"/>
              </a:solidFill>
              <a:effectLst/>
              <a:uFillTx/>
              <a:latin typeface="Arial"/>
            </a:endParaRPr>
          </a:p>
          <a:p>
            <a:pPr marL="432000" lvl="1" indent="-216000">
              <a:lnSpc>
                <a:spcPct val="100000"/>
              </a:lnSpc>
              <a:buClr>
                <a:srgbClr val="000000"/>
              </a:buClr>
              <a:buSzPct val="45000"/>
              <a:buFont typeface="Wingdings" charset="2"/>
              <a:buChar char=""/>
            </a:pPr>
            <a:r>
              <a:rPr lang="en-US" sz="1200" b="0" u="none" strike="noStrike">
                <a:solidFill>
                  <a:srgbClr val="000000"/>
                </a:solidFill>
                <a:effectLst/>
                <a:uFillTx/>
                <a:latin typeface="Arial"/>
                <a:ea typeface="DejaVu Sans"/>
              </a:rPr>
              <a:t>Fixed at inference.</a:t>
            </a:r>
            <a:endParaRPr lang="en-AU" sz="1200" b="0" u="none" strike="noStrike">
              <a:solidFill>
                <a:srgbClr val="000000"/>
              </a:solidFill>
              <a:effectLst/>
              <a:uFillTx/>
              <a:latin typeface="Arial"/>
            </a:endParaRPr>
          </a:p>
          <a:p>
            <a:pPr marL="216000" indent="-216000">
              <a:lnSpc>
                <a:spcPct val="100000"/>
              </a:lnSpc>
              <a:buClr>
                <a:srgbClr val="000000"/>
              </a:buClr>
              <a:buSzPct val="45000"/>
              <a:buFont typeface="Wingdings" charset="2"/>
              <a:buChar char=""/>
            </a:pPr>
            <a:r>
              <a:rPr lang="en-US" sz="1200" b="0" u="none" strike="noStrike">
                <a:solidFill>
                  <a:srgbClr val="00a933"/>
                </a:solidFill>
                <a:effectLst/>
                <a:uFillTx/>
                <a:latin typeface="Arial"/>
                <a:ea typeface="DejaVu Sans"/>
              </a:rPr>
              <a:t>Dynamic/online parameters.</a:t>
            </a:r>
            <a:r>
              <a:rPr lang="en-US" sz="1200" b="0" u="none" strike="noStrike">
                <a:solidFill>
                  <a:srgbClr val="000000"/>
                </a:solidFill>
                <a:effectLst/>
                <a:uFillTx/>
                <a:latin typeface="Arial"/>
                <a:ea typeface="DejaVu Sans"/>
              </a:rPr>
              <a:t> </a:t>
            </a:r>
            <a:endParaRPr lang="en-AU" sz="1200" b="0" u="none" strike="noStrike">
              <a:solidFill>
                <a:srgbClr val="000000"/>
              </a:solidFill>
              <a:effectLst/>
              <a:uFillTx/>
              <a:latin typeface="Arial"/>
            </a:endParaRPr>
          </a:p>
          <a:p>
            <a:pPr marL="432000" lvl="1" indent="-216000">
              <a:lnSpc>
                <a:spcPct val="100000"/>
              </a:lnSpc>
              <a:buClr>
                <a:srgbClr val="000000"/>
              </a:buClr>
              <a:buSzPct val="45000"/>
              <a:buFont typeface="Wingdings" charset="2"/>
              <a:buChar char=""/>
            </a:pPr>
            <a:r>
              <a:rPr lang="en-US" sz="1200" b="0" u="none" strike="noStrike">
                <a:solidFill>
                  <a:srgbClr val="000000"/>
                </a:solidFill>
                <a:effectLst/>
                <a:uFillTx/>
                <a:latin typeface="Arial"/>
                <a:ea typeface="DejaVu Sans"/>
              </a:rPr>
              <a:t>Updated during inference.</a:t>
            </a:r>
            <a:endParaRPr lang="en-AU" sz="1200" b="0" u="none" strike="noStrike">
              <a:solidFill>
                <a:srgbClr val="000000"/>
              </a:solidFill>
              <a:effectLst/>
              <a:uFillTx/>
              <a:latin typeface="Arial"/>
            </a:endParaRPr>
          </a:p>
          <a:p>
            <a:pPr marL="432000" lvl="1" indent="-216000">
              <a:lnSpc>
                <a:spcPct val="100000"/>
              </a:lnSpc>
              <a:buClr>
                <a:srgbClr val="000000"/>
              </a:buClr>
              <a:buSzPct val="45000"/>
              <a:buFont typeface="Wingdings" charset="2"/>
              <a:buChar char=""/>
            </a:pPr>
            <a:r>
              <a:rPr lang="en-US" sz="1200" b="0" u="none" strike="noStrike">
                <a:solidFill>
                  <a:srgbClr val="000000"/>
                </a:solidFill>
                <a:effectLst/>
                <a:uFillTx/>
                <a:latin typeface="Arial"/>
                <a:ea typeface="DejaVu Sans"/>
              </a:rPr>
              <a:t>Specific to each student / [(Question, ID)]</a:t>
            </a:r>
            <a:endParaRPr lang="en-AU" sz="1200" b="0" u="none" strike="noStrike">
              <a:solidFill>
                <a:srgbClr val="000000"/>
              </a:solidFill>
              <a:effectLst/>
              <a:uFillTx/>
              <a:latin typeface="Arial"/>
            </a:endParaRPr>
          </a:p>
        </p:txBody>
      </p:sp>
      <p:pic>
        <p:nvPicPr>
          <p:cNvPr id="47" name=""/>
          <p:cNvPicPr/>
          <p:nvPr/>
        </p:nvPicPr>
        <p:blipFill>
          <a:blip r:embed="rId1"/>
          <a:stretch/>
        </p:blipFill>
        <p:spPr>
          <a:xfrm>
            <a:off x="3240000" y="139680"/>
            <a:ext cx="3057120" cy="5437440"/>
          </a:xfrm>
          <a:prstGeom prst="rect">
            <a:avLst/>
          </a:prstGeom>
          <a:noFill/>
          <a:ln w="0">
            <a:noFill/>
          </a:ln>
        </p:spPr>
      </p:pic>
      <p:pic>
        <p:nvPicPr>
          <p:cNvPr id="48" name=""/>
          <p:cNvPicPr/>
          <p:nvPr/>
        </p:nvPicPr>
        <p:blipFill>
          <a:blip r:embed="rId2"/>
          <a:stretch/>
        </p:blipFill>
        <p:spPr>
          <a:xfrm>
            <a:off x="315360" y="360000"/>
            <a:ext cx="2921760" cy="4946760"/>
          </a:xfrm>
          <a:prstGeom prst="rect">
            <a:avLst/>
          </a:prstGeom>
          <a:noFill/>
          <a:ln w="0">
            <a:noFill/>
          </a:ln>
        </p:spPr>
      </p:pic>
      <p:sp>
        <p:nvSpPr>
          <p:cNvPr id="49" name=""/>
          <p:cNvSpPr/>
          <p:nvPr/>
        </p:nvSpPr>
        <p:spPr>
          <a:xfrm>
            <a:off x="6120000" y="139680"/>
            <a:ext cx="3957120" cy="537120"/>
          </a:xfrm>
          <a:prstGeom prst="rect">
            <a:avLst/>
          </a:prstGeom>
          <a:noFill/>
          <a:ln w="0">
            <a:noFill/>
          </a:ln>
        </p:spPr>
        <p:style>
          <a:lnRef idx="0"/>
          <a:fillRef idx="0"/>
          <a:effectRef idx="0"/>
          <a:fontRef idx="minor"/>
        </p:style>
        <p:txBody>
          <a:bodyPr lIns="90000" rIns="90000" tIns="45000" bIns="45000" anchor="t" anchorCtr="1">
            <a:spAutoFit/>
          </a:bodyPr>
          <a:p>
            <a:pPr algn="ctr">
              <a:lnSpc>
                <a:spcPct val="100000"/>
              </a:lnSpc>
            </a:pPr>
            <a:r>
              <a:rPr lang="en-US" sz="2600" b="0" u="none" strike="noStrike">
                <a:solidFill>
                  <a:srgbClr val="000000"/>
                </a:solidFill>
                <a:effectLst/>
                <a:uFillTx/>
                <a:latin typeface="Arial"/>
                <a:ea typeface="DejaVu Sans"/>
              </a:rPr>
              <a:t>Graph Neural Network</a:t>
            </a:r>
            <a:endParaRPr lang="en-AU" sz="2600" b="0" u="none" strike="noStrike">
              <a:solidFill>
                <a:srgbClr val="000000"/>
              </a:solidFill>
              <a:effectLst/>
              <a:uFillTx/>
              <a:latin typeface="Arial"/>
            </a:endParaRPr>
          </a:p>
        </p:txBody>
      </p:sp>
      <p:sp>
        <p:nvSpPr>
          <p:cNvPr id="50" name=""/>
          <p:cNvSpPr/>
          <p:nvPr/>
        </p:nvSpPr>
        <p:spPr>
          <a:xfrm>
            <a:off x="6660000" y="2160000"/>
            <a:ext cx="3057120" cy="2873160"/>
          </a:xfrm>
          <a:prstGeom prst="rect">
            <a:avLst/>
          </a:prstGeom>
          <a:noFill/>
          <a:ln w="36000">
            <a:solidFill>
              <a:srgbClr val="5b277d"/>
            </a:solidFill>
            <a:prstDash val="sysDot"/>
            <a:round/>
          </a:ln>
        </p:spPr>
        <p:style>
          <a:lnRef idx="0"/>
          <a:fillRef idx="0"/>
          <a:effectRef idx="0"/>
          <a:fontRef idx="minor"/>
        </p:style>
        <p:txBody>
          <a:bodyPr lIns="108000" rIns="108000" tIns="63000" bIns="63000" anchor="t">
            <a:spAutoFit/>
          </a:bodyPr>
          <a:p>
            <a:pPr>
              <a:lnSpc>
                <a:spcPct val="100000"/>
              </a:lnSpc>
            </a:pPr>
            <a:r>
              <a:rPr lang="en-US" sz="1000" b="0" i="1" u="none" strike="noStrike">
                <a:solidFill>
                  <a:srgbClr val="000000"/>
                </a:solidFill>
                <a:effectLst/>
                <a:uFillTx/>
                <a:latin typeface="Arial"/>
                <a:ea typeface="Noto Sans CJK SC"/>
              </a:rPr>
              <a:t>Note: the RHS graph does not tie to any specific graph-based knowledge tracing models (GKT), but it is adapted from a couple of GKT models, especially Abdelrahman et al.’s Deep Graph Memory Network (DGMN), to give a simple and intuitive view of how GKT works in general. Here are some simplifications made:</a:t>
            </a:r>
            <a:endParaRPr lang="en-AU" sz="1000" b="0" u="none" strike="noStrike">
              <a:solidFill>
                <a:srgbClr val="000000"/>
              </a:solidFill>
              <a:effectLst/>
              <a:uFillTx/>
              <a:latin typeface="Arial"/>
            </a:endParaRPr>
          </a:p>
          <a:p>
            <a:pPr>
              <a:lnSpc>
                <a:spcPct val="100000"/>
              </a:lnSpc>
            </a:pPr>
            <a:endParaRPr lang="en-AU" sz="1000" b="0" u="none" strike="noStrike">
              <a:solidFill>
                <a:srgbClr val="000000"/>
              </a:solidFill>
              <a:effectLst/>
              <a:uFillTx/>
              <a:latin typeface="Arial"/>
            </a:endParaRPr>
          </a:p>
          <a:p>
            <a:pPr marL="216000" indent="-216000">
              <a:lnSpc>
                <a:spcPct val="100000"/>
              </a:lnSpc>
              <a:buClr>
                <a:srgbClr val="000000"/>
              </a:buClr>
              <a:buSzPct val="45000"/>
              <a:buFont typeface="Wingdings" charset="2"/>
              <a:buChar char=""/>
            </a:pPr>
            <a:r>
              <a:rPr lang="en-US" sz="1000" b="0" i="1" u="none" strike="noStrike">
                <a:solidFill>
                  <a:srgbClr val="000000"/>
                </a:solidFill>
                <a:effectLst/>
                <a:uFillTx/>
                <a:latin typeface="Arial"/>
                <a:ea typeface="Noto Sans CJK SC"/>
              </a:rPr>
              <a:t>Mastery of each node is usually represented as a vector instead of just a scalar.</a:t>
            </a:r>
            <a:endParaRPr lang="en-AU" sz="1000" b="0" u="none" strike="noStrike">
              <a:solidFill>
                <a:srgbClr val="000000"/>
              </a:solidFill>
              <a:effectLst/>
              <a:uFillTx/>
              <a:latin typeface="Arial"/>
            </a:endParaRPr>
          </a:p>
          <a:p>
            <a:pPr marL="216000" indent="-216000">
              <a:lnSpc>
                <a:spcPct val="100000"/>
              </a:lnSpc>
              <a:buClr>
                <a:srgbClr val="000000"/>
              </a:buClr>
              <a:buSzPct val="45000"/>
              <a:buFont typeface="Wingdings" charset="2"/>
              <a:buChar char=""/>
            </a:pPr>
            <a:r>
              <a:rPr lang="en-US" sz="1000" b="0" i="1" u="none" strike="noStrike">
                <a:solidFill>
                  <a:srgbClr val="000000"/>
                </a:solidFill>
                <a:effectLst/>
                <a:uFillTx/>
                <a:latin typeface="Arial"/>
                <a:ea typeface="Noto Sans CJK SC"/>
              </a:rPr>
              <a:t>The mappings between questions and KCs are not binary. A question can map to all KCs with some weights</a:t>
            </a:r>
            <a:endParaRPr lang="en-AU" sz="1000" b="0" u="none" strike="noStrike">
              <a:solidFill>
                <a:srgbClr val="000000"/>
              </a:solidFill>
              <a:effectLst/>
              <a:uFillTx/>
              <a:latin typeface="Arial"/>
            </a:endParaRPr>
          </a:p>
          <a:p>
            <a:pPr>
              <a:lnSpc>
                <a:spcPct val="100000"/>
              </a:lnSpc>
            </a:pPr>
            <a:endParaRPr lang="en-AU" sz="1000" b="0" u="none" strike="noStrike">
              <a:solidFill>
                <a:srgbClr val="000000"/>
              </a:solidFill>
              <a:effectLst/>
              <a:uFillTx/>
              <a:latin typeface="Arial"/>
            </a:endParaRPr>
          </a:p>
          <a:p>
            <a:pPr>
              <a:lnSpc>
                <a:spcPct val="100000"/>
              </a:lnSpc>
            </a:pPr>
            <a:r>
              <a:rPr lang="en-US" sz="1000" b="0" i="1" u="none" strike="noStrike">
                <a:solidFill>
                  <a:srgbClr val="000000"/>
                </a:solidFill>
                <a:effectLst/>
                <a:uFillTx/>
                <a:latin typeface="Arial"/>
                <a:ea typeface="Noto Sans CJK SC"/>
              </a:rPr>
              <a:t>Ghodai Abdelrahman and Qing Wang. 2022. Deep graph memory networks for forgetting-robust knowledge tracing.</a:t>
            </a:r>
            <a:endParaRPr lang="en-AU" sz="1000" b="0" u="none" strike="noStrike">
              <a:solidFill>
                <a:srgbClr val="000000"/>
              </a:solidFill>
              <a:effectLst/>
              <a:uFillTx/>
              <a:latin typeface="Arial"/>
            </a:endParaRPr>
          </a:p>
          <a:p>
            <a:pPr>
              <a:lnSpc>
                <a:spcPct val="100000"/>
              </a:lnSpc>
            </a:pPr>
            <a:r>
              <a:rPr lang="en-US" sz="1000" b="0" i="1" u="none" strike="noStrike">
                <a:solidFill>
                  <a:srgbClr val="000000"/>
                </a:solidFill>
                <a:effectLst/>
                <a:uFillTx/>
                <a:latin typeface="Arial"/>
                <a:ea typeface="Noto Sans CJK SC"/>
              </a:rPr>
              <a:t>TKDE (2022)</a:t>
            </a:r>
            <a:endParaRPr lang="en-AU" sz="1000" b="0" u="none" strike="noStrike">
              <a:solidFill>
                <a:srgbClr val="000000"/>
              </a:solidFill>
              <a:effectLst/>
              <a:uFillTx/>
              <a:latin typeface="Arial"/>
            </a:endParaRPr>
          </a:p>
        </p:txBody>
      </p:sp>
      <p:sp>
        <p:nvSpPr>
          <p:cNvPr id="2" name="PlaceHolder 1"/>
          <p:cNvSpPr>
            <a:spLocks noGrp="1"/>
          </p:cNvSpPr>
          <p:nvPr>
            <p:ph type="sldNum" idx="2"/>
          </p:nvPr>
        </p:nvSpPr>
        <p:spPr/>
        <p:txBody>
          <a:bodyPr/>
          <a:p>
            <a:fld id="{7CEE5406-73AF-4F4D-9BDF-7372D4BC5243}" type="slidenum">
              <a:t>8</a:t>
            </a:fld>
          </a:p>
        </p:txBody>
      </p:sp>
    </p:spTree>
  </p:cSld>
  <mc:AlternateContent>
    <mc:Choice Requires="p14">
      <p:transition spd="slow" p14:dur="2000"/>
    </mc:Choice>
    <mc:Fallback>
      <p:transition spd="slow"/>
    </mc:Fallback>
  </mc:AlternateContent>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presetID="1" presetClass="entr" fill="hold" nodeType="clickEffect">
                                  <p:stCondLst>
                                    <p:cond delay="0"/>
                                  </p:stCondLst>
                                  <p:childTnLst>
                                    <p:set>
                                      <p:cBhvr>
                                        <p:cTn id="6" dur="1" fill="hold">
                                          <p:stCondLst>
                                            <p:cond delay="0"/>
                                          </p:stCondLst>
                                        </p:cTn>
                                        <p:tgtEl>
                                          <p:spTgt spid="5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 name="PlaceHolder 1"/>
          <p:cNvSpPr>
            <a:spLocks noGrp="1"/>
          </p:cNvSpPr>
          <p:nvPr>
            <p:ph type="title"/>
          </p:nvPr>
        </p:nvSpPr>
        <p:spPr>
          <a:xfrm>
            <a:off x="3780000" y="177120"/>
            <a:ext cx="5648760" cy="676800"/>
          </a:xfrm>
          <a:prstGeom prst="rect">
            <a:avLst/>
          </a:prstGeom>
          <a:noFill/>
          <a:ln w="0">
            <a:noFill/>
          </a:ln>
        </p:spPr>
        <p:txBody>
          <a:bodyPr lIns="0" rIns="0" tIns="0" bIns="0" anchor="ctr">
            <a:spAutoFit/>
          </a:bodyPr>
          <a:p>
            <a:pPr indent="0" algn="ctr">
              <a:lnSpc>
                <a:spcPct val="100000"/>
              </a:lnSpc>
              <a:buNone/>
              <a:tabLst>
                <a:tab algn="l" pos="0"/>
              </a:tabLst>
            </a:pPr>
            <a:r>
              <a:rPr lang="en-US" sz="2600" b="0" u="none" strike="noStrike">
                <a:solidFill>
                  <a:srgbClr val="000000"/>
                </a:solidFill>
                <a:effectLst/>
                <a:uFillTx/>
                <a:latin typeface="Arial"/>
              </a:rPr>
              <a:t>Graph Neural Network (Analysis)</a:t>
            </a:r>
            <a:endParaRPr lang="en-AU" sz="2600" b="0" u="none" strike="noStrike">
              <a:solidFill>
                <a:srgbClr val="000000"/>
              </a:solidFill>
              <a:effectLst/>
              <a:uFillTx/>
              <a:latin typeface="Arial"/>
            </a:endParaRPr>
          </a:p>
        </p:txBody>
      </p:sp>
      <p:sp>
        <p:nvSpPr>
          <p:cNvPr id="52" name="PlaceHolder 2"/>
          <p:cNvSpPr>
            <a:spLocks noGrp="1"/>
          </p:cNvSpPr>
          <p:nvPr>
            <p:ph/>
          </p:nvPr>
        </p:nvSpPr>
        <p:spPr>
          <a:xfrm>
            <a:off x="4140000" y="1080000"/>
            <a:ext cx="5577120" cy="3957120"/>
          </a:xfrm>
          <a:prstGeom prst="rect">
            <a:avLst/>
          </a:prstGeom>
          <a:noFill/>
          <a:ln w="0">
            <a:noFill/>
          </a:ln>
        </p:spPr>
        <p:txBody>
          <a:bodyPr lIns="0" rIns="0" tIns="0" bIns="0" anchor="t">
            <a:normAutofit lnSpcReduction="9999"/>
          </a:bodyPr>
          <a:p>
            <a:pPr indent="0">
              <a:lnSpc>
                <a:spcPct val="100000"/>
              </a:lnSpc>
              <a:spcBef>
                <a:spcPts val="1417"/>
              </a:spcBef>
              <a:buNone/>
              <a:tabLst>
                <a:tab algn="l" pos="0"/>
              </a:tabLst>
            </a:pPr>
            <a:r>
              <a:rPr lang="en-US" sz="1600" b="0" u="none" strike="noStrike">
                <a:solidFill>
                  <a:srgbClr val="000000"/>
                </a:solidFill>
                <a:effectLst/>
                <a:uFillTx/>
                <a:latin typeface="Arial"/>
              </a:rPr>
              <a:t>🤔 How does it model KCs?</a:t>
            </a:r>
            <a:endParaRPr lang="en-AU" sz="1600" b="0" u="none" strike="noStrike">
              <a:solidFill>
                <a:srgbClr val="000000"/>
              </a:solidFill>
              <a:effectLst/>
              <a:uFillTx/>
              <a:latin typeface="Arial"/>
            </a:endParaRPr>
          </a:p>
          <a:p>
            <a:pPr marL="432000" indent="-324000">
              <a:lnSpc>
                <a:spcPct val="100000"/>
              </a:lnSpc>
              <a:spcBef>
                <a:spcPts val="1417"/>
              </a:spcBef>
              <a:buClr>
                <a:srgbClr val="000000"/>
              </a:buClr>
              <a:buSzPct val="45000"/>
              <a:buFont typeface="Wingdings" charset="2"/>
              <a:buChar char=""/>
              <a:tabLst>
                <a:tab algn="l" pos="0"/>
              </a:tabLst>
            </a:pPr>
            <a:r>
              <a:rPr lang="en-US" sz="1600" b="1" u="none" strike="noStrike">
                <a:solidFill>
                  <a:srgbClr val="000000"/>
                </a:solidFill>
                <a:effectLst/>
                <a:uFillTx/>
                <a:latin typeface="Arial"/>
              </a:rPr>
              <a:t>Explicitly</a:t>
            </a:r>
            <a:r>
              <a:rPr lang="en-US" sz="1600" b="0" u="none" strike="noStrike">
                <a:solidFill>
                  <a:srgbClr val="000000"/>
                </a:solidFill>
                <a:effectLst/>
                <a:uFillTx/>
                <a:latin typeface="Arial"/>
              </a:rPr>
              <a:t> through nodes.</a:t>
            </a:r>
            <a:endParaRPr lang="en-AU" sz="1600" b="0" u="none" strike="noStrike">
              <a:solidFill>
                <a:srgbClr val="000000"/>
              </a:solidFill>
              <a:effectLst/>
              <a:uFillTx/>
              <a:latin typeface="Arial"/>
            </a:endParaRPr>
          </a:p>
          <a:p>
            <a:pPr indent="0">
              <a:lnSpc>
                <a:spcPct val="100000"/>
              </a:lnSpc>
              <a:spcBef>
                <a:spcPts val="1417"/>
              </a:spcBef>
              <a:buNone/>
              <a:tabLst>
                <a:tab algn="l" pos="0"/>
              </a:tabLst>
            </a:pPr>
            <a:r>
              <a:rPr lang="en-US" sz="1600" b="0" u="none" strike="noStrike">
                <a:solidFill>
                  <a:srgbClr val="000000"/>
                </a:solidFill>
                <a:effectLst/>
                <a:uFillTx/>
                <a:latin typeface="Arial"/>
              </a:rPr>
              <a:t>🤔 How does it model KC-KC relations?</a:t>
            </a:r>
            <a:endParaRPr lang="en-AU" sz="1600" b="0" u="none" strike="noStrike">
              <a:solidFill>
                <a:srgbClr val="000000"/>
              </a:solidFill>
              <a:effectLst/>
              <a:uFillTx/>
              <a:latin typeface="Arial"/>
            </a:endParaRPr>
          </a:p>
          <a:p>
            <a:pPr marL="432000" indent="-324000">
              <a:lnSpc>
                <a:spcPct val="100000"/>
              </a:lnSpc>
              <a:spcBef>
                <a:spcPts val="1417"/>
              </a:spcBef>
              <a:buClr>
                <a:srgbClr val="000000"/>
              </a:buClr>
              <a:buSzPct val="45000"/>
              <a:buFont typeface="Wingdings" charset="2"/>
              <a:buChar char=""/>
              <a:tabLst>
                <a:tab algn="l" pos="0"/>
              </a:tabLst>
            </a:pPr>
            <a:r>
              <a:rPr lang="en-US" sz="1600" b="1" u="none" strike="noStrike">
                <a:solidFill>
                  <a:srgbClr val="000000"/>
                </a:solidFill>
                <a:effectLst/>
                <a:uFillTx/>
                <a:latin typeface="Arial"/>
              </a:rPr>
              <a:t>Explicitly</a:t>
            </a:r>
            <a:r>
              <a:rPr lang="en-US" sz="1600" b="0" u="none" strike="noStrike">
                <a:solidFill>
                  <a:srgbClr val="000000"/>
                </a:solidFill>
                <a:effectLst/>
                <a:uFillTx/>
                <a:latin typeface="Arial"/>
              </a:rPr>
              <a:t> through edges.</a:t>
            </a:r>
            <a:endParaRPr lang="en-AU" sz="1600" b="0" u="none" strike="noStrike">
              <a:solidFill>
                <a:srgbClr val="000000"/>
              </a:solidFill>
              <a:effectLst/>
              <a:uFillTx/>
              <a:latin typeface="Arial"/>
            </a:endParaRPr>
          </a:p>
          <a:p>
            <a:pPr indent="0">
              <a:lnSpc>
                <a:spcPct val="100000"/>
              </a:lnSpc>
              <a:spcBef>
                <a:spcPts val="1417"/>
              </a:spcBef>
              <a:buNone/>
              <a:tabLst>
                <a:tab algn="l" pos="0"/>
              </a:tabLst>
            </a:pPr>
            <a:r>
              <a:rPr lang="en-US" sz="1600" b="0" u="none" strike="noStrike">
                <a:solidFill>
                  <a:srgbClr val="000000"/>
                </a:solidFill>
                <a:effectLst/>
                <a:uFillTx/>
                <a:latin typeface="Arial"/>
              </a:rPr>
              <a:t>🤔 How does it model the learning of KCs?</a:t>
            </a:r>
            <a:endParaRPr lang="en-AU" sz="1600" b="0" u="none" strike="noStrike">
              <a:solidFill>
                <a:srgbClr val="000000"/>
              </a:solidFill>
              <a:effectLst/>
              <a:uFillTx/>
              <a:latin typeface="Arial"/>
            </a:endParaRPr>
          </a:p>
          <a:p>
            <a:pPr marL="432000" indent="-324000">
              <a:lnSpc>
                <a:spcPct val="100000"/>
              </a:lnSpc>
              <a:spcBef>
                <a:spcPts val="1417"/>
              </a:spcBef>
              <a:buClr>
                <a:srgbClr val="000000"/>
              </a:buClr>
              <a:buSzPct val="45000"/>
              <a:buFont typeface="Wingdings" charset="2"/>
              <a:buChar char=""/>
              <a:tabLst>
                <a:tab algn="l" pos="0"/>
              </a:tabLst>
            </a:pPr>
            <a:r>
              <a:rPr lang="en-US" sz="1600" b="1" u="none" strike="noStrike">
                <a:solidFill>
                  <a:srgbClr val="000000"/>
                </a:solidFill>
                <a:effectLst/>
                <a:uFillTx/>
                <a:latin typeface="Arial"/>
              </a:rPr>
              <a:t>Explicitly</a:t>
            </a:r>
            <a:r>
              <a:rPr lang="en-US" sz="1600" b="0" u="none" strike="noStrike">
                <a:solidFill>
                  <a:srgbClr val="000000"/>
                </a:solidFill>
                <a:effectLst/>
                <a:uFillTx/>
                <a:latin typeface="Arial"/>
              </a:rPr>
              <a:t> through node updates + message passing</a:t>
            </a:r>
            <a:endParaRPr lang="en-AU" sz="1600" b="0" u="none" strike="noStrike">
              <a:solidFill>
                <a:srgbClr val="000000"/>
              </a:solidFill>
              <a:effectLst/>
              <a:uFillTx/>
              <a:latin typeface="Arial"/>
            </a:endParaRPr>
          </a:p>
          <a:p>
            <a:pPr indent="0">
              <a:lnSpc>
                <a:spcPct val="100000"/>
              </a:lnSpc>
              <a:spcBef>
                <a:spcPts val="1417"/>
              </a:spcBef>
              <a:buNone/>
              <a:tabLst>
                <a:tab algn="l" pos="0"/>
              </a:tabLst>
            </a:pPr>
            <a:r>
              <a:rPr lang="en-US" sz="1600" b="0" u="none" strike="noStrike">
                <a:solidFill>
                  <a:srgbClr val="000000"/>
                </a:solidFill>
                <a:effectLst/>
                <a:uFillTx/>
                <a:latin typeface="Arial"/>
              </a:rPr>
              <a:t>🤔 How does it model the forgetting of KCs?</a:t>
            </a:r>
            <a:endParaRPr lang="en-AU" sz="1600" b="0" u="none" strike="noStrike">
              <a:solidFill>
                <a:srgbClr val="000000"/>
              </a:solidFill>
              <a:effectLst/>
              <a:uFillTx/>
              <a:latin typeface="Arial"/>
            </a:endParaRPr>
          </a:p>
          <a:p>
            <a:pPr marL="432000" indent="-324000">
              <a:lnSpc>
                <a:spcPct val="100000"/>
              </a:lnSpc>
              <a:spcBef>
                <a:spcPts val="1417"/>
              </a:spcBef>
              <a:buClr>
                <a:srgbClr val="000000"/>
              </a:buClr>
              <a:buSzPct val="45000"/>
              <a:buFont typeface="Wingdings" charset="2"/>
              <a:buChar char=""/>
              <a:tabLst>
                <a:tab algn="l" pos="0"/>
              </a:tabLst>
            </a:pPr>
            <a:r>
              <a:rPr lang="en-US" sz="1600" b="1" u="none" strike="noStrike">
                <a:solidFill>
                  <a:srgbClr val="000000"/>
                </a:solidFill>
                <a:effectLst/>
                <a:uFillTx/>
                <a:latin typeface="Arial"/>
              </a:rPr>
              <a:t>Explicitly</a:t>
            </a:r>
            <a:r>
              <a:rPr lang="en-US" sz="1600" b="0" u="none" strike="noStrike">
                <a:solidFill>
                  <a:srgbClr val="000000"/>
                </a:solidFill>
                <a:effectLst/>
                <a:uFillTx/>
                <a:latin typeface="Arial"/>
              </a:rPr>
              <a:t> through Forgetting Functions</a:t>
            </a:r>
            <a:endParaRPr lang="en-AU" sz="1600" b="0" u="none" strike="noStrike">
              <a:solidFill>
                <a:srgbClr val="000000"/>
              </a:solidFill>
              <a:effectLst/>
              <a:uFillTx/>
              <a:latin typeface="Arial"/>
            </a:endParaRPr>
          </a:p>
          <a:p>
            <a:pPr indent="0">
              <a:lnSpc>
                <a:spcPct val="100000"/>
              </a:lnSpc>
              <a:spcBef>
                <a:spcPts val="1417"/>
              </a:spcBef>
              <a:buNone/>
              <a:tabLst>
                <a:tab algn="l" pos="0"/>
              </a:tabLst>
            </a:pPr>
            <a:r>
              <a:rPr lang="en-US" sz="1600" b="0" u="none" strike="noStrike">
                <a:solidFill>
                  <a:srgbClr val="000000"/>
                </a:solidFill>
                <a:effectLst/>
                <a:uFillTx/>
                <a:latin typeface="Arial"/>
              </a:rPr>
              <a:t>🤔 How does it model the student’s knowledge state?</a:t>
            </a:r>
            <a:endParaRPr lang="en-AU" sz="1600" b="0" u="none" strike="noStrike">
              <a:solidFill>
                <a:srgbClr val="000000"/>
              </a:solidFill>
              <a:effectLst/>
              <a:uFillTx/>
              <a:latin typeface="Arial"/>
            </a:endParaRPr>
          </a:p>
          <a:p>
            <a:pPr marL="432000" indent="-324000">
              <a:lnSpc>
                <a:spcPct val="100000"/>
              </a:lnSpc>
              <a:spcBef>
                <a:spcPts val="1417"/>
              </a:spcBef>
              <a:buClr>
                <a:srgbClr val="000000"/>
              </a:buClr>
              <a:buSzPct val="45000"/>
              <a:buFont typeface="Wingdings" charset="2"/>
              <a:buChar char=""/>
              <a:tabLst>
                <a:tab algn="l" pos="0"/>
              </a:tabLst>
            </a:pPr>
            <a:r>
              <a:rPr lang="en-US" sz="1600" b="1" u="none" strike="noStrike">
                <a:solidFill>
                  <a:srgbClr val="000000"/>
                </a:solidFill>
                <a:effectLst/>
                <a:uFillTx/>
                <a:latin typeface="Arial"/>
              </a:rPr>
              <a:t>Explicitly</a:t>
            </a:r>
            <a:r>
              <a:rPr lang="en-US" sz="1600" b="0" u="none" strike="noStrike">
                <a:solidFill>
                  <a:srgbClr val="000000"/>
                </a:solidFill>
                <a:effectLst/>
                <a:uFillTx/>
                <a:latin typeface="Arial"/>
              </a:rPr>
              <a:t> through a graph.</a:t>
            </a:r>
            <a:endParaRPr lang="en-AU" sz="1600" b="0" u="none" strike="noStrike">
              <a:solidFill>
                <a:srgbClr val="000000"/>
              </a:solidFill>
              <a:effectLst/>
              <a:uFillTx/>
              <a:latin typeface="Arial"/>
            </a:endParaRPr>
          </a:p>
        </p:txBody>
      </p:sp>
      <p:pic>
        <p:nvPicPr>
          <p:cNvPr id="53" name=""/>
          <p:cNvPicPr/>
          <p:nvPr/>
        </p:nvPicPr>
        <p:blipFill>
          <a:blip r:embed="rId1"/>
          <a:stretch/>
        </p:blipFill>
        <p:spPr>
          <a:xfrm>
            <a:off x="720000" y="270360"/>
            <a:ext cx="2921760" cy="4946760"/>
          </a:xfrm>
          <a:prstGeom prst="rect">
            <a:avLst/>
          </a:prstGeom>
          <a:noFill/>
          <a:ln w="0">
            <a:noFill/>
          </a:ln>
        </p:spPr>
      </p:pic>
      <p:sp>
        <p:nvSpPr>
          <p:cNvPr id="4" name="PlaceHolder 3"/>
          <p:cNvSpPr>
            <a:spLocks noGrp="1"/>
          </p:cNvSpPr>
          <p:nvPr>
            <p:ph type="sldNum" idx="2"/>
          </p:nvPr>
        </p:nvSpPr>
        <p:spPr/>
        <p:txBody>
          <a:bodyPr/>
          <a:p>
            <a:fld id="{E0682A13-DF20-41D6-AAB2-EB24AE0B0489}" type="slidenum">
              <a:t>9</a:t>
            </a:fld>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4" name="PlaceHolder 1"/>
          <p:cNvSpPr>
            <a:spLocks noGrp="1"/>
          </p:cNvSpPr>
          <p:nvPr>
            <p:ph type="title"/>
          </p:nvPr>
        </p:nvSpPr>
        <p:spPr>
          <a:xfrm>
            <a:off x="504000" y="223200"/>
            <a:ext cx="9068760" cy="949320"/>
          </a:xfrm>
          <a:prstGeom prst="rect">
            <a:avLst/>
          </a:prstGeom>
          <a:noFill/>
          <a:ln w="0">
            <a:noFill/>
          </a:ln>
        </p:spPr>
        <p:txBody>
          <a:bodyPr lIns="0" rIns="0" tIns="0" bIns="0" anchor="ctr">
            <a:spAutoFit/>
          </a:bodyPr>
          <a:p>
            <a:pPr indent="0" algn="ctr">
              <a:lnSpc>
                <a:spcPct val="100000"/>
              </a:lnSpc>
              <a:buNone/>
              <a:tabLst>
                <a:tab algn="l" pos="0"/>
              </a:tabLst>
            </a:pPr>
            <a:r>
              <a:rPr lang="en-US" sz="4000" b="0" u="none" strike="noStrike">
                <a:solidFill>
                  <a:srgbClr val="000000"/>
                </a:solidFill>
                <a:effectLst/>
                <a:uFillTx/>
                <a:latin typeface="Arial"/>
              </a:rPr>
              <a:t>Model Architectures Visited So Far</a:t>
            </a:r>
            <a:endParaRPr lang="en-AU" sz="4000" b="0" u="none" strike="noStrike">
              <a:solidFill>
                <a:srgbClr val="000000"/>
              </a:solidFill>
              <a:effectLst/>
              <a:uFillTx/>
              <a:latin typeface="Arial"/>
            </a:endParaRPr>
          </a:p>
        </p:txBody>
      </p:sp>
      <p:graphicFrame>
        <p:nvGraphicFramePr>
          <p:cNvPr id="55" name=""/>
          <p:cNvGraphicFramePr/>
          <p:nvPr/>
        </p:nvGraphicFramePr>
        <p:xfrm>
          <a:off x="507600" y="1989360"/>
          <a:ext cx="9032040" cy="1167120"/>
        </p:xfrm>
        <a:graphic>
          <a:graphicData uri="http://schemas.openxmlformats.org/drawingml/2006/table">
            <a:tbl>
              <a:tblPr/>
              <a:tblGrid>
                <a:gridCol w="1505520"/>
                <a:gridCol w="1505520"/>
                <a:gridCol w="1505520"/>
                <a:gridCol w="1505520"/>
                <a:gridCol w="1505520"/>
                <a:gridCol w="1504800"/>
              </a:tblGrid>
              <a:tr h="346320">
                <a:tc>
                  <a:txBody>
                    <a:bodyPr lIns="36000" rIns="36000" tIns="36000" bIns="36000" anchor="t">
                      <a:noAutofit/>
                    </a:bodyPr>
                    <a:p>
                      <a:pPr algn="ctr">
                        <a:lnSpc>
                          <a:spcPct val="100000"/>
                        </a:lnSpc>
                        <a:tabLst>
                          <a:tab algn="l" pos="0"/>
                        </a:tabLst>
                      </a:pPr>
                      <a:r>
                        <a:rPr lang="en-US" sz="1300" b="0" u="none" strike="noStrike">
                          <a:solidFill>
                            <a:srgbClr val="000000"/>
                          </a:solidFill>
                          <a:effectLst/>
                          <a:uFillTx/>
                          <a:latin typeface="Arial"/>
                        </a:rPr>
                        <a:t>Architecture</a:t>
                      </a:r>
                      <a:endParaRPr lang="en-AU" sz="13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tabLst>
                          <a:tab algn="l" pos="0"/>
                        </a:tabLst>
                      </a:pPr>
                      <a:r>
                        <a:rPr lang="en-US" sz="1300" b="0" u="none" strike="noStrike">
                          <a:solidFill>
                            <a:srgbClr val="000000"/>
                          </a:solidFill>
                          <a:effectLst/>
                          <a:uFillTx/>
                          <a:latin typeface="Arial"/>
                        </a:rPr>
                        <a:t>KCs</a:t>
                      </a:r>
                      <a:endParaRPr lang="en-AU" sz="13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tabLst>
                          <a:tab algn="l" pos="0"/>
                        </a:tabLst>
                      </a:pPr>
                      <a:r>
                        <a:rPr lang="en-US" sz="1300" b="0" u="none" strike="noStrike">
                          <a:solidFill>
                            <a:srgbClr val="000000"/>
                          </a:solidFill>
                          <a:effectLst/>
                          <a:uFillTx/>
                          <a:latin typeface="Arial"/>
                        </a:rPr>
                        <a:t>KC-KC Relations</a:t>
                      </a:r>
                      <a:endParaRPr lang="en-AU" sz="13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tabLst>
                          <a:tab algn="l" pos="0"/>
                        </a:tabLst>
                      </a:pPr>
                      <a:r>
                        <a:rPr lang="en-US" sz="1300" b="0" u="none" strike="noStrike">
                          <a:solidFill>
                            <a:srgbClr val="000000"/>
                          </a:solidFill>
                          <a:effectLst/>
                          <a:uFillTx/>
                          <a:latin typeface="Arial"/>
                        </a:rPr>
                        <a:t>Leaning of KCs</a:t>
                      </a:r>
                      <a:endParaRPr lang="en-AU" sz="13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tabLst>
                          <a:tab algn="l" pos="0"/>
                        </a:tabLst>
                      </a:pPr>
                      <a:r>
                        <a:rPr lang="en-US" sz="1300" b="0" u="none" strike="noStrike">
                          <a:solidFill>
                            <a:srgbClr val="000000"/>
                          </a:solidFill>
                          <a:effectLst/>
                          <a:uFillTx/>
                          <a:latin typeface="Arial"/>
                        </a:rPr>
                        <a:t>Time-Based Forgetting of KC</a:t>
                      </a:r>
                      <a:endParaRPr lang="en-AU" sz="13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tabLst>
                          <a:tab algn="l" pos="0"/>
                        </a:tabLst>
                      </a:pPr>
                      <a:r>
                        <a:rPr lang="en-US" sz="1300" b="0" u="none" strike="noStrike">
                          <a:solidFill>
                            <a:srgbClr val="000000"/>
                          </a:solidFill>
                          <a:effectLst/>
                          <a:uFillTx/>
                          <a:latin typeface="Arial"/>
                        </a:rPr>
                        <a:t>Student’s Knowledge State</a:t>
                      </a:r>
                      <a:endParaRPr lang="en-AU" sz="13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r>
              <a:tr h="698040">
                <a:tc>
                  <a:txBody>
                    <a:bodyPr lIns="36000" rIns="36000" tIns="36000" bIns="36000" anchor="t">
                      <a:noAutofit/>
                    </a:bodyPr>
                    <a:p>
                      <a:pPr algn="ctr">
                        <a:lnSpc>
                          <a:spcPct val="100000"/>
                        </a:lnSpc>
                        <a:tabLst>
                          <a:tab algn="l" pos="0"/>
                        </a:tabLst>
                      </a:pPr>
                      <a:r>
                        <a:rPr lang="en-US" sz="1300" b="0" u="none" strike="noStrike">
                          <a:solidFill>
                            <a:srgbClr val="000000"/>
                          </a:solidFill>
                          <a:effectLst/>
                          <a:uFillTx/>
                          <a:latin typeface="Arial"/>
                        </a:rPr>
                        <a:t>Graph Neural Network</a:t>
                      </a:r>
                      <a:endParaRPr lang="en-AU" sz="13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tabLst>
                          <a:tab algn="l" pos="0"/>
                        </a:tabLst>
                      </a:pPr>
                      <a:r>
                        <a:rPr lang="en-US" sz="1300" b="1" u="none" strike="noStrike">
                          <a:solidFill>
                            <a:srgbClr val="000000"/>
                          </a:solidFill>
                          <a:effectLst/>
                          <a:uFillTx/>
                          <a:latin typeface="Arial"/>
                        </a:rPr>
                        <a:t>Explicit</a:t>
                      </a:r>
                      <a:r>
                        <a:rPr lang="en-US" sz="1300" b="0" u="none" strike="noStrike">
                          <a:solidFill>
                            <a:srgbClr val="000000"/>
                          </a:solidFill>
                          <a:effectLst/>
                          <a:uFillTx/>
                          <a:latin typeface="Arial"/>
                        </a:rPr>
                        <a:t> as Nodes</a:t>
                      </a:r>
                      <a:endParaRPr lang="en-AU" sz="13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tabLst>
                          <a:tab algn="l" pos="0"/>
                        </a:tabLst>
                      </a:pPr>
                      <a:r>
                        <a:rPr lang="en-US" sz="1300" b="1" u="none" strike="noStrike">
                          <a:solidFill>
                            <a:srgbClr val="000000"/>
                          </a:solidFill>
                          <a:effectLst/>
                          <a:uFillTx/>
                          <a:latin typeface="Arial"/>
                        </a:rPr>
                        <a:t>Explicit</a:t>
                      </a:r>
                      <a:r>
                        <a:rPr lang="en-US" sz="1300" b="0" u="none" strike="noStrike">
                          <a:solidFill>
                            <a:srgbClr val="000000"/>
                          </a:solidFill>
                          <a:effectLst/>
                          <a:uFillTx/>
                          <a:latin typeface="Arial"/>
                        </a:rPr>
                        <a:t> as Edges</a:t>
                      </a:r>
                      <a:endParaRPr lang="en-AU" sz="13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tabLst>
                          <a:tab algn="l" pos="0"/>
                        </a:tabLst>
                      </a:pPr>
                      <a:r>
                        <a:rPr lang="en-US" sz="1300" b="1" u="none" strike="noStrike">
                          <a:solidFill>
                            <a:srgbClr val="000000"/>
                          </a:solidFill>
                          <a:effectLst/>
                          <a:uFillTx/>
                          <a:latin typeface="Arial"/>
                        </a:rPr>
                        <a:t>Explicit</a:t>
                      </a:r>
                      <a:r>
                        <a:rPr lang="en-US" sz="1300" b="0" u="none" strike="noStrike">
                          <a:solidFill>
                            <a:srgbClr val="000000"/>
                          </a:solidFill>
                          <a:effectLst/>
                          <a:uFillTx/>
                          <a:latin typeface="Arial"/>
                        </a:rPr>
                        <a:t> via node update + message passing</a:t>
                      </a:r>
                      <a:endParaRPr lang="en-AU" sz="13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tabLst>
                          <a:tab algn="l" pos="0"/>
                        </a:tabLst>
                      </a:pPr>
                      <a:r>
                        <a:rPr lang="en-US" sz="1300" b="1" u="none" strike="noStrike">
                          <a:solidFill>
                            <a:srgbClr val="000000"/>
                          </a:solidFill>
                          <a:effectLst/>
                          <a:uFillTx/>
                          <a:latin typeface="Arial"/>
                        </a:rPr>
                        <a:t>Explicit</a:t>
                      </a:r>
                      <a:r>
                        <a:rPr lang="en-US" sz="1300" b="0" u="none" strike="noStrike">
                          <a:solidFill>
                            <a:srgbClr val="000000"/>
                          </a:solidFill>
                          <a:effectLst/>
                          <a:uFillTx/>
                          <a:latin typeface="Arial"/>
                        </a:rPr>
                        <a:t> via Forgetting Functions</a:t>
                      </a:r>
                      <a:endParaRPr lang="en-AU" sz="13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tabLst>
                          <a:tab algn="l" pos="0"/>
                        </a:tabLst>
                      </a:pPr>
                      <a:r>
                        <a:rPr lang="en-US" sz="1300" b="1" u="none" strike="noStrike">
                          <a:solidFill>
                            <a:srgbClr val="000000"/>
                          </a:solidFill>
                          <a:effectLst/>
                          <a:uFillTx/>
                          <a:latin typeface="Arial"/>
                        </a:rPr>
                        <a:t>Explicit</a:t>
                      </a:r>
                      <a:r>
                        <a:rPr lang="en-US" sz="1300" b="0" u="none" strike="noStrike">
                          <a:solidFill>
                            <a:srgbClr val="000000"/>
                          </a:solidFill>
                          <a:effectLst/>
                          <a:uFillTx/>
                          <a:latin typeface="Arial"/>
                        </a:rPr>
                        <a:t> as a Graph</a:t>
                      </a:r>
                      <a:endParaRPr lang="en-AU" sz="13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r>
            </a:tbl>
          </a:graphicData>
        </a:graphic>
      </p:graphicFrame>
      <p:sp>
        <p:nvSpPr>
          <p:cNvPr id="56" name=""/>
          <p:cNvSpPr/>
          <p:nvPr/>
        </p:nvSpPr>
        <p:spPr>
          <a:xfrm>
            <a:off x="360000" y="3875040"/>
            <a:ext cx="9357120" cy="1620000"/>
          </a:xfrm>
          <a:prstGeom prst="rect">
            <a:avLst/>
          </a:prstGeom>
          <a:noFill/>
          <a:ln w="36000">
            <a:solidFill>
              <a:srgbClr val="55308d"/>
            </a:solidFill>
            <a:prstDash val="sysDot"/>
            <a:round/>
          </a:ln>
        </p:spPr>
        <p:style>
          <a:lnRef idx="0"/>
          <a:fillRef idx="0"/>
          <a:effectRef idx="0"/>
          <a:fontRef idx="minor"/>
        </p:style>
        <p:txBody>
          <a:bodyPr numCol="1" spcCol="0" lIns="108000" rIns="108000" tIns="63000" bIns="63000" anchor="t">
            <a:spAutoFit/>
          </a:bodyPr>
          <a:p>
            <a:pPr>
              <a:lnSpc>
                <a:spcPct val="100000"/>
              </a:lnSpc>
            </a:pPr>
            <a:r>
              <a:rPr lang="en-US" sz="1400" b="0" u="none" strike="noStrike">
                <a:solidFill>
                  <a:srgbClr val="000000"/>
                </a:solidFill>
                <a:effectLst/>
                <a:uFillTx/>
                <a:latin typeface="Arial"/>
                <a:ea typeface="DejaVu Sans"/>
              </a:rPr>
              <a:t>Note: For clarity, we would like say the model has </a:t>
            </a:r>
            <a:r>
              <a:rPr lang="en-US" sz="1400" b="1" u="none" strike="noStrike">
                <a:solidFill>
                  <a:srgbClr val="000000"/>
                </a:solidFill>
                <a:effectLst/>
                <a:uFillTx/>
                <a:latin typeface="Arial"/>
                <a:ea typeface="DejaVu Sans"/>
              </a:rPr>
              <a:t>explicitly</a:t>
            </a:r>
            <a:r>
              <a:rPr lang="en-US" sz="1400" b="0" u="none" strike="noStrike">
                <a:solidFill>
                  <a:srgbClr val="000000"/>
                </a:solidFill>
                <a:effectLst/>
                <a:uFillTx/>
                <a:latin typeface="Arial"/>
                <a:ea typeface="DejaVu Sans"/>
              </a:rPr>
              <a:t> modelled a hidden knowledge tracing component (e.g., KCs) or a process (e.g., forgetting), if there exists clearly identifiable variables or functions dedicatedly representing the component or process. Otherwise, the model behaves </a:t>
            </a:r>
            <a:r>
              <a:rPr lang="en-US" sz="1400" b="1" u="none" strike="noStrike">
                <a:solidFill>
                  <a:srgbClr val="000000"/>
                </a:solidFill>
                <a:effectLst/>
                <a:uFillTx/>
                <a:latin typeface="Arial"/>
                <a:ea typeface="DejaVu Sans"/>
              </a:rPr>
              <a:t>implicitly</a:t>
            </a:r>
            <a:r>
              <a:rPr lang="en-US" sz="1400" b="0" u="none" strike="noStrike">
                <a:solidFill>
                  <a:srgbClr val="000000"/>
                </a:solidFill>
                <a:effectLst/>
                <a:uFillTx/>
                <a:latin typeface="Arial"/>
                <a:ea typeface="DejaVu Sans"/>
              </a:rPr>
              <a:t>.</a:t>
            </a:r>
            <a:endParaRPr lang="en-AU" sz="1400" b="0" u="none" strike="noStrike">
              <a:solidFill>
                <a:srgbClr val="000000"/>
              </a:solidFill>
              <a:effectLst/>
              <a:uFillTx/>
              <a:latin typeface="Arial"/>
            </a:endParaRPr>
          </a:p>
          <a:p>
            <a:pPr>
              <a:lnSpc>
                <a:spcPct val="100000"/>
              </a:lnSpc>
            </a:pPr>
            <a:endParaRPr lang="en-AU" sz="1400" b="0" u="none" strike="noStrike">
              <a:solidFill>
                <a:srgbClr val="000000"/>
              </a:solidFill>
              <a:effectLst/>
              <a:uFillTx/>
              <a:latin typeface="Arial"/>
            </a:endParaRPr>
          </a:p>
          <a:p>
            <a:pPr>
              <a:lnSpc>
                <a:spcPct val="100000"/>
              </a:lnSpc>
            </a:pPr>
            <a:r>
              <a:rPr lang="en-US" sz="1400" b="0" u="none" strike="noStrike">
                <a:solidFill>
                  <a:srgbClr val="000000"/>
                </a:solidFill>
                <a:effectLst/>
                <a:uFillTx/>
                <a:latin typeface="Arial"/>
                <a:ea typeface="DejaVu Sans"/>
              </a:rPr>
              <a:t>Note: Even though GNN has explicitly modelled KCs as nodes, it doesn’t mean the KC nodes themselves are explicit and interpretable. In GNN, the nodes are usually some vector embeddings, representing the mix of some real world KCs, like Addition and Subtraction.</a:t>
            </a:r>
            <a:endParaRPr lang="en-AU" sz="1400" b="0" u="none" strike="noStrike">
              <a:solidFill>
                <a:srgbClr val="000000"/>
              </a:solidFill>
              <a:effectLst/>
              <a:uFillTx/>
              <a:latin typeface="Arial"/>
            </a:endParaRPr>
          </a:p>
        </p:txBody>
      </p:sp>
      <p:sp>
        <p:nvSpPr>
          <p:cNvPr id="3" name="PlaceHolder 2"/>
          <p:cNvSpPr>
            <a:spLocks noGrp="1"/>
          </p:cNvSpPr>
          <p:nvPr>
            <p:ph type="sldNum" idx="2"/>
          </p:nvPr>
        </p:nvSpPr>
        <p:spPr/>
        <p:txBody>
          <a:bodyPr/>
          <a:p>
            <a:fld id="{5101869F-ECC0-4DAD-BFEE-3FCAA8243AD6}" type="slidenum">
              <a:t>10</a:t>
            </a:fld>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7" name=""/>
          <p:cNvPicPr/>
          <p:nvPr/>
        </p:nvPicPr>
        <p:blipFill>
          <a:blip r:embed="rId1"/>
          <a:stretch/>
        </p:blipFill>
        <p:spPr>
          <a:xfrm>
            <a:off x="360000" y="270360"/>
            <a:ext cx="2963880" cy="5126760"/>
          </a:xfrm>
          <a:prstGeom prst="rect">
            <a:avLst/>
          </a:prstGeom>
          <a:noFill/>
          <a:ln w="0">
            <a:noFill/>
          </a:ln>
        </p:spPr>
      </p:pic>
      <p:pic>
        <p:nvPicPr>
          <p:cNvPr id="58" name=""/>
          <p:cNvPicPr/>
          <p:nvPr/>
        </p:nvPicPr>
        <p:blipFill>
          <a:blip r:embed="rId2"/>
          <a:stretch/>
        </p:blipFill>
        <p:spPr>
          <a:xfrm>
            <a:off x="3600000" y="180000"/>
            <a:ext cx="3018600" cy="5369400"/>
          </a:xfrm>
          <a:prstGeom prst="rect">
            <a:avLst/>
          </a:prstGeom>
          <a:noFill/>
          <a:ln w="0">
            <a:noFill/>
          </a:ln>
        </p:spPr>
      </p:pic>
      <p:sp>
        <p:nvSpPr>
          <p:cNvPr id="59" name=""/>
          <p:cNvSpPr/>
          <p:nvPr/>
        </p:nvSpPr>
        <p:spPr>
          <a:xfrm>
            <a:off x="6120000" y="360000"/>
            <a:ext cx="3957120" cy="825480"/>
          </a:xfrm>
          <a:prstGeom prst="rect">
            <a:avLst/>
          </a:prstGeom>
          <a:noFill/>
          <a:ln w="0">
            <a:noFill/>
          </a:ln>
        </p:spPr>
        <p:style>
          <a:lnRef idx="0"/>
          <a:fillRef idx="0"/>
          <a:effectRef idx="0"/>
          <a:fontRef idx="minor"/>
        </p:style>
        <p:txBody>
          <a:bodyPr lIns="90000" rIns="90000" tIns="45000" bIns="45000" anchor="t" anchorCtr="1">
            <a:spAutoFit/>
          </a:bodyPr>
          <a:p>
            <a:pPr algn="ctr">
              <a:lnSpc>
                <a:spcPct val="100000"/>
              </a:lnSpc>
            </a:pPr>
            <a:r>
              <a:rPr lang="en-US" sz="2600" b="0" u="none" strike="noStrike">
                <a:solidFill>
                  <a:srgbClr val="000000"/>
                </a:solidFill>
                <a:effectLst/>
                <a:uFillTx/>
                <a:latin typeface="Arial"/>
                <a:ea typeface="DejaVu Sans"/>
              </a:rPr>
              <a:t>Key-Value Memory</a:t>
            </a:r>
            <a:endParaRPr lang="en-AU" sz="2600" b="0" u="none" strike="noStrike">
              <a:solidFill>
                <a:srgbClr val="000000"/>
              </a:solidFill>
              <a:effectLst/>
              <a:uFillTx/>
              <a:latin typeface="Arial"/>
            </a:endParaRPr>
          </a:p>
          <a:p>
            <a:pPr algn="ctr">
              <a:lnSpc>
                <a:spcPct val="100000"/>
              </a:lnSpc>
            </a:pPr>
            <a:r>
              <a:rPr lang="en-US" sz="2600" b="0" u="none" strike="noStrike">
                <a:solidFill>
                  <a:srgbClr val="000000"/>
                </a:solidFill>
                <a:effectLst/>
                <a:uFillTx/>
                <a:latin typeface="Arial"/>
                <a:ea typeface="DejaVu Sans"/>
              </a:rPr>
              <a:t>Network</a:t>
            </a:r>
            <a:endParaRPr lang="en-AU" sz="2600" b="0" u="none" strike="noStrike">
              <a:solidFill>
                <a:srgbClr val="000000"/>
              </a:solidFill>
              <a:effectLst/>
              <a:uFillTx/>
              <a:latin typeface="Arial"/>
            </a:endParaRPr>
          </a:p>
        </p:txBody>
      </p:sp>
      <p:sp>
        <p:nvSpPr>
          <p:cNvPr id="60" name=""/>
          <p:cNvSpPr/>
          <p:nvPr/>
        </p:nvSpPr>
        <p:spPr>
          <a:xfrm>
            <a:off x="6660000" y="2018160"/>
            <a:ext cx="3057120" cy="3025800"/>
          </a:xfrm>
          <a:prstGeom prst="rect">
            <a:avLst/>
          </a:prstGeom>
          <a:noFill/>
          <a:ln w="36000">
            <a:solidFill>
              <a:srgbClr val="5b277d"/>
            </a:solidFill>
            <a:prstDash val="sysDot"/>
            <a:round/>
          </a:ln>
        </p:spPr>
        <p:style>
          <a:lnRef idx="0"/>
          <a:fillRef idx="0"/>
          <a:effectRef idx="0"/>
          <a:fontRef idx="minor"/>
        </p:style>
        <p:txBody>
          <a:bodyPr lIns="108000" rIns="108000" tIns="63000" bIns="63000" anchor="t">
            <a:spAutoFit/>
          </a:bodyPr>
          <a:p>
            <a:pPr>
              <a:lnSpc>
                <a:spcPct val="100000"/>
              </a:lnSpc>
            </a:pPr>
            <a:r>
              <a:rPr lang="en-US" sz="1000" b="0" i="1" u="none" strike="noStrike">
                <a:solidFill>
                  <a:srgbClr val="000000"/>
                </a:solidFill>
                <a:effectLst/>
                <a:uFillTx/>
                <a:latin typeface="Arial"/>
                <a:ea typeface="DejaVu Sans"/>
              </a:rPr>
              <a:t>Note that the RHS graph is an simplified view of a Key-Value Memory Network. </a:t>
            </a:r>
            <a:endParaRPr lang="en-AU" sz="1000" b="0" u="none" strike="noStrike">
              <a:solidFill>
                <a:srgbClr val="000000"/>
              </a:solidFill>
              <a:effectLst/>
              <a:uFillTx/>
              <a:latin typeface="Arial"/>
            </a:endParaRPr>
          </a:p>
          <a:p>
            <a:pPr>
              <a:lnSpc>
                <a:spcPct val="100000"/>
              </a:lnSpc>
            </a:pPr>
            <a:endParaRPr lang="en-AU" sz="1000" b="0" u="none" strike="noStrike">
              <a:solidFill>
                <a:srgbClr val="000000"/>
              </a:solidFill>
              <a:effectLst/>
              <a:uFillTx/>
              <a:latin typeface="Arial"/>
            </a:endParaRPr>
          </a:p>
          <a:p>
            <a:pPr marL="216000" indent="-216000">
              <a:lnSpc>
                <a:spcPct val="100000"/>
              </a:lnSpc>
              <a:buClr>
                <a:srgbClr val="000000"/>
              </a:buClr>
              <a:buSzPct val="45000"/>
              <a:buFont typeface="Wingdings" charset="2"/>
              <a:buChar char=""/>
            </a:pPr>
            <a:r>
              <a:rPr lang="en-US" sz="1000" b="0" i="1" u="none" strike="noStrike">
                <a:solidFill>
                  <a:srgbClr val="000000"/>
                </a:solidFill>
                <a:effectLst/>
                <a:uFillTx/>
                <a:latin typeface="Arial"/>
                <a:ea typeface="DejaVu Sans"/>
              </a:rPr>
              <a:t>Mastery of each node is usually represented as a </a:t>
            </a:r>
            <a:r>
              <a:rPr lang="en-US" sz="1000" b="1" i="1" u="none" strike="noStrike">
                <a:solidFill>
                  <a:srgbClr val="000000"/>
                </a:solidFill>
                <a:effectLst/>
                <a:uFillTx/>
                <a:latin typeface="Arial"/>
                <a:ea typeface="DejaVu Sans"/>
              </a:rPr>
              <a:t>vector embedding</a:t>
            </a:r>
            <a:r>
              <a:rPr lang="en-US" sz="1000" b="0" i="1" u="none" strike="noStrike">
                <a:solidFill>
                  <a:srgbClr val="000000"/>
                </a:solidFill>
                <a:effectLst/>
                <a:uFillTx/>
                <a:latin typeface="Arial"/>
                <a:ea typeface="DejaVu Sans"/>
              </a:rPr>
              <a:t> instead of just a scalar.</a:t>
            </a:r>
            <a:endParaRPr lang="en-AU" sz="1000" b="0" u="none" strike="noStrike">
              <a:solidFill>
                <a:srgbClr val="000000"/>
              </a:solidFill>
              <a:effectLst/>
              <a:uFillTx/>
              <a:latin typeface="Arial"/>
            </a:endParaRPr>
          </a:p>
          <a:p>
            <a:pPr marL="216000" indent="-216000">
              <a:lnSpc>
                <a:spcPct val="100000"/>
              </a:lnSpc>
              <a:buClr>
                <a:srgbClr val="000000"/>
              </a:buClr>
              <a:buSzPct val="45000"/>
              <a:buFont typeface="Wingdings" charset="2"/>
              <a:buChar char=""/>
            </a:pPr>
            <a:r>
              <a:rPr lang="en-US" sz="1000" b="0" i="1" u="none" strike="noStrike">
                <a:solidFill>
                  <a:srgbClr val="000000"/>
                </a:solidFill>
                <a:effectLst/>
                <a:uFillTx/>
                <a:latin typeface="Arial"/>
                <a:ea typeface="DejaVu Sans"/>
              </a:rPr>
              <a:t>The KC keys, .e.g, KC1 and KC2, are also some </a:t>
            </a:r>
            <a:r>
              <a:rPr lang="en-US" sz="1000" b="1" i="1" u="none" strike="noStrike">
                <a:solidFill>
                  <a:srgbClr val="000000"/>
                </a:solidFill>
                <a:effectLst/>
                <a:uFillTx/>
                <a:latin typeface="Arial"/>
                <a:ea typeface="DejaVu Sans"/>
              </a:rPr>
              <a:t>vector embeddings.</a:t>
            </a:r>
            <a:endParaRPr lang="en-AU" sz="1000" b="0" u="none" strike="noStrike">
              <a:solidFill>
                <a:srgbClr val="000000"/>
              </a:solidFill>
              <a:effectLst/>
              <a:uFillTx/>
              <a:latin typeface="Arial"/>
            </a:endParaRPr>
          </a:p>
          <a:p>
            <a:pPr>
              <a:lnSpc>
                <a:spcPct val="100000"/>
              </a:lnSpc>
            </a:pPr>
            <a:endParaRPr lang="en-AU" sz="1000" b="0" u="none" strike="noStrike">
              <a:solidFill>
                <a:srgbClr val="000000"/>
              </a:solidFill>
              <a:effectLst/>
              <a:uFillTx/>
              <a:latin typeface="Arial"/>
            </a:endParaRPr>
          </a:p>
          <a:p>
            <a:pPr>
              <a:lnSpc>
                <a:spcPct val="100000"/>
              </a:lnSpc>
            </a:pPr>
            <a:r>
              <a:rPr lang="en-US" sz="1000" b="0" i="1" u="none" strike="noStrike">
                <a:solidFill>
                  <a:srgbClr val="000000"/>
                </a:solidFill>
                <a:effectLst/>
                <a:uFillTx/>
                <a:latin typeface="Arial"/>
                <a:ea typeface="DejaVu Sans"/>
              </a:rPr>
              <a:t>Relevant Models:</a:t>
            </a:r>
            <a:endParaRPr lang="en-AU" sz="1000" b="0" u="none" strike="noStrike">
              <a:solidFill>
                <a:srgbClr val="000000"/>
              </a:solidFill>
              <a:effectLst/>
              <a:uFillTx/>
              <a:latin typeface="Arial"/>
            </a:endParaRPr>
          </a:p>
          <a:p>
            <a:pPr>
              <a:lnSpc>
                <a:spcPct val="100000"/>
              </a:lnSpc>
            </a:pPr>
            <a:endParaRPr lang="en-AU" sz="1000" b="0" u="none" strike="noStrike">
              <a:solidFill>
                <a:srgbClr val="000000"/>
              </a:solidFill>
              <a:effectLst/>
              <a:uFillTx/>
              <a:latin typeface="Arial"/>
            </a:endParaRPr>
          </a:p>
          <a:p>
            <a:pPr>
              <a:lnSpc>
                <a:spcPct val="100000"/>
              </a:lnSpc>
            </a:pPr>
            <a:r>
              <a:rPr lang="en-US" sz="1000" b="0" i="1" u="none" strike="noStrike">
                <a:solidFill>
                  <a:srgbClr val="000000"/>
                </a:solidFill>
                <a:effectLst/>
                <a:uFillTx/>
                <a:latin typeface="Arial"/>
                <a:ea typeface="DejaVu Sans"/>
              </a:rPr>
              <a:t>Jiani Zhang, Xingjian Shi, Irwin King, and Dit-Yan Yeung. 2017. Dynamic key-value memory networks for knowledge tracing. In WWW. 765–774.</a:t>
            </a:r>
            <a:endParaRPr lang="en-AU" sz="1000" b="0" u="none" strike="noStrike">
              <a:solidFill>
                <a:srgbClr val="000000"/>
              </a:solidFill>
              <a:effectLst/>
              <a:uFillTx/>
              <a:latin typeface="Arial"/>
            </a:endParaRPr>
          </a:p>
          <a:p>
            <a:pPr>
              <a:lnSpc>
                <a:spcPct val="100000"/>
              </a:lnSpc>
            </a:pPr>
            <a:endParaRPr lang="en-AU" sz="1000" b="0" u="none" strike="noStrike">
              <a:solidFill>
                <a:srgbClr val="000000"/>
              </a:solidFill>
              <a:effectLst/>
              <a:uFillTx/>
              <a:latin typeface="Arial"/>
            </a:endParaRPr>
          </a:p>
          <a:p>
            <a:pPr>
              <a:lnSpc>
                <a:spcPct val="100000"/>
              </a:lnSpc>
            </a:pPr>
            <a:r>
              <a:rPr lang="en-US" sz="1000" b="0" i="1" u="none" strike="noStrike">
                <a:solidFill>
                  <a:srgbClr val="000000"/>
                </a:solidFill>
                <a:effectLst/>
                <a:uFillTx/>
                <a:latin typeface="Arial"/>
                <a:ea typeface="DejaVu Sans"/>
              </a:rPr>
              <a:t>Ghodai Abdelrahman and Qing Wang. 2019. Knowledge tracing with sequential key-value memory networks. In SIGIR. 175–184.</a:t>
            </a:r>
            <a:endParaRPr lang="en-AU" sz="1000" b="0" u="none" strike="noStrike">
              <a:solidFill>
                <a:srgbClr val="000000"/>
              </a:solidFill>
              <a:effectLst/>
              <a:uFillTx/>
              <a:latin typeface="Arial"/>
            </a:endParaRPr>
          </a:p>
        </p:txBody>
      </p:sp>
      <p:sp>
        <p:nvSpPr>
          <p:cNvPr id="2" name="PlaceHolder 1"/>
          <p:cNvSpPr>
            <a:spLocks noGrp="1"/>
          </p:cNvSpPr>
          <p:nvPr>
            <p:ph type="sldNum" idx="2"/>
          </p:nvPr>
        </p:nvSpPr>
        <p:spPr/>
        <p:txBody>
          <a:bodyPr/>
          <a:p>
            <a:fld id="{10FE941B-509E-4A8B-953A-DC08EFAC3631}" type="slidenum">
              <a:t>11</a:t>
            </a:fld>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1" name="PlaceHolder 1"/>
          <p:cNvSpPr>
            <a:spLocks noGrp="1"/>
          </p:cNvSpPr>
          <p:nvPr>
            <p:ph type="title"/>
          </p:nvPr>
        </p:nvSpPr>
        <p:spPr>
          <a:xfrm>
            <a:off x="4248360" y="223200"/>
            <a:ext cx="5648760" cy="676800"/>
          </a:xfrm>
          <a:prstGeom prst="rect">
            <a:avLst/>
          </a:prstGeom>
          <a:noFill/>
          <a:ln w="0">
            <a:noFill/>
          </a:ln>
        </p:spPr>
        <p:txBody>
          <a:bodyPr lIns="0" rIns="0" tIns="0" bIns="0" anchor="ctr">
            <a:spAutoFit/>
          </a:bodyPr>
          <a:p>
            <a:pPr indent="0" algn="ctr">
              <a:lnSpc>
                <a:spcPct val="100000"/>
              </a:lnSpc>
              <a:buNone/>
              <a:tabLst>
                <a:tab algn="l" pos="0"/>
              </a:tabLst>
            </a:pPr>
            <a:r>
              <a:rPr lang="en-US" sz="2600" b="0" u="none" strike="noStrike">
                <a:solidFill>
                  <a:srgbClr val="000000"/>
                </a:solidFill>
                <a:effectLst/>
                <a:uFillTx/>
                <a:latin typeface="Arial"/>
              </a:rPr>
              <a:t>Key-Value Memory Network (Analysis)</a:t>
            </a:r>
            <a:endParaRPr lang="en-AU" sz="2600" b="0" u="none" strike="noStrike">
              <a:solidFill>
                <a:srgbClr val="000000"/>
              </a:solidFill>
              <a:effectLst/>
              <a:uFillTx/>
              <a:latin typeface="Arial"/>
            </a:endParaRPr>
          </a:p>
        </p:txBody>
      </p:sp>
      <p:pic>
        <p:nvPicPr>
          <p:cNvPr id="62" name=""/>
          <p:cNvPicPr/>
          <p:nvPr/>
        </p:nvPicPr>
        <p:blipFill>
          <a:blip r:embed="rId1"/>
          <a:stretch/>
        </p:blipFill>
        <p:spPr>
          <a:xfrm>
            <a:off x="360360" y="270720"/>
            <a:ext cx="2963880" cy="5126760"/>
          </a:xfrm>
          <a:prstGeom prst="rect">
            <a:avLst/>
          </a:prstGeom>
          <a:noFill/>
          <a:ln w="0">
            <a:noFill/>
          </a:ln>
        </p:spPr>
      </p:pic>
      <p:sp>
        <p:nvSpPr>
          <p:cNvPr id="63" name="PlaceHolder 2"/>
          <p:cNvSpPr>
            <a:spLocks noGrp="1"/>
          </p:cNvSpPr>
          <p:nvPr>
            <p:ph/>
          </p:nvPr>
        </p:nvSpPr>
        <p:spPr>
          <a:xfrm>
            <a:off x="4320000" y="1080000"/>
            <a:ext cx="5577120" cy="3957120"/>
          </a:xfrm>
          <a:prstGeom prst="rect">
            <a:avLst/>
          </a:prstGeom>
          <a:noFill/>
          <a:ln w="0">
            <a:noFill/>
          </a:ln>
        </p:spPr>
        <p:txBody>
          <a:bodyPr lIns="0" rIns="0" tIns="0" bIns="0" anchor="t">
            <a:normAutofit lnSpcReduction="9999"/>
          </a:bodyPr>
          <a:p>
            <a:pPr indent="0">
              <a:lnSpc>
                <a:spcPct val="100000"/>
              </a:lnSpc>
              <a:spcBef>
                <a:spcPts val="1417"/>
              </a:spcBef>
              <a:buNone/>
              <a:tabLst>
                <a:tab algn="l" pos="0"/>
              </a:tabLst>
            </a:pPr>
            <a:r>
              <a:rPr lang="en-US" sz="1600" b="0" u="none" strike="noStrike">
                <a:solidFill>
                  <a:srgbClr val="000000"/>
                </a:solidFill>
                <a:effectLst/>
                <a:uFillTx/>
                <a:latin typeface="Arial"/>
              </a:rPr>
              <a:t>🤔 How does it model KCs?</a:t>
            </a:r>
            <a:endParaRPr lang="en-AU" sz="1600" b="0" u="none" strike="noStrike">
              <a:solidFill>
                <a:srgbClr val="000000"/>
              </a:solidFill>
              <a:effectLst/>
              <a:uFillTx/>
              <a:latin typeface="Arial"/>
            </a:endParaRPr>
          </a:p>
          <a:p>
            <a:pPr marL="432000" indent="-324000">
              <a:lnSpc>
                <a:spcPct val="100000"/>
              </a:lnSpc>
              <a:spcBef>
                <a:spcPts val="1417"/>
              </a:spcBef>
              <a:buClr>
                <a:srgbClr val="000000"/>
              </a:buClr>
              <a:buSzPct val="45000"/>
              <a:buFont typeface="Wingdings" charset="2"/>
              <a:buChar char=""/>
              <a:tabLst>
                <a:tab algn="l" pos="0"/>
              </a:tabLst>
            </a:pPr>
            <a:r>
              <a:rPr lang="en-US" sz="1600" b="1" u="none" strike="noStrike">
                <a:solidFill>
                  <a:srgbClr val="000000"/>
                </a:solidFill>
                <a:effectLst/>
                <a:uFillTx/>
                <a:latin typeface="Arial"/>
              </a:rPr>
              <a:t>Explicitly</a:t>
            </a:r>
            <a:r>
              <a:rPr lang="en-US" sz="1600" b="0" u="none" strike="noStrike">
                <a:solidFill>
                  <a:srgbClr val="000000"/>
                </a:solidFill>
                <a:effectLst/>
                <a:uFillTx/>
                <a:latin typeface="Arial"/>
              </a:rPr>
              <a:t> through keys.</a:t>
            </a:r>
            <a:endParaRPr lang="en-AU" sz="1600" b="0" u="none" strike="noStrike">
              <a:solidFill>
                <a:srgbClr val="000000"/>
              </a:solidFill>
              <a:effectLst/>
              <a:uFillTx/>
              <a:latin typeface="Arial"/>
            </a:endParaRPr>
          </a:p>
          <a:p>
            <a:pPr indent="0">
              <a:lnSpc>
                <a:spcPct val="100000"/>
              </a:lnSpc>
              <a:spcBef>
                <a:spcPts val="1417"/>
              </a:spcBef>
              <a:buNone/>
              <a:tabLst>
                <a:tab algn="l" pos="0"/>
              </a:tabLst>
            </a:pPr>
            <a:r>
              <a:rPr lang="en-US" sz="1600" b="0" u="none" strike="noStrike">
                <a:solidFill>
                  <a:srgbClr val="000000"/>
                </a:solidFill>
                <a:effectLst/>
                <a:uFillTx/>
                <a:latin typeface="Arial"/>
              </a:rPr>
              <a:t>🤔 How does it model KC-KC relations?</a:t>
            </a:r>
            <a:endParaRPr lang="en-AU" sz="1600" b="0" u="none" strike="noStrike">
              <a:solidFill>
                <a:srgbClr val="000000"/>
              </a:solidFill>
              <a:effectLst/>
              <a:uFillTx/>
              <a:latin typeface="Arial"/>
            </a:endParaRPr>
          </a:p>
          <a:p>
            <a:pPr marL="432000" indent="-324000">
              <a:lnSpc>
                <a:spcPct val="100000"/>
              </a:lnSpc>
              <a:spcBef>
                <a:spcPts val="1417"/>
              </a:spcBef>
              <a:buClr>
                <a:srgbClr val="000000"/>
              </a:buClr>
              <a:buSzPct val="45000"/>
              <a:buFont typeface="Wingdings" charset="2"/>
              <a:buChar char=""/>
              <a:tabLst>
                <a:tab algn="l" pos="0"/>
              </a:tabLst>
            </a:pPr>
            <a:r>
              <a:rPr lang="en-US" sz="1600" b="0" u="none" strike="noStrike">
                <a:solidFill>
                  <a:srgbClr val="000000"/>
                </a:solidFill>
                <a:effectLst/>
                <a:uFillTx/>
                <a:latin typeface="Arial"/>
              </a:rPr>
              <a:t>❌ The KC-KC relations are generally missing.</a:t>
            </a:r>
            <a:endParaRPr lang="en-AU" sz="1600" b="0" u="none" strike="noStrike">
              <a:solidFill>
                <a:srgbClr val="000000"/>
              </a:solidFill>
              <a:effectLst/>
              <a:uFillTx/>
              <a:latin typeface="Arial"/>
            </a:endParaRPr>
          </a:p>
          <a:p>
            <a:pPr indent="0">
              <a:lnSpc>
                <a:spcPct val="100000"/>
              </a:lnSpc>
              <a:spcBef>
                <a:spcPts val="1417"/>
              </a:spcBef>
              <a:buNone/>
              <a:tabLst>
                <a:tab algn="l" pos="0"/>
              </a:tabLst>
            </a:pPr>
            <a:r>
              <a:rPr lang="en-US" sz="1600" b="0" u="none" strike="noStrike">
                <a:solidFill>
                  <a:srgbClr val="000000"/>
                </a:solidFill>
                <a:effectLst/>
                <a:uFillTx/>
                <a:latin typeface="Arial"/>
              </a:rPr>
              <a:t>🤔 How does it model the learning of KCs?</a:t>
            </a:r>
            <a:endParaRPr lang="en-AU" sz="1600" b="0" u="none" strike="noStrike">
              <a:solidFill>
                <a:srgbClr val="000000"/>
              </a:solidFill>
              <a:effectLst/>
              <a:uFillTx/>
              <a:latin typeface="Arial"/>
            </a:endParaRPr>
          </a:p>
          <a:p>
            <a:pPr marL="432000" indent="-324000">
              <a:lnSpc>
                <a:spcPct val="100000"/>
              </a:lnSpc>
              <a:spcBef>
                <a:spcPts val="1417"/>
              </a:spcBef>
              <a:buClr>
                <a:srgbClr val="000000"/>
              </a:buClr>
              <a:buSzPct val="45000"/>
              <a:buFont typeface="Wingdings" charset="2"/>
              <a:buChar char=""/>
              <a:tabLst>
                <a:tab algn="l" pos="0"/>
              </a:tabLst>
            </a:pPr>
            <a:r>
              <a:rPr lang="en-US" sz="1600" b="1" u="none" strike="noStrike">
                <a:solidFill>
                  <a:srgbClr val="000000"/>
                </a:solidFill>
                <a:effectLst/>
                <a:uFillTx/>
                <a:latin typeface="Arial"/>
              </a:rPr>
              <a:t>Explicitly</a:t>
            </a:r>
            <a:r>
              <a:rPr lang="en-US" sz="1600" b="0" u="none" strike="noStrike">
                <a:solidFill>
                  <a:srgbClr val="000000"/>
                </a:solidFill>
                <a:effectLst/>
                <a:uFillTx/>
                <a:latin typeface="Arial"/>
              </a:rPr>
              <a:t> through erase-add update for mastery values</a:t>
            </a:r>
            <a:endParaRPr lang="en-AU" sz="1600" b="0" u="none" strike="noStrike">
              <a:solidFill>
                <a:srgbClr val="000000"/>
              </a:solidFill>
              <a:effectLst/>
              <a:uFillTx/>
              <a:latin typeface="Arial"/>
            </a:endParaRPr>
          </a:p>
          <a:p>
            <a:pPr indent="0">
              <a:lnSpc>
                <a:spcPct val="100000"/>
              </a:lnSpc>
              <a:spcBef>
                <a:spcPts val="1417"/>
              </a:spcBef>
              <a:buNone/>
              <a:tabLst>
                <a:tab algn="l" pos="0"/>
              </a:tabLst>
            </a:pPr>
            <a:r>
              <a:rPr lang="en-US" sz="1600" b="0" u="none" strike="noStrike">
                <a:solidFill>
                  <a:srgbClr val="000000"/>
                </a:solidFill>
                <a:effectLst/>
                <a:uFillTx/>
                <a:latin typeface="Arial"/>
              </a:rPr>
              <a:t>🤔 How does it model the forgetting of KCs?</a:t>
            </a:r>
            <a:endParaRPr lang="en-AU" sz="1600" b="0" u="none" strike="noStrike">
              <a:solidFill>
                <a:srgbClr val="000000"/>
              </a:solidFill>
              <a:effectLst/>
              <a:uFillTx/>
              <a:latin typeface="Arial"/>
            </a:endParaRPr>
          </a:p>
          <a:p>
            <a:pPr marL="432000" indent="-324000">
              <a:lnSpc>
                <a:spcPct val="100000"/>
              </a:lnSpc>
              <a:spcBef>
                <a:spcPts val="1417"/>
              </a:spcBef>
              <a:buClr>
                <a:srgbClr val="000000"/>
              </a:buClr>
              <a:buSzPct val="45000"/>
              <a:buFont typeface="Wingdings" charset="2"/>
              <a:buChar char=""/>
              <a:tabLst>
                <a:tab algn="l" pos="0"/>
              </a:tabLst>
            </a:pPr>
            <a:r>
              <a:rPr lang="en-US" sz="1600" b="0" u="none" strike="noStrike">
                <a:solidFill>
                  <a:srgbClr val="000000"/>
                </a:solidFill>
                <a:effectLst/>
                <a:uFillTx/>
                <a:latin typeface="Arial"/>
              </a:rPr>
              <a:t>❌ No explicit time-based forgetting</a:t>
            </a:r>
            <a:endParaRPr lang="en-AU" sz="1600" b="0" u="none" strike="noStrike">
              <a:solidFill>
                <a:srgbClr val="000000"/>
              </a:solidFill>
              <a:effectLst/>
              <a:uFillTx/>
              <a:latin typeface="Arial"/>
            </a:endParaRPr>
          </a:p>
          <a:p>
            <a:pPr indent="0">
              <a:lnSpc>
                <a:spcPct val="100000"/>
              </a:lnSpc>
              <a:spcBef>
                <a:spcPts val="1417"/>
              </a:spcBef>
              <a:buNone/>
              <a:tabLst>
                <a:tab algn="l" pos="0"/>
              </a:tabLst>
            </a:pPr>
            <a:r>
              <a:rPr lang="en-US" sz="1600" b="0" u="none" strike="noStrike">
                <a:solidFill>
                  <a:srgbClr val="000000"/>
                </a:solidFill>
                <a:effectLst/>
                <a:uFillTx/>
                <a:latin typeface="Arial"/>
              </a:rPr>
              <a:t>🤔 How does it model the student’s knowledge state?</a:t>
            </a:r>
            <a:endParaRPr lang="en-AU" sz="1600" b="0" u="none" strike="noStrike">
              <a:solidFill>
                <a:srgbClr val="000000"/>
              </a:solidFill>
              <a:effectLst/>
              <a:uFillTx/>
              <a:latin typeface="Arial"/>
            </a:endParaRPr>
          </a:p>
          <a:p>
            <a:pPr marL="432000" indent="-324000">
              <a:lnSpc>
                <a:spcPct val="100000"/>
              </a:lnSpc>
              <a:spcBef>
                <a:spcPts val="1417"/>
              </a:spcBef>
              <a:buClr>
                <a:srgbClr val="000000"/>
              </a:buClr>
              <a:buSzPct val="45000"/>
              <a:buFont typeface="Wingdings" charset="2"/>
              <a:buChar char=""/>
              <a:tabLst>
                <a:tab algn="l" pos="0"/>
              </a:tabLst>
            </a:pPr>
            <a:r>
              <a:rPr lang="en-US" sz="1600" b="1" u="none" strike="noStrike">
                <a:solidFill>
                  <a:srgbClr val="000000"/>
                </a:solidFill>
                <a:effectLst/>
                <a:uFillTx/>
                <a:latin typeface="Arial"/>
              </a:rPr>
              <a:t>Explicitly</a:t>
            </a:r>
            <a:r>
              <a:rPr lang="en-US" sz="1600" b="0" u="none" strike="noStrike">
                <a:solidFill>
                  <a:srgbClr val="000000"/>
                </a:solidFill>
                <a:effectLst/>
                <a:uFillTx/>
                <a:latin typeface="Arial"/>
              </a:rPr>
              <a:t> through a table of keys and values.</a:t>
            </a:r>
            <a:endParaRPr lang="en-AU" sz="1600" b="0" u="none" strike="noStrike">
              <a:solidFill>
                <a:srgbClr val="000000"/>
              </a:solidFill>
              <a:effectLst/>
              <a:uFillTx/>
              <a:latin typeface="Arial"/>
            </a:endParaRPr>
          </a:p>
        </p:txBody>
      </p:sp>
      <p:sp>
        <p:nvSpPr>
          <p:cNvPr id="4" name="PlaceHolder 3"/>
          <p:cNvSpPr>
            <a:spLocks noGrp="1"/>
          </p:cNvSpPr>
          <p:nvPr>
            <p:ph type="sldNum" idx="2"/>
          </p:nvPr>
        </p:nvSpPr>
        <p:spPr/>
        <p:txBody>
          <a:bodyPr/>
          <a:p>
            <a:fld id="{98A723FE-564E-42F8-9D33-3689DBF62F07}" type="slidenum">
              <a:t>12</a:t>
            </a:fld>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4" name="PlaceHolder 1"/>
          <p:cNvSpPr>
            <a:spLocks noGrp="1"/>
          </p:cNvSpPr>
          <p:nvPr>
            <p:ph type="title"/>
          </p:nvPr>
        </p:nvSpPr>
        <p:spPr>
          <a:xfrm>
            <a:off x="504000" y="223200"/>
            <a:ext cx="9068760" cy="949320"/>
          </a:xfrm>
          <a:prstGeom prst="rect">
            <a:avLst/>
          </a:prstGeom>
          <a:noFill/>
          <a:ln w="0">
            <a:noFill/>
          </a:ln>
        </p:spPr>
        <p:txBody>
          <a:bodyPr lIns="0" rIns="0" tIns="0" bIns="0" anchor="ctr">
            <a:spAutoFit/>
          </a:bodyPr>
          <a:p>
            <a:pPr indent="0" algn="ctr">
              <a:lnSpc>
                <a:spcPct val="100000"/>
              </a:lnSpc>
              <a:buNone/>
              <a:tabLst>
                <a:tab algn="l" pos="0"/>
              </a:tabLst>
            </a:pPr>
            <a:r>
              <a:rPr lang="en-US" sz="4000" b="0" u="none" strike="noStrike">
                <a:solidFill>
                  <a:srgbClr val="000000"/>
                </a:solidFill>
                <a:effectLst/>
                <a:uFillTx/>
                <a:latin typeface="Arial"/>
              </a:rPr>
              <a:t>Model Architectures Visited So Far</a:t>
            </a:r>
            <a:endParaRPr lang="en-AU" sz="4000" b="0" u="none" strike="noStrike">
              <a:solidFill>
                <a:srgbClr val="000000"/>
              </a:solidFill>
              <a:effectLst/>
              <a:uFillTx/>
              <a:latin typeface="Arial"/>
            </a:endParaRPr>
          </a:p>
        </p:txBody>
      </p:sp>
      <p:graphicFrame>
        <p:nvGraphicFramePr>
          <p:cNvPr id="65" name=""/>
          <p:cNvGraphicFramePr/>
          <p:nvPr/>
        </p:nvGraphicFramePr>
        <p:xfrm>
          <a:off x="507600" y="1989360"/>
          <a:ext cx="9032040" cy="1636200"/>
        </p:xfrm>
        <a:graphic>
          <a:graphicData uri="http://schemas.openxmlformats.org/drawingml/2006/table">
            <a:tbl>
              <a:tblPr/>
              <a:tblGrid>
                <a:gridCol w="1505520"/>
                <a:gridCol w="1505520"/>
                <a:gridCol w="1505520"/>
                <a:gridCol w="1505520"/>
                <a:gridCol w="1505520"/>
                <a:gridCol w="1504800"/>
              </a:tblGrid>
              <a:tr h="346320">
                <a:tc>
                  <a:txBody>
                    <a:bodyPr lIns="36000" rIns="36000" tIns="36000" bIns="36000" anchor="t">
                      <a:noAutofit/>
                    </a:bodyPr>
                    <a:p>
                      <a:pPr algn="ctr">
                        <a:lnSpc>
                          <a:spcPct val="100000"/>
                        </a:lnSpc>
                        <a:tabLst>
                          <a:tab algn="l" pos="0"/>
                        </a:tabLst>
                      </a:pPr>
                      <a:r>
                        <a:rPr lang="en-US" sz="1300" b="0" u="none" strike="noStrike">
                          <a:solidFill>
                            <a:srgbClr val="000000"/>
                          </a:solidFill>
                          <a:effectLst/>
                          <a:uFillTx/>
                          <a:latin typeface="Arial"/>
                        </a:rPr>
                        <a:t>Architecture</a:t>
                      </a:r>
                      <a:endParaRPr lang="en-AU" sz="13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tabLst>
                          <a:tab algn="l" pos="0"/>
                        </a:tabLst>
                      </a:pPr>
                      <a:r>
                        <a:rPr lang="en-US" sz="1300" b="0" u="none" strike="noStrike">
                          <a:solidFill>
                            <a:srgbClr val="000000"/>
                          </a:solidFill>
                          <a:effectLst/>
                          <a:uFillTx/>
                          <a:latin typeface="Arial"/>
                        </a:rPr>
                        <a:t>KCs</a:t>
                      </a:r>
                      <a:endParaRPr lang="en-AU" sz="13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tabLst>
                          <a:tab algn="l" pos="0"/>
                        </a:tabLst>
                      </a:pPr>
                      <a:r>
                        <a:rPr lang="en-US" sz="1300" b="0" u="none" strike="noStrike">
                          <a:solidFill>
                            <a:srgbClr val="000000"/>
                          </a:solidFill>
                          <a:effectLst/>
                          <a:uFillTx/>
                          <a:latin typeface="Arial"/>
                        </a:rPr>
                        <a:t>KC-KC Relations</a:t>
                      </a:r>
                      <a:endParaRPr lang="en-AU" sz="13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tabLst>
                          <a:tab algn="l" pos="0"/>
                        </a:tabLst>
                      </a:pPr>
                      <a:r>
                        <a:rPr lang="en-US" sz="1300" b="0" u="none" strike="noStrike">
                          <a:solidFill>
                            <a:srgbClr val="000000"/>
                          </a:solidFill>
                          <a:effectLst/>
                          <a:uFillTx/>
                          <a:latin typeface="Arial"/>
                        </a:rPr>
                        <a:t>Leaning of KCs</a:t>
                      </a:r>
                      <a:endParaRPr lang="en-AU" sz="13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tabLst>
                          <a:tab algn="l" pos="0"/>
                        </a:tabLst>
                      </a:pPr>
                      <a:r>
                        <a:rPr lang="en-US" sz="1300" b="0" u="none" strike="noStrike">
                          <a:solidFill>
                            <a:srgbClr val="000000"/>
                          </a:solidFill>
                          <a:effectLst/>
                          <a:uFillTx/>
                          <a:latin typeface="Arial"/>
                        </a:rPr>
                        <a:t>Time-Based Forgetting of KCs</a:t>
                      </a:r>
                      <a:endParaRPr lang="en-AU" sz="13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tabLst>
                          <a:tab algn="l" pos="0"/>
                        </a:tabLst>
                      </a:pPr>
                      <a:r>
                        <a:rPr lang="en-US" sz="1300" b="0" u="none" strike="noStrike">
                          <a:solidFill>
                            <a:srgbClr val="000000"/>
                          </a:solidFill>
                          <a:effectLst/>
                          <a:uFillTx/>
                          <a:latin typeface="Arial"/>
                        </a:rPr>
                        <a:t>Student’s Knowledge State</a:t>
                      </a:r>
                      <a:endParaRPr lang="en-AU" sz="13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r>
              <a:tr h="698040">
                <a:tc>
                  <a:txBody>
                    <a:bodyPr lIns="36000" rIns="36000" tIns="36000" bIns="36000" anchor="t">
                      <a:noAutofit/>
                    </a:bodyPr>
                    <a:p>
                      <a:pPr algn="ctr">
                        <a:lnSpc>
                          <a:spcPct val="100000"/>
                        </a:lnSpc>
                        <a:tabLst>
                          <a:tab algn="l" pos="0"/>
                        </a:tabLst>
                      </a:pPr>
                      <a:r>
                        <a:rPr lang="en-US" sz="1300" b="0" u="none" strike="noStrike">
                          <a:solidFill>
                            <a:srgbClr val="000000"/>
                          </a:solidFill>
                          <a:effectLst/>
                          <a:uFillTx/>
                          <a:latin typeface="Arial"/>
                        </a:rPr>
                        <a:t>Graph Neural Network</a:t>
                      </a:r>
                      <a:endParaRPr lang="en-AU" sz="13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tabLst>
                          <a:tab algn="l" pos="0"/>
                        </a:tabLst>
                      </a:pPr>
                      <a:r>
                        <a:rPr lang="en-US" sz="1300" b="1" u="none" strike="noStrike">
                          <a:solidFill>
                            <a:srgbClr val="000000"/>
                          </a:solidFill>
                          <a:effectLst/>
                          <a:uFillTx/>
                          <a:latin typeface="Arial"/>
                        </a:rPr>
                        <a:t>Explicit</a:t>
                      </a:r>
                      <a:r>
                        <a:rPr lang="en-US" sz="1300" b="0" u="none" strike="noStrike">
                          <a:solidFill>
                            <a:srgbClr val="000000"/>
                          </a:solidFill>
                          <a:effectLst/>
                          <a:uFillTx/>
                          <a:latin typeface="Arial"/>
                        </a:rPr>
                        <a:t> as Nodes</a:t>
                      </a:r>
                      <a:endParaRPr lang="en-AU" sz="13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tabLst>
                          <a:tab algn="l" pos="0"/>
                        </a:tabLst>
                      </a:pPr>
                      <a:r>
                        <a:rPr lang="en-US" sz="1300" b="1" u="none" strike="noStrike">
                          <a:solidFill>
                            <a:srgbClr val="000000"/>
                          </a:solidFill>
                          <a:effectLst/>
                          <a:uFillTx/>
                          <a:latin typeface="Arial"/>
                        </a:rPr>
                        <a:t>Explicit</a:t>
                      </a:r>
                      <a:r>
                        <a:rPr lang="en-US" sz="1300" b="0" u="none" strike="noStrike">
                          <a:solidFill>
                            <a:srgbClr val="000000"/>
                          </a:solidFill>
                          <a:effectLst/>
                          <a:uFillTx/>
                          <a:latin typeface="Arial"/>
                        </a:rPr>
                        <a:t> as Edges</a:t>
                      </a:r>
                      <a:endParaRPr lang="en-AU" sz="13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tabLst>
                          <a:tab algn="l" pos="0"/>
                        </a:tabLst>
                      </a:pPr>
                      <a:r>
                        <a:rPr lang="en-US" sz="1300" b="1" u="none" strike="noStrike">
                          <a:solidFill>
                            <a:srgbClr val="000000"/>
                          </a:solidFill>
                          <a:effectLst/>
                          <a:uFillTx/>
                          <a:latin typeface="Arial"/>
                        </a:rPr>
                        <a:t>Explicit</a:t>
                      </a:r>
                      <a:r>
                        <a:rPr lang="en-US" sz="1300" b="0" u="none" strike="noStrike">
                          <a:solidFill>
                            <a:srgbClr val="000000"/>
                          </a:solidFill>
                          <a:effectLst/>
                          <a:uFillTx/>
                          <a:latin typeface="Arial"/>
                        </a:rPr>
                        <a:t> via node update + message passing</a:t>
                      </a:r>
                      <a:endParaRPr lang="en-AU" sz="13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tabLst>
                          <a:tab algn="l" pos="0"/>
                        </a:tabLst>
                      </a:pPr>
                      <a:r>
                        <a:rPr lang="en-US" sz="1300" b="1" u="none" strike="noStrike">
                          <a:solidFill>
                            <a:srgbClr val="000000"/>
                          </a:solidFill>
                          <a:effectLst/>
                          <a:uFillTx/>
                          <a:latin typeface="Arial"/>
                        </a:rPr>
                        <a:t>Explicit</a:t>
                      </a:r>
                      <a:r>
                        <a:rPr lang="en-US" sz="1300" b="0" u="none" strike="noStrike">
                          <a:solidFill>
                            <a:srgbClr val="000000"/>
                          </a:solidFill>
                          <a:effectLst/>
                          <a:uFillTx/>
                          <a:latin typeface="Arial"/>
                        </a:rPr>
                        <a:t> via Forgetting Functions</a:t>
                      </a:r>
                      <a:endParaRPr lang="en-AU" sz="13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tabLst>
                          <a:tab algn="l" pos="0"/>
                        </a:tabLst>
                      </a:pPr>
                      <a:r>
                        <a:rPr lang="en-US" sz="1300" b="1" u="none" strike="noStrike">
                          <a:solidFill>
                            <a:srgbClr val="000000"/>
                          </a:solidFill>
                          <a:effectLst/>
                          <a:uFillTx/>
                          <a:latin typeface="Arial"/>
                        </a:rPr>
                        <a:t>Explicit</a:t>
                      </a:r>
                      <a:r>
                        <a:rPr lang="en-US" sz="1300" b="0" u="none" strike="noStrike">
                          <a:solidFill>
                            <a:srgbClr val="000000"/>
                          </a:solidFill>
                          <a:effectLst/>
                          <a:uFillTx/>
                          <a:latin typeface="Arial"/>
                        </a:rPr>
                        <a:t> as a Graph</a:t>
                      </a:r>
                      <a:endParaRPr lang="en-AU" sz="13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r>
              <a:tr h="346320">
                <a:tc>
                  <a:txBody>
                    <a:bodyPr lIns="36000" rIns="36000" tIns="36000" bIns="36000" anchor="t">
                      <a:noAutofit/>
                    </a:bodyPr>
                    <a:p>
                      <a:pPr algn="ctr">
                        <a:lnSpc>
                          <a:spcPct val="100000"/>
                        </a:lnSpc>
                        <a:tabLst>
                          <a:tab algn="l" pos="0"/>
                        </a:tabLst>
                      </a:pPr>
                      <a:r>
                        <a:rPr lang="en-US" sz="1300" b="0" u="none" strike="noStrike">
                          <a:solidFill>
                            <a:srgbClr val="000000"/>
                          </a:solidFill>
                          <a:effectLst/>
                          <a:uFillTx/>
                          <a:latin typeface="Arial"/>
                        </a:rPr>
                        <a:t>Key-Value Memory Network</a:t>
                      </a:r>
                      <a:endParaRPr lang="en-AU" sz="13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tabLst>
                          <a:tab algn="l" pos="0"/>
                        </a:tabLst>
                      </a:pPr>
                      <a:r>
                        <a:rPr lang="en-US" sz="1300" b="1" u="none" strike="noStrike">
                          <a:solidFill>
                            <a:srgbClr val="000000"/>
                          </a:solidFill>
                          <a:effectLst/>
                          <a:uFillTx/>
                          <a:latin typeface="Arial"/>
                        </a:rPr>
                        <a:t>Explicit</a:t>
                      </a:r>
                      <a:r>
                        <a:rPr lang="en-US" sz="1300" b="0" u="none" strike="noStrike">
                          <a:solidFill>
                            <a:srgbClr val="000000"/>
                          </a:solidFill>
                          <a:effectLst/>
                          <a:uFillTx/>
                          <a:latin typeface="Arial"/>
                        </a:rPr>
                        <a:t> as Keys</a:t>
                      </a:r>
                      <a:endParaRPr lang="en-AU" sz="13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tabLst>
                          <a:tab algn="l" pos="0"/>
                        </a:tabLst>
                      </a:pPr>
                      <a:r>
                        <a:rPr lang="en-US" sz="1300" b="0" u="none" strike="noStrike">
                          <a:solidFill>
                            <a:srgbClr val="000000"/>
                          </a:solidFill>
                          <a:effectLst/>
                          <a:uFillTx/>
                          <a:latin typeface="Arial"/>
                        </a:rPr>
                        <a:t>---------</a:t>
                      </a:r>
                      <a:endParaRPr lang="en-AU" sz="13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tabLst>
                          <a:tab algn="l" pos="0"/>
                        </a:tabLst>
                      </a:pPr>
                      <a:r>
                        <a:rPr lang="en-US" sz="1300" b="1" u="none" strike="noStrike">
                          <a:solidFill>
                            <a:srgbClr val="000000"/>
                          </a:solidFill>
                          <a:effectLst/>
                          <a:uFillTx/>
                          <a:latin typeface="Arial"/>
                        </a:rPr>
                        <a:t>Explicit</a:t>
                      </a:r>
                      <a:r>
                        <a:rPr lang="en-US" sz="1300" b="0" u="none" strike="noStrike">
                          <a:solidFill>
                            <a:srgbClr val="000000"/>
                          </a:solidFill>
                          <a:effectLst/>
                          <a:uFillTx/>
                          <a:latin typeface="Arial"/>
                        </a:rPr>
                        <a:t> via erase-add update</a:t>
                      </a:r>
                      <a:endParaRPr lang="en-AU" sz="13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tabLst>
                          <a:tab algn="l" pos="0"/>
                        </a:tabLst>
                      </a:pPr>
                      <a:r>
                        <a:rPr lang="en-US" sz="1300" b="0" u="none" strike="noStrike">
                          <a:solidFill>
                            <a:srgbClr val="000000"/>
                          </a:solidFill>
                          <a:effectLst/>
                          <a:uFillTx/>
                          <a:latin typeface="Arial"/>
                        </a:rPr>
                        <a:t>---------</a:t>
                      </a:r>
                      <a:endParaRPr lang="en-AU" sz="13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tabLst>
                          <a:tab algn="l" pos="0"/>
                        </a:tabLst>
                      </a:pPr>
                      <a:r>
                        <a:rPr lang="en-US" sz="1300" b="1" u="none" strike="noStrike">
                          <a:solidFill>
                            <a:srgbClr val="000000"/>
                          </a:solidFill>
                          <a:effectLst/>
                          <a:uFillTx/>
                          <a:latin typeface="Arial"/>
                        </a:rPr>
                        <a:t>Explicit</a:t>
                      </a:r>
                      <a:r>
                        <a:rPr lang="en-US" sz="1300" b="0" u="none" strike="noStrike">
                          <a:solidFill>
                            <a:srgbClr val="000000"/>
                          </a:solidFill>
                          <a:effectLst/>
                          <a:uFillTx/>
                          <a:latin typeface="Arial"/>
                        </a:rPr>
                        <a:t> as a Key-Value Table</a:t>
                      </a:r>
                      <a:endParaRPr lang="en-AU" sz="13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r>
            </a:tbl>
          </a:graphicData>
        </a:graphic>
      </p:graphicFrame>
      <p:sp>
        <p:nvSpPr>
          <p:cNvPr id="3" name="PlaceHolder 2"/>
          <p:cNvSpPr>
            <a:spLocks noGrp="1"/>
          </p:cNvSpPr>
          <p:nvPr>
            <p:ph type="sldNum" idx="2"/>
          </p:nvPr>
        </p:nvSpPr>
        <p:spPr/>
        <p:txBody>
          <a:bodyPr/>
          <a:p>
            <a:fld id="{E01F7AC9-90D9-46BB-8D8F-E35079D3A74A}" type="slidenum">
              <a:t>13</a:t>
            </a:fld>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6" name=""/>
          <p:cNvSpPr/>
          <p:nvPr/>
        </p:nvSpPr>
        <p:spPr>
          <a:xfrm>
            <a:off x="7200000" y="1150200"/>
            <a:ext cx="2517120" cy="1369800"/>
          </a:xfrm>
          <a:prstGeom prst="rect">
            <a:avLst/>
          </a:prstGeom>
          <a:noFill/>
          <a:ln w="0">
            <a:noFill/>
          </a:ln>
        </p:spPr>
        <p:style>
          <a:lnRef idx="0"/>
          <a:fillRef idx="0"/>
          <a:effectRef idx="0"/>
          <a:fontRef idx="minor"/>
        </p:style>
        <p:txBody>
          <a:bodyPr lIns="90000" rIns="90000" tIns="45000" bIns="45000" anchor="t">
            <a:spAutoFit/>
          </a:bodyPr>
          <a:p>
            <a:pPr marL="216000" indent="-216000">
              <a:lnSpc>
                <a:spcPct val="100000"/>
              </a:lnSpc>
              <a:buClr>
                <a:srgbClr val="000000"/>
              </a:buClr>
              <a:buSzPct val="45000"/>
              <a:buFont typeface="Wingdings" charset="2"/>
              <a:buChar char=""/>
            </a:pPr>
            <a:r>
              <a:rPr lang="en-US" sz="1200" b="0" u="none" strike="noStrike">
                <a:solidFill>
                  <a:srgbClr val="2a6099"/>
                </a:solidFill>
                <a:effectLst/>
                <a:uFillTx/>
                <a:latin typeface="Arial"/>
                <a:ea typeface="DejaVu Sans"/>
              </a:rPr>
              <a:t>Static/global parameters</a:t>
            </a:r>
            <a:r>
              <a:rPr lang="en-US" sz="1200" b="0" u="none" strike="noStrike">
                <a:solidFill>
                  <a:srgbClr val="000000"/>
                </a:solidFill>
                <a:effectLst/>
                <a:uFillTx/>
                <a:latin typeface="Arial"/>
                <a:ea typeface="DejaVu Sans"/>
              </a:rPr>
              <a:t>. </a:t>
            </a:r>
            <a:endParaRPr lang="en-AU" sz="1200" b="0" u="none" strike="noStrike">
              <a:solidFill>
                <a:srgbClr val="000000"/>
              </a:solidFill>
              <a:effectLst/>
              <a:uFillTx/>
              <a:latin typeface="Arial"/>
            </a:endParaRPr>
          </a:p>
          <a:p>
            <a:pPr marL="432000" lvl="1" indent="-216000">
              <a:lnSpc>
                <a:spcPct val="100000"/>
              </a:lnSpc>
              <a:buClr>
                <a:srgbClr val="000000"/>
              </a:buClr>
              <a:buSzPct val="45000"/>
              <a:buFont typeface="Wingdings" charset="2"/>
              <a:buChar char=""/>
            </a:pPr>
            <a:r>
              <a:rPr lang="en-US" sz="1200" b="0" u="none" strike="noStrike">
                <a:solidFill>
                  <a:srgbClr val="000000"/>
                </a:solidFill>
                <a:effectLst/>
                <a:uFillTx/>
                <a:latin typeface="Arial"/>
                <a:ea typeface="DejaVu Sans"/>
              </a:rPr>
              <a:t>Learned during training. </a:t>
            </a:r>
            <a:endParaRPr lang="en-AU" sz="1200" b="0" u="none" strike="noStrike">
              <a:solidFill>
                <a:srgbClr val="000000"/>
              </a:solidFill>
              <a:effectLst/>
              <a:uFillTx/>
              <a:latin typeface="Arial"/>
            </a:endParaRPr>
          </a:p>
          <a:p>
            <a:pPr marL="432000" lvl="1" indent="-216000">
              <a:lnSpc>
                <a:spcPct val="100000"/>
              </a:lnSpc>
              <a:buClr>
                <a:srgbClr val="000000"/>
              </a:buClr>
              <a:buSzPct val="45000"/>
              <a:buFont typeface="Wingdings" charset="2"/>
              <a:buChar char=""/>
            </a:pPr>
            <a:r>
              <a:rPr lang="en-US" sz="1200" b="0" u="none" strike="noStrike">
                <a:solidFill>
                  <a:srgbClr val="000000"/>
                </a:solidFill>
                <a:effectLst/>
                <a:uFillTx/>
                <a:latin typeface="Arial"/>
                <a:ea typeface="DejaVu Sans"/>
              </a:rPr>
              <a:t>Fixed at inference.</a:t>
            </a:r>
            <a:endParaRPr lang="en-AU" sz="1200" b="0" u="none" strike="noStrike">
              <a:solidFill>
                <a:srgbClr val="000000"/>
              </a:solidFill>
              <a:effectLst/>
              <a:uFillTx/>
              <a:latin typeface="Arial"/>
            </a:endParaRPr>
          </a:p>
          <a:p>
            <a:pPr marL="216000" indent="-216000">
              <a:lnSpc>
                <a:spcPct val="100000"/>
              </a:lnSpc>
              <a:buClr>
                <a:srgbClr val="000000"/>
              </a:buClr>
              <a:buSzPct val="45000"/>
              <a:buFont typeface="Wingdings" charset="2"/>
              <a:buChar char=""/>
            </a:pPr>
            <a:r>
              <a:rPr lang="en-US" sz="1200" b="0" u="none" strike="noStrike">
                <a:solidFill>
                  <a:srgbClr val="00a933"/>
                </a:solidFill>
                <a:effectLst/>
                <a:uFillTx/>
                <a:latin typeface="Arial"/>
                <a:ea typeface="DejaVu Sans"/>
              </a:rPr>
              <a:t>Dynamic/online parameters.</a:t>
            </a:r>
            <a:r>
              <a:rPr lang="en-US" sz="1200" b="0" u="none" strike="noStrike">
                <a:solidFill>
                  <a:srgbClr val="000000"/>
                </a:solidFill>
                <a:effectLst/>
                <a:uFillTx/>
                <a:latin typeface="Arial"/>
                <a:ea typeface="DejaVu Sans"/>
              </a:rPr>
              <a:t> </a:t>
            </a:r>
            <a:endParaRPr lang="en-AU" sz="1200" b="0" u="none" strike="noStrike">
              <a:solidFill>
                <a:srgbClr val="000000"/>
              </a:solidFill>
              <a:effectLst/>
              <a:uFillTx/>
              <a:latin typeface="Arial"/>
            </a:endParaRPr>
          </a:p>
          <a:p>
            <a:pPr marL="432000" lvl="1" indent="-216000">
              <a:lnSpc>
                <a:spcPct val="100000"/>
              </a:lnSpc>
              <a:buClr>
                <a:srgbClr val="000000"/>
              </a:buClr>
              <a:buSzPct val="45000"/>
              <a:buFont typeface="Wingdings" charset="2"/>
              <a:buChar char=""/>
            </a:pPr>
            <a:r>
              <a:rPr lang="en-US" sz="1200" b="0" u="none" strike="noStrike">
                <a:solidFill>
                  <a:srgbClr val="000000"/>
                </a:solidFill>
                <a:effectLst/>
                <a:uFillTx/>
                <a:latin typeface="Arial"/>
                <a:ea typeface="DejaVu Sans"/>
              </a:rPr>
              <a:t>Updated during inference.</a:t>
            </a:r>
            <a:endParaRPr lang="en-AU" sz="1200" b="0" u="none" strike="noStrike">
              <a:solidFill>
                <a:srgbClr val="000000"/>
              </a:solidFill>
              <a:effectLst/>
              <a:uFillTx/>
              <a:latin typeface="Arial"/>
            </a:endParaRPr>
          </a:p>
          <a:p>
            <a:pPr marL="432000" lvl="1" indent="-216000">
              <a:lnSpc>
                <a:spcPct val="100000"/>
              </a:lnSpc>
              <a:buClr>
                <a:srgbClr val="000000"/>
              </a:buClr>
              <a:buSzPct val="45000"/>
              <a:buFont typeface="Wingdings" charset="2"/>
              <a:buChar char=""/>
            </a:pPr>
            <a:r>
              <a:rPr lang="en-US" sz="1200" b="0" u="none" strike="noStrike">
                <a:solidFill>
                  <a:srgbClr val="000000"/>
                </a:solidFill>
                <a:effectLst/>
                <a:uFillTx/>
                <a:latin typeface="Arial"/>
                <a:ea typeface="DejaVu Sans"/>
              </a:rPr>
              <a:t>Specific to each student </a:t>
            </a:r>
            <a:endParaRPr lang="en-AU" sz="1200" b="0" u="none" strike="noStrike">
              <a:solidFill>
                <a:srgbClr val="000000"/>
              </a:solidFill>
              <a:effectLst/>
              <a:uFillTx/>
              <a:latin typeface="Arial"/>
            </a:endParaRPr>
          </a:p>
          <a:p>
            <a:pPr marL="432000" lvl="1" indent="-216000">
              <a:lnSpc>
                <a:spcPct val="100000"/>
              </a:lnSpc>
              <a:buClr>
                <a:srgbClr val="000000"/>
              </a:buClr>
              <a:buSzPct val="45000"/>
              <a:buFont typeface="Wingdings" charset="2"/>
              <a:buChar char=""/>
            </a:pPr>
            <a:r>
              <a:rPr lang="en-US" sz="1200" b="0" u="none" strike="noStrike">
                <a:solidFill>
                  <a:srgbClr val="000000"/>
                </a:solidFill>
                <a:effectLst/>
                <a:uFillTx/>
                <a:latin typeface="Arial"/>
                <a:ea typeface="DejaVu Sans"/>
              </a:rPr>
              <a:t>/ [(Question, ID)]</a:t>
            </a:r>
            <a:endParaRPr lang="en-AU" sz="1200" b="0" u="none" strike="noStrike">
              <a:solidFill>
                <a:srgbClr val="000000"/>
              </a:solidFill>
              <a:effectLst/>
              <a:uFillTx/>
              <a:latin typeface="Arial"/>
            </a:endParaRPr>
          </a:p>
        </p:txBody>
      </p:sp>
      <p:sp>
        <p:nvSpPr>
          <p:cNvPr id="67" name=""/>
          <p:cNvSpPr/>
          <p:nvPr/>
        </p:nvSpPr>
        <p:spPr>
          <a:xfrm>
            <a:off x="6480000" y="180000"/>
            <a:ext cx="3417120" cy="825480"/>
          </a:xfrm>
          <a:prstGeom prst="rect">
            <a:avLst/>
          </a:prstGeom>
          <a:noFill/>
          <a:ln w="0">
            <a:noFill/>
          </a:ln>
        </p:spPr>
        <p:style>
          <a:lnRef idx="0"/>
          <a:fillRef idx="0"/>
          <a:effectRef idx="0"/>
          <a:fontRef idx="minor"/>
        </p:style>
        <p:txBody>
          <a:bodyPr lIns="90000" rIns="90000" tIns="45000" bIns="45000" anchor="t" anchorCtr="1">
            <a:spAutoFit/>
          </a:bodyPr>
          <a:p>
            <a:pPr algn="ctr">
              <a:lnSpc>
                <a:spcPct val="100000"/>
              </a:lnSpc>
            </a:pPr>
            <a:r>
              <a:rPr lang="en-US" sz="2600" b="0" u="none" strike="noStrike">
                <a:solidFill>
                  <a:srgbClr val="000000"/>
                </a:solidFill>
                <a:effectLst/>
                <a:uFillTx/>
                <a:latin typeface="Arial"/>
                <a:ea typeface="DejaVu Sans"/>
              </a:rPr>
              <a:t>Recurrent Neural Network</a:t>
            </a:r>
            <a:endParaRPr lang="en-AU" sz="2600" b="0" u="none" strike="noStrike">
              <a:solidFill>
                <a:srgbClr val="000000"/>
              </a:solidFill>
              <a:effectLst/>
              <a:uFillTx/>
              <a:latin typeface="Arial"/>
            </a:endParaRPr>
          </a:p>
        </p:txBody>
      </p:sp>
      <p:sp>
        <p:nvSpPr>
          <p:cNvPr id="68" name=""/>
          <p:cNvSpPr/>
          <p:nvPr/>
        </p:nvSpPr>
        <p:spPr>
          <a:xfrm>
            <a:off x="7043760" y="2700000"/>
            <a:ext cx="2674440" cy="2720520"/>
          </a:xfrm>
          <a:prstGeom prst="rect">
            <a:avLst/>
          </a:prstGeom>
          <a:noFill/>
          <a:ln w="36000">
            <a:solidFill>
              <a:srgbClr val="5b277d"/>
            </a:solidFill>
            <a:prstDash val="sysDot"/>
            <a:round/>
          </a:ln>
        </p:spPr>
        <p:style>
          <a:lnRef idx="0"/>
          <a:fillRef idx="0"/>
          <a:effectRef idx="0"/>
          <a:fontRef idx="minor"/>
        </p:style>
        <p:txBody>
          <a:bodyPr lIns="108000" rIns="108000" tIns="63000" bIns="63000" anchor="t">
            <a:spAutoFit/>
          </a:bodyPr>
          <a:p>
            <a:pPr>
              <a:lnSpc>
                <a:spcPct val="100000"/>
              </a:lnSpc>
            </a:pPr>
            <a:r>
              <a:rPr lang="en-US" sz="1000" b="0" i="1" u="none" strike="noStrike">
                <a:solidFill>
                  <a:srgbClr val="000000"/>
                </a:solidFill>
                <a:effectLst/>
                <a:uFillTx/>
                <a:latin typeface="Arial"/>
                <a:ea typeface="DejaVu Sans"/>
              </a:rPr>
              <a:t>Relevant Models:</a:t>
            </a:r>
            <a:endParaRPr lang="en-AU" sz="1000" b="0" u="none" strike="noStrike">
              <a:solidFill>
                <a:srgbClr val="000000"/>
              </a:solidFill>
              <a:effectLst/>
              <a:uFillTx/>
              <a:latin typeface="Arial"/>
            </a:endParaRPr>
          </a:p>
          <a:p>
            <a:pPr>
              <a:lnSpc>
                <a:spcPct val="100000"/>
              </a:lnSpc>
            </a:pPr>
            <a:endParaRPr lang="en-AU" sz="1000" b="0" u="none" strike="noStrike">
              <a:solidFill>
                <a:srgbClr val="000000"/>
              </a:solidFill>
              <a:effectLst/>
              <a:uFillTx/>
              <a:latin typeface="Arial"/>
            </a:endParaRPr>
          </a:p>
          <a:p>
            <a:pPr>
              <a:lnSpc>
                <a:spcPct val="100000"/>
              </a:lnSpc>
            </a:pPr>
            <a:r>
              <a:rPr lang="en-US" sz="1000" b="0" i="1" u="none" strike="noStrike">
                <a:solidFill>
                  <a:srgbClr val="000000"/>
                </a:solidFill>
                <a:effectLst/>
                <a:uFillTx/>
                <a:latin typeface="Arial"/>
                <a:ea typeface="DejaVu Sans"/>
              </a:rPr>
              <a:t>Chris Piech, Jonathan Bassen, Jonathan Huang, Surya Ganguli, Mehran Sahami, Leonidas J. Guibas, and Jascha Sohl-</a:t>
            </a:r>
            <a:endParaRPr lang="en-AU" sz="1000" b="0" u="none" strike="noStrike">
              <a:solidFill>
                <a:srgbClr val="000000"/>
              </a:solidFill>
              <a:effectLst/>
              <a:uFillTx/>
              <a:latin typeface="Arial"/>
            </a:endParaRPr>
          </a:p>
          <a:p>
            <a:pPr>
              <a:lnSpc>
                <a:spcPct val="100000"/>
              </a:lnSpc>
            </a:pPr>
            <a:r>
              <a:rPr lang="en-US" sz="1000" b="0" i="1" u="none" strike="noStrike">
                <a:solidFill>
                  <a:srgbClr val="000000"/>
                </a:solidFill>
                <a:effectLst/>
                <a:uFillTx/>
                <a:latin typeface="Arial"/>
                <a:ea typeface="DejaVu Sans"/>
              </a:rPr>
              <a:t>Dickstein. 2015. Deep knowledge tracing. In NeurIPS. 505–513.</a:t>
            </a:r>
            <a:endParaRPr lang="en-AU" sz="1000" b="0" u="none" strike="noStrike">
              <a:solidFill>
                <a:srgbClr val="000000"/>
              </a:solidFill>
              <a:effectLst/>
              <a:uFillTx/>
              <a:latin typeface="Arial"/>
            </a:endParaRPr>
          </a:p>
          <a:p>
            <a:pPr>
              <a:lnSpc>
                <a:spcPct val="100000"/>
              </a:lnSpc>
            </a:pPr>
            <a:endParaRPr lang="en-AU" sz="1000" b="0" u="none" strike="noStrike">
              <a:solidFill>
                <a:srgbClr val="000000"/>
              </a:solidFill>
              <a:effectLst/>
              <a:uFillTx/>
              <a:latin typeface="Arial"/>
            </a:endParaRPr>
          </a:p>
          <a:p>
            <a:pPr>
              <a:lnSpc>
                <a:spcPct val="100000"/>
              </a:lnSpc>
            </a:pPr>
            <a:r>
              <a:rPr lang="en-US" sz="1000" b="0" i="1" u="none" strike="noStrike">
                <a:solidFill>
                  <a:srgbClr val="000000"/>
                </a:solidFill>
                <a:effectLst/>
                <a:uFillTx/>
                <a:latin typeface="Arial"/>
                <a:ea typeface="DejaVu Sans"/>
              </a:rPr>
              <a:t>Xiaolu Xiong, Siyuan Zhao, Eric Van Inwegen, and Joseph Beck. 2016. Going deeper with deep knowledge tracing.</a:t>
            </a:r>
            <a:endParaRPr lang="en-AU" sz="1000" b="0" u="none" strike="noStrike">
              <a:solidFill>
                <a:srgbClr val="000000"/>
              </a:solidFill>
              <a:effectLst/>
              <a:uFillTx/>
              <a:latin typeface="Arial"/>
            </a:endParaRPr>
          </a:p>
          <a:p>
            <a:pPr>
              <a:lnSpc>
                <a:spcPct val="100000"/>
              </a:lnSpc>
            </a:pPr>
            <a:r>
              <a:rPr lang="en-US" sz="1000" b="0" i="1" u="none" strike="noStrike">
                <a:solidFill>
                  <a:srgbClr val="000000"/>
                </a:solidFill>
                <a:effectLst/>
                <a:uFillTx/>
                <a:latin typeface="Arial"/>
                <a:ea typeface="DejaVu Sans"/>
              </a:rPr>
              <a:t>In EDM. 545–550.</a:t>
            </a:r>
            <a:endParaRPr lang="en-AU" sz="1000" b="0" u="none" strike="noStrike">
              <a:solidFill>
                <a:srgbClr val="000000"/>
              </a:solidFill>
              <a:effectLst/>
              <a:uFillTx/>
              <a:latin typeface="Arial"/>
            </a:endParaRPr>
          </a:p>
          <a:p>
            <a:pPr>
              <a:lnSpc>
                <a:spcPct val="100000"/>
              </a:lnSpc>
            </a:pPr>
            <a:endParaRPr lang="en-AU" sz="1000" b="0" u="none" strike="noStrike">
              <a:solidFill>
                <a:srgbClr val="000000"/>
              </a:solidFill>
              <a:effectLst/>
              <a:uFillTx/>
              <a:latin typeface="Arial"/>
            </a:endParaRPr>
          </a:p>
          <a:p>
            <a:pPr>
              <a:lnSpc>
                <a:spcPct val="100000"/>
              </a:lnSpc>
            </a:pPr>
            <a:r>
              <a:rPr lang="en-US" sz="1000" b="0" i="1" u="none" strike="noStrike">
                <a:solidFill>
                  <a:srgbClr val="000000"/>
                </a:solidFill>
                <a:effectLst/>
                <a:uFillTx/>
                <a:latin typeface="Arial"/>
                <a:ea typeface="DejaVu Sans"/>
              </a:rPr>
              <a:t>Chun-Kit Yeung and Dit-Yan Yeung. 2018. Addressing two problems in deep knowledge tracing via prediction-</a:t>
            </a:r>
            <a:endParaRPr lang="en-AU" sz="1000" b="0" u="none" strike="noStrike">
              <a:solidFill>
                <a:srgbClr val="000000"/>
              </a:solidFill>
              <a:effectLst/>
              <a:uFillTx/>
              <a:latin typeface="Arial"/>
            </a:endParaRPr>
          </a:p>
          <a:p>
            <a:pPr>
              <a:lnSpc>
                <a:spcPct val="100000"/>
              </a:lnSpc>
            </a:pPr>
            <a:r>
              <a:rPr lang="en-US" sz="1000" b="0" i="1" u="none" strike="noStrike">
                <a:solidFill>
                  <a:srgbClr val="000000"/>
                </a:solidFill>
                <a:effectLst/>
                <a:uFillTx/>
                <a:latin typeface="Arial"/>
                <a:ea typeface="DejaVu Sans"/>
              </a:rPr>
              <a:t>consistent regularization. In L@S. 1–10</a:t>
            </a:r>
            <a:endParaRPr lang="en-AU" sz="1000" b="0" u="none" strike="noStrike">
              <a:solidFill>
                <a:srgbClr val="000000"/>
              </a:solidFill>
              <a:effectLst/>
              <a:uFillTx/>
              <a:latin typeface="Arial"/>
            </a:endParaRPr>
          </a:p>
        </p:txBody>
      </p:sp>
      <p:pic>
        <p:nvPicPr>
          <p:cNvPr id="69" name=""/>
          <p:cNvPicPr/>
          <p:nvPr/>
        </p:nvPicPr>
        <p:blipFill>
          <a:blip r:embed="rId1"/>
          <a:stretch/>
        </p:blipFill>
        <p:spPr>
          <a:xfrm>
            <a:off x="360000" y="207360"/>
            <a:ext cx="2905200" cy="4482000"/>
          </a:xfrm>
          <a:prstGeom prst="rect">
            <a:avLst/>
          </a:prstGeom>
          <a:noFill/>
          <a:ln w="0">
            <a:noFill/>
          </a:ln>
        </p:spPr>
      </p:pic>
      <p:pic>
        <p:nvPicPr>
          <p:cNvPr id="70" name=""/>
          <p:cNvPicPr/>
          <p:nvPr/>
        </p:nvPicPr>
        <p:blipFill>
          <a:blip r:embed="rId2"/>
          <a:stretch/>
        </p:blipFill>
        <p:spPr>
          <a:xfrm>
            <a:off x="3765960" y="154440"/>
            <a:ext cx="3048480" cy="5422680"/>
          </a:xfrm>
          <a:prstGeom prst="rect">
            <a:avLst/>
          </a:prstGeom>
          <a:noFill/>
          <a:ln w="0">
            <a:noFill/>
          </a:ln>
        </p:spPr>
      </p:pic>
      <p:sp>
        <p:nvSpPr>
          <p:cNvPr id="2" name="PlaceHolder 1"/>
          <p:cNvSpPr>
            <a:spLocks noGrp="1"/>
          </p:cNvSpPr>
          <p:nvPr>
            <p:ph type="sldNum" idx="2"/>
          </p:nvPr>
        </p:nvSpPr>
        <p:spPr/>
        <p:txBody>
          <a:bodyPr/>
          <a:p>
            <a:fld id="{8588376B-B40A-4C46-9755-485154AE4040}" type="slidenum">
              <a:t>14</a:t>
            </a:fld>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1" name="PlaceHolder 1"/>
          <p:cNvSpPr>
            <a:spLocks noGrp="1"/>
          </p:cNvSpPr>
          <p:nvPr>
            <p:ph type="title"/>
          </p:nvPr>
        </p:nvSpPr>
        <p:spPr>
          <a:xfrm>
            <a:off x="4248360" y="223200"/>
            <a:ext cx="5648760" cy="676800"/>
          </a:xfrm>
          <a:prstGeom prst="rect">
            <a:avLst/>
          </a:prstGeom>
          <a:noFill/>
          <a:ln w="0">
            <a:noFill/>
          </a:ln>
        </p:spPr>
        <p:txBody>
          <a:bodyPr lIns="0" rIns="0" tIns="0" bIns="0" anchor="ctr">
            <a:spAutoFit/>
          </a:bodyPr>
          <a:p>
            <a:pPr indent="0" algn="ctr">
              <a:lnSpc>
                <a:spcPct val="100000"/>
              </a:lnSpc>
              <a:buNone/>
              <a:tabLst>
                <a:tab algn="l" pos="0"/>
              </a:tabLst>
            </a:pPr>
            <a:r>
              <a:rPr lang="en-US" sz="2600" b="0" u="none" strike="noStrike">
                <a:solidFill>
                  <a:srgbClr val="000000"/>
                </a:solidFill>
                <a:effectLst/>
                <a:uFillTx/>
                <a:latin typeface="Arial"/>
              </a:rPr>
              <a:t>Recurrent Neural Network (Analysis)</a:t>
            </a:r>
            <a:endParaRPr lang="en-AU" sz="2600" b="0" u="none" strike="noStrike">
              <a:solidFill>
                <a:srgbClr val="000000"/>
              </a:solidFill>
              <a:effectLst/>
              <a:uFillTx/>
              <a:latin typeface="Arial"/>
            </a:endParaRPr>
          </a:p>
        </p:txBody>
      </p:sp>
      <p:sp>
        <p:nvSpPr>
          <p:cNvPr id="72" name="PlaceHolder 2"/>
          <p:cNvSpPr>
            <a:spLocks noGrp="1"/>
          </p:cNvSpPr>
          <p:nvPr>
            <p:ph/>
          </p:nvPr>
        </p:nvSpPr>
        <p:spPr>
          <a:xfrm>
            <a:off x="3960000" y="1260000"/>
            <a:ext cx="5757120" cy="3957120"/>
          </a:xfrm>
          <a:prstGeom prst="rect">
            <a:avLst/>
          </a:prstGeom>
          <a:noFill/>
          <a:ln w="0">
            <a:noFill/>
          </a:ln>
        </p:spPr>
        <p:txBody>
          <a:bodyPr lIns="0" rIns="0" tIns="0" bIns="0" anchor="t">
            <a:normAutofit lnSpcReduction="9999"/>
          </a:bodyPr>
          <a:p>
            <a:pPr indent="0">
              <a:lnSpc>
                <a:spcPct val="100000"/>
              </a:lnSpc>
              <a:spcBef>
                <a:spcPts val="1417"/>
              </a:spcBef>
              <a:buNone/>
              <a:tabLst>
                <a:tab algn="l" pos="0"/>
              </a:tabLst>
            </a:pPr>
            <a:r>
              <a:rPr lang="en-US" sz="1200" b="0" u="none" strike="noStrike">
                <a:solidFill>
                  <a:srgbClr val="000000"/>
                </a:solidFill>
                <a:effectLst/>
                <a:uFillTx/>
                <a:latin typeface="Arial"/>
              </a:rPr>
              <a:t>🤔 How does it model KCs?</a:t>
            </a:r>
            <a:endParaRPr lang="en-AU" sz="1200" b="0" u="none" strike="noStrike">
              <a:solidFill>
                <a:srgbClr val="000000"/>
              </a:solidFill>
              <a:effectLst/>
              <a:uFillTx/>
              <a:latin typeface="Arial"/>
            </a:endParaRPr>
          </a:p>
          <a:p>
            <a:pPr marL="432000" indent="-324000">
              <a:lnSpc>
                <a:spcPct val="100000"/>
              </a:lnSpc>
              <a:spcBef>
                <a:spcPts val="1417"/>
              </a:spcBef>
              <a:buClr>
                <a:srgbClr val="000000"/>
              </a:buClr>
              <a:buSzPct val="45000"/>
              <a:buFont typeface="Wingdings" charset="2"/>
              <a:buChar char=""/>
              <a:tabLst>
                <a:tab algn="l" pos="0"/>
              </a:tabLst>
            </a:pPr>
            <a:r>
              <a:rPr lang="en-US" sz="1200" b="1" u="none" strike="noStrike">
                <a:solidFill>
                  <a:srgbClr val="000000"/>
                </a:solidFill>
                <a:effectLst/>
                <a:uFillTx/>
                <a:latin typeface="Arial"/>
              </a:rPr>
              <a:t>Implicitly</a:t>
            </a:r>
            <a:r>
              <a:rPr lang="en-US" sz="1200" b="0" u="none" strike="noStrike">
                <a:solidFill>
                  <a:srgbClr val="000000"/>
                </a:solidFill>
                <a:effectLst/>
                <a:uFillTx/>
                <a:latin typeface="Arial"/>
              </a:rPr>
              <a:t> through Question Embeddings.</a:t>
            </a:r>
            <a:endParaRPr lang="en-AU" sz="1200" b="0" u="none" strike="noStrike">
              <a:solidFill>
                <a:srgbClr val="000000"/>
              </a:solidFill>
              <a:effectLst/>
              <a:uFillTx/>
              <a:latin typeface="Arial"/>
            </a:endParaRPr>
          </a:p>
          <a:p>
            <a:pPr marL="432000" indent="-324000">
              <a:lnSpc>
                <a:spcPct val="100000"/>
              </a:lnSpc>
              <a:spcBef>
                <a:spcPts val="1417"/>
              </a:spcBef>
              <a:buClr>
                <a:srgbClr val="000000"/>
              </a:buClr>
              <a:buSzPct val="45000"/>
              <a:buFont typeface="Wingdings" charset="2"/>
              <a:buChar char=""/>
              <a:tabLst>
                <a:tab algn="l" pos="0"/>
              </a:tabLst>
            </a:pPr>
            <a:r>
              <a:rPr lang="en-US" sz="1200" b="0" u="none" strike="noStrike">
                <a:solidFill>
                  <a:srgbClr val="000000"/>
                </a:solidFill>
                <a:effectLst/>
                <a:uFillTx/>
                <a:latin typeface="Arial"/>
              </a:rPr>
              <a:t>Why implicit? We cannot identify individual KCs in the model.</a:t>
            </a:r>
            <a:endParaRPr lang="en-AU" sz="1200" b="0" u="none" strike="noStrike">
              <a:solidFill>
                <a:srgbClr val="000000"/>
              </a:solidFill>
              <a:effectLst/>
              <a:uFillTx/>
              <a:latin typeface="Arial"/>
            </a:endParaRPr>
          </a:p>
          <a:p>
            <a:pPr marL="432000" indent="-324000">
              <a:lnSpc>
                <a:spcPct val="100000"/>
              </a:lnSpc>
              <a:spcBef>
                <a:spcPts val="1417"/>
              </a:spcBef>
              <a:buClr>
                <a:srgbClr val="000000"/>
              </a:buClr>
              <a:buSzPct val="45000"/>
              <a:buFont typeface="Wingdings" charset="2"/>
              <a:buChar char=""/>
              <a:tabLst>
                <a:tab algn="l" pos="0"/>
              </a:tabLst>
            </a:pPr>
            <a:r>
              <a:rPr lang="en-US" sz="1200" b="0" u="none" strike="noStrike">
                <a:solidFill>
                  <a:srgbClr val="000000"/>
                </a:solidFill>
                <a:effectLst/>
                <a:uFillTx/>
                <a:latin typeface="Arial"/>
              </a:rPr>
              <a:t>Why modelled? Questions with similar KCs may lead to similar embeddings.</a:t>
            </a:r>
            <a:endParaRPr lang="en-AU" sz="1200" b="0" u="none" strike="noStrike">
              <a:solidFill>
                <a:srgbClr val="000000"/>
              </a:solidFill>
              <a:effectLst/>
              <a:uFillTx/>
              <a:latin typeface="Arial"/>
            </a:endParaRPr>
          </a:p>
          <a:p>
            <a:pPr indent="0">
              <a:lnSpc>
                <a:spcPct val="100000"/>
              </a:lnSpc>
              <a:spcBef>
                <a:spcPts val="1417"/>
              </a:spcBef>
              <a:buNone/>
              <a:tabLst>
                <a:tab algn="l" pos="0"/>
              </a:tabLst>
            </a:pPr>
            <a:r>
              <a:rPr lang="en-US" sz="1200" b="0" u="none" strike="noStrike">
                <a:solidFill>
                  <a:srgbClr val="000000"/>
                </a:solidFill>
                <a:effectLst/>
                <a:uFillTx/>
                <a:latin typeface="Arial"/>
              </a:rPr>
              <a:t>🤔 How does it model KC-KC relations?</a:t>
            </a:r>
            <a:endParaRPr lang="en-AU" sz="1200" b="0" u="none" strike="noStrike">
              <a:solidFill>
                <a:srgbClr val="000000"/>
              </a:solidFill>
              <a:effectLst/>
              <a:uFillTx/>
              <a:latin typeface="Arial"/>
            </a:endParaRPr>
          </a:p>
          <a:p>
            <a:pPr marL="432000" indent="-324000">
              <a:lnSpc>
                <a:spcPct val="100000"/>
              </a:lnSpc>
              <a:spcBef>
                <a:spcPts val="1417"/>
              </a:spcBef>
              <a:buClr>
                <a:srgbClr val="000000"/>
              </a:buClr>
              <a:buSzPct val="45000"/>
              <a:buFont typeface="Wingdings" charset="2"/>
              <a:buChar char=""/>
              <a:tabLst>
                <a:tab algn="l" pos="0"/>
              </a:tabLst>
            </a:pPr>
            <a:r>
              <a:rPr lang="en-US" sz="1200" b="1" u="none" strike="noStrike">
                <a:solidFill>
                  <a:srgbClr val="000000"/>
                </a:solidFill>
                <a:effectLst/>
                <a:uFillTx/>
                <a:latin typeface="Arial"/>
              </a:rPr>
              <a:t>Implicitly</a:t>
            </a:r>
            <a:r>
              <a:rPr lang="en-US" sz="1200" b="0" u="none" strike="noStrike">
                <a:solidFill>
                  <a:srgbClr val="000000"/>
                </a:solidFill>
                <a:effectLst/>
                <a:uFillTx/>
                <a:latin typeface="Arial"/>
              </a:rPr>
              <a:t> through Recurrent Weights</a:t>
            </a:r>
            <a:endParaRPr lang="en-AU" sz="1200" b="0" u="none" strike="noStrike">
              <a:solidFill>
                <a:srgbClr val="000000"/>
              </a:solidFill>
              <a:effectLst/>
              <a:uFillTx/>
              <a:latin typeface="Arial"/>
            </a:endParaRPr>
          </a:p>
          <a:p>
            <a:pPr indent="0">
              <a:lnSpc>
                <a:spcPct val="100000"/>
              </a:lnSpc>
              <a:spcBef>
                <a:spcPts val="1417"/>
              </a:spcBef>
              <a:buNone/>
              <a:tabLst>
                <a:tab algn="l" pos="0"/>
              </a:tabLst>
            </a:pPr>
            <a:r>
              <a:rPr lang="en-US" sz="1200" b="0" u="none" strike="noStrike">
                <a:solidFill>
                  <a:srgbClr val="000000"/>
                </a:solidFill>
                <a:effectLst/>
                <a:uFillTx/>
                <a:latin typeface="Arial"/>
              </a:rPr>
              <a:t>🤔 How does it model the learning of KCs?</a:t>
            </a:r>
            <a:endParaRPr lang="en-AU" sz="1200" b="0" u="none" strike="noStrike">
              <a:solidFill>
                <a:srgbClr val="000000"/>
              </a:solidFill>
              <a:effectLst/>
              <a:uFillTx/>
              <a:latin typeface="Arial"/>
            </a:endParaRPr>
          </a:p>
          <a:p>
            <a:pPr marL="432000" indent="-324000">
              <a:lnSpc>
                <a:spcPct val="100000"/>
              </a:lnSpc>
              <a:spcBef>
                <a:spcPts val="1191"/>
              </a:spcBef>
              <a:spcAft>
                <a:spcPts val="992"/>
              </a:spcAft>
              <a:buClr>
                <a:srgbClr val="000000"/>
              </a:buClr>
              <a:buSzPct val="45000"/>
              <a:buFont typeface="Wingdings" charset="2"/>
              <a:buChar char=""/>
              <a:tabLst>
                <a:tab algn="l" pos="0"/>
              </a:tabLst>
            </a:pPr>
            <a:r>
              <a:rPr lang="en-US" sz="1200" b="1" u="none" strike="noStrike">
                <a:solidFill>
                  <a:srgbClr val="000000"/>
                </a:solidFill>
                <a:effectLst/>
                <a:uFillTx/>
                <a:latin typeface="Arial"/>
              </a:rPr>
              <a:t>Implicitly</a:t>
            </a:r>
            <a:r>
              <a:rPr lang="en-US" sz="1200" b="0" u="none" strike="noStrike">
                <a:solidFill>
                  <a:srgbClr val="000000"/>
                </a:solidFill>
                <a:effectLst/>
                <a:uFillTx/>
                <a:latin typeface="Arial"/>
              </a:rPr>
              <a:t> through the Input &amp; Update Gates in the RNN</a:t>
            </a:r>
            <a:endParaRPr lang="en-AU" sz="1200" b="0" u="none" strike="noStrike">
              <a:solidFill>
                <a:srgbClr val="000000"/>
              </a:solidFill>
              <a:effectLst/>
              <a:uFillTx/>
              <a:latin typeface="Arial"/>
            </a:endParaRPr>
          </a:p>
          <a:p>
            <a:pPr indent="0">
              <a:lnSpc>
                <a:spcPct val="100000"/>
              </a:lnSpc>
              <a:spcBef>
                <a:spcPts val="1417"/>
              </a:spcBef>
              <a:buNone/>
              <a:tabLst>
                <a:tab algn="l" pos="0"/>
              </a:tabLst>
            </a:pPr>
            <a:r>
              <a:rPr lang="en-US" sz="1200" b="0" u="none" strike="noStrike">
                <a:solidFill>
                  <a:srgbClr val="000000"/>
                </a:solidFill>
                <a:effectLst/>
                <a:uFillTx/>
                <a:latin typeface="Arial"/>
              </a:rPr>
              <a:t>🤔 How does it model the forgetting of KCs?</a:t>
            </a:r>
            <a:endParaRPr lang="en-AU" sz="1200" b="0" u="none" strike="noStrike">
              <a:solidFill>
                <a:srgbClr val="000000"/>
              </a:solidFill>
              <a:effectLst/>
              <a:uFillTx/>
              <a:latin typeface="Arial"/>
            </a:endParaRPr>
          </a:p>
          <a:p>
            <a:pPr marL="432000" indent="-324000">
              <a:lnSpc>
                <a:spcPct val="100000"/>
              </a:lnSpc>
              <a:spcBef>
                <a:spcPts val="1191"/>
              </a:spcBef>
              <a:spcAft>
                <a:spcPts val="992"/>
              </a:spcAft>
              <a:buClr>
                <a:srgbClr val="000000"/>
              </a:buClr>
              <a:buSzPct val="45000"/>
              <a:buFont typeface="Wingdings" charset="2"/>
              <a:buChar char=""/>
              <a:tabLst>
                <a:tab algn="l" pos="0"/>
              </a:tabLst>
            </a:pPr>
            <a:r>
              <a:rPr lang="en-US" sz="1200" b="1" u="none" strike="noStrike">
                <a:solidFill>
                  <a:srgbClr val="000000"/>
                </a:solidFill>
                <a:effectLst/>
                <a:uFillTx/>
                <a:latin typeface="Arial"/>
              </a:rPr>
              <a:t>Implicitly</a:t>
            </a:r>
            <a:r>
              <a:rPr lang="en-US" sz="1200" b="0" u="none" strike="noStrike">
                <a:solidFill>
                  <a:srgbClr val="000000"/>
                </a:solidFill>
                <a:effectLst/>
                <a:uFillTx/>
                <a:latin typeface="Arial"/>
              </a:rPr>
              <a:t> through the Forget Gate in the RNN</a:t>
            </a:r>
            <a:endParaRPr lang="en-AU" sz="1200" b="0" u="none" strike="noStrike">
              <a:solidFill>
                <a:srgbClr val="000000"/>
              </a:solidFill>
              <a:effectLst/>
              <a:uFillTx/>
              <a:latin typeface="Arial"/>
            </a:endParaRPr>
          </a:p>
          <a:p>
            <a:pPr indent="0">
              <a:lnSpc>
                <a:spcPct val="100000"/>
              </a:lnSpc>
              <a:spcBef>
                <a:spcPts val="1417"/>
              </a:spcBef>
              <a:buNone/>
              <a:tabLst>
                <a:tab algn="l" pos="0"/>
              </a:tabLst>
            </a:pPr>
            <a:r>
              <a:rPr lang="en-US" sz="1200" b="0" u="none" strike="noStrike">
                <a:solidFill>
                  <a:srgbClr val="000000"/>
                </a:solidFill>
                <a:effectLst/>
                <a:uFillTx/>
                <a:latin typeface="Arial"/>
              </a:rPr>
              <a:t>🤔 How does it model the student’s knowledge state?</a:t>
            </a:r>
            <a:endParaRPr lang="en-AU" sz="1200" b="0" u="none" strike="noStrike">
              <a:solidFill>
                <a:srgbClr val="000000"/>
              </a:solidFill>
              <a:effectLst/>
              <a:uFillTx/>
              <a:latin typeface="Arial"/>
            </a:endParaRPr>
          </a:p>
          <a:p>
            <a:pPr marL="432000" indent="-324000">
              <a:lnSpc>
                <a:spcPct val="100000"/>
              </a:lnSpc>
              <a:spcBef>
                <a:spcPts val="1417"/>
              </a:spcBef>
              <a:buClr>
                <a:srgbClr val="000000"/>
              </a:buClr>
              <a:buSzPct val="45000"/>
              <a:buFont typeface="Wingdings" charset="2"/>
              <a:buChar char=""/>
              <a:tabLst>
                <a:tab algn="l" pos="0"/>
              </a:tabLst>
            </a:pPr>
            <a:r>
              <a:rPr lang="en-US" sz="1200" b="1" u="none" strike="noStrike">
                <a:solidFill>
                  <a:srgbClr val="000000"/>
                </a:solidFill>
                <a:effectLst/>
                <a:uFillTx/>
                <a:latin typeface="Arial"/>
              </a:rPr>
              <a:t>Explicitly</a:t>
            </a:r>
            <a:r>
              <a:rPr lang="en-US" sz="1200" b="0" u="none" strike="noStrike">
                <a:solidFill>
                  <a:srgbClr val="000000"/>
                </a:solidFill>
                <a:effectLst/>
                <a:uFillTx/>
                <a:latin typeface="Arial"/>
              </a:rPr>
              <a:t> through a hidden state vector(s)</a:t>
            </a:r>
            <a:endParaRPr lang="en-AU" sz="1200" b="0" u="none" strike="noStrike">
              <a:solidFill>
                <a:srgbClr val="000000"/>
              </a:solidFill>
              <a:effectLst/>
              <a:uFillTx/>
              <a:latin typeface="Arial"/>
            </a:endParaRPr>
          </a:p>
        </p:txBody>
      </p:sp>
      <p:pic>
        <p:nvPicPr>
          <p:cNvPr id="73" name=""/>
          <p:cNvPicPr/>
          <p:nvPr/>
        </p:nvPicPr>
        <p:blipFill>
          <a:blip r:embed="rId1"/>
          <a:stretch/>
        </p:blipFill>
        <p:spPr>
          <a:xfrm>
            <a:off x="540000" y="360000"/>
            <a:ext cx="2905200" cy="4482000"/>
          </a:xfrm>
          <a:prstGeom prst="rect">
            <a:avLst/>
          </a:prstGeom>
          <a:noFill/>
          <a:ln w="0">
            <a:noFill/>
          </a:ln>
        </p:spPr>
      </p:pic>
      <p:sp>
        <p:nvSpPr>
          <p:cNvPr id="4" name="PlaceHolder 3"/>
          <p:cNvSpPr>
            <a:spLocks noGrp="1"/>
          </p:cNvSpPr>
          <p:nvPr>
            <p:ph type="sldNum" idx="2"/>
          </p:nvPr>
        </p:nvSpPr>
        <p:spPr/>
        <p:txBody>
          <a:bodyPr/>
          <a:p>
            <a:fld id="{12922B5E-1DE5-46D3-8ECA-7FE821DA5173}" type="slidenum">
              <a:t>15</a:t>
            </a:fld>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4" name="PlaceHolder 1"/>
          <p:cNvSpPr>
            <a:spLocks noGrp="1"/>
          </p:cNvSpPr>
          <p:nvPr>
            <p:ph type="title"/>
          </p:nvPr>
        </p:nvSpPr>
        <p:spPr>
          <a:xfrm>
            <a:off x="504000" y="223200"/>
            <a:ext cx="9068760" cy="949320"/>
          </a:xfrm>
          <a:prstGeom prst="rect">
            <a:avLst/>
          </a:prstGeom>
          <a:noFill/>
          <a:ln w="0">
            <a:noFill/>
          </a:ln>
        </p:spPr>
        <p:txBody>
          <a:bodyPr lIns="0" rIns="0" tIns="0" bIns="0" anchor="ctr">
            <a:spAutoFit/>
          </a:bodyPr>
          <a:p>
            <a:pPr indent="0" algn="ctr">
              <a:lnSpc>
                <a:spcPct val="100000"/>
              </a:lnSpc>
              <a:buNone/>
              <a:tabLst>
                <a:tab algn="l" pos="0"/>
              </a:tabLst>
            </a:pPr>
            <a:r>
              <a:rPr lang="en-US" sz="4000" b="0" u="none" strike="noStrike">
                <a:solidFill>
                  <a:srgbClr val="000000"/>
                </a:solidFill>
                <a:effectLst/>
                <a:uFillTx/>
                <a:latin typeface="Arial"/>
              </a:rPr>
              <a:t>Model Architectures Visited So Far</a:t>
            </a:r>
            <a:endParaRPr lang="en-AU" sz="4000" b="0" u="none" strike="noStrike">
              <a:solidFill>
                <a:srgbClr val="000000"/>
              </a:solidFill>
              <a:effectLst/>
              <a:uFillTx/>
              <a:latin typeface="Arial"/>
            </a:endParaRPr>
          </a:p>
        </p:txBody>
      </p:sp>
      <p:graphicFrame>
        <p:nvGraphicFramePr>
          <p:cNvPr id="75" name=""/>
          <p:cNvGraphicFramePr/>
          <p:nvPr/>
        </p:nvGraphicFramePr>
        <p:xfrm>
          <a:off x="413280" y="1927080"/>
          <a:ext cx="9032040" cy="2303640"/>
        </p:xfrm>
        <a:graphic>
          <a:graphicData uri="http://schemas.openxmlformats.org/drawingml/2006/table">
            <a:tbl>
              <a:tblPr/>
              <a:tblGrid>
                <a:gridCol w="1505520"/>
                <a:gridCol w="1505520"/>
                <a:gridCol w="1505520"/>
                <a:gridCol w="1510560"/>
                <a:gridCol w="1500480"/>
                <a:gridCol w="1504800"/>
              </a:tblGrid>
              <a:tr h="346320">
                <a:tc>
                  <a:txBody>
                    <a:bodyPr lIns="36000" rIns="36000" tIns="36000" bIns="36000" anchor="t">
                      <a:noAutofit/>
                    </a:bodyPr>
                    <a:p>
                      <a:pPr algn="ctr">
                        <a:lnSpc>
                          <a:spcPct val="100000"/>
                        </a:lnSpc>
                        <a:tabLst>
                          <a:tab algn="l" pos="0"/>
                        </a:tabLst>
                      </a:pPr>
                      <a:r>
                        <a:rPr lang="en-US" sz="1300" b="0" u="none" strike="noStrike">
                          <a:solidFill>
                            <a:srgbClr val="000000"/>
                          </a:solidFill>
                          <a:effectLst/>
                          <a:uFillTx/>
                          <a:latin typeface="Arial"/>
                        </a:rPr>
                        <a:t>Architecture</a:t>
                      </a:r>
                      <a:endParaRPr lang="en-AU" sz="13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tabLst>
                          <a:tab algn="l" pos="0"/>
                        </a:tabLst>
                      </a:pPr>
                      <a:r>
                        <a:rPr lang="en-US" sz="1300" b="0" u="none" strike="noStrike">
                          <a:solidFill>
                            <a:srgbClr val="000000"/>
                          </a:solidFill>
                          <a:effectLst/>
                          <a:uFillTx/>
                          <a:latin typeface="Arial"/>
                        </a:rPr>
                        <a:t>KCs</a:t>
                      </a:r>
                      <a:endParaRPr lang="en-AU" sz="13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tabLst>
                          <a:tab algn="l" pos="0"/>
                        </a:tabLst>
                      </a:pPr>
                      <a:r>
                        <a:rPr lang="en-US" sz="1300" b="0" u="none" strike="noStrike">
                          <a:solidFill>
                            <a:srgbClr val="000000"/>
                          </a:solidFill>
                          <a:effectLst/>
                          <a:uFillTx/>
                          <a:latin typeface="Arial"/>
                        </a:rPr>
                        <a:t>KC-KC Relations</a:t>
                      </a:r>
                      <a:endParaRPr lang="en-AU" sz="13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tabLst>
                          <a:tab algn="l" pos="0"/>
                        </a:tabLst>
                      </a:pPr>
                      <a:r>
                        <a:rPr lang="en-US" sz="1300" b="0" u="none" strike="noStrike">
                          <a:solidFill>
                            <a:srgbClr val="000000"/>
                          </a:solidFill>
                          <a:effectLst/>
                          <a:uFillTx/>
                          <a:latin typeface="Arial"/>
                        </a:rPr>
                        <a:t>Leaning of KCs</a:t>
                      </a:r>
                      <a:endParaRPr lang="en-AU" sz="13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tabLst>
                          <a:tab algn="l" pos="0"/>
                        </a:tabLst>
                      </a:pPr>
                      <a:r>
                        <a:rPr lang="en-US" sz="1300" b="0" u="none" strike="noStrike">
                          <a:solidFill>
                            <a:srgbClr val="000000"/>
                          </a:solidFill>
                          <a:effectLst/>
                          <a:uFillTx/>
                          <a:latin typeface="Arial"/>
                        </a:rPr>
                        <a:t>Time-Based Forgetting of KCs</a:t>
                      </a:r>
                      <a:endParaRPr lang="en-AU" sz="13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tabLst>
                          <a:tab algn="l" pos="0"/>
                        </a:tabLst>
                      </a:pPr>
                      <a:r>
                        <a:rPr lang="en-US" sz="1300" b="0" u="none" strike="noStrike">
                          <a:solidFill>
                            <a:srgbClr val="000000"/>
                          </a:solidFill>
                          <a:effectLst/>
                          <a:uFillTx/>
                          <a:latin typeface="Arial"/>
                        </a:rPr>
                        <a:t>Student’s Knowledge State</a:t>
                      </a:r>
                      <a:endParaRPr lang="en-AU" sz="13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r>
              <a:tr h="698040">
                <a:tc>
                  <a:txBody>
                    <a:bodyPr lIns="36000" rIns="36000" tIns="36000" bIns="36000" anchor="t">
                      <a:noAutofit/>
                    </a:bodyPr>
                    <a:p>
                      <a:pPr algn="ctr">
                        <a:lnSpc>
                          <a:spcPct val="100000"/>
                        </a:lnSpc>
                        <a:tabLst>
                          <a:tab algn="l" pos="0"/>
                        </a:tabLst>
                      </a:pPr>
                      <a:r>
                        <a:rPr lang="en-US" sz="1300" b="0" u="none" strike="noStrike">
                          <a:solidFill>
                            <a:srgbClr val="000000"/>
                          </a:solidFill>
                          <a:effectLst/>
                          <a:uFillTx/>
                          <a:latin typeface="Arial"/>
                        </a:rPr>
                        <a:t>Graph Neural Network</a:t>
                      </a:r>
                      <a:endParaRPr lang="en-AU" sz="13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tabLst>
                          <a:tab algn="l" pos="0"/>
                        </a:tabLst>
                      </a:pPr>
                      <a:r>
                        <a:rPr lang="en-US" sz="1300" b="1" u="none" strike="noStrike">
                          <a:solidFill>
                            <a:srgbClr val="000000"/>
                          </a:solidFill>
                          <a:effectLst/>
                          <a:uFillTx/>
                          <a:latin typeface="Arial"/>
                        </a:rPr>
                        <a:t>Explicit</a:t>
                      </a:r>
                      <a:r>
                        <a:rPr lang="en-US" sz="1300" b="0" u="none" strike="noStrike">
                          <a:solidFill>
                            <a:srgbClr val="000000"/>
                          </a:solidFill>
                          <a:effectLst/>
                          <a:uFillTx/>
                          <a:latin typeface="Arial"/>
                        </a:rPr>
                        <a:t> as Nodes</a:t>
                      </a:r>
                      <a:endParaRPr lang="en-AU" sz="13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tabLst>
                          <a:tab algn="l" pos="0"/>
                        </a:tabLst>
                      </a:pPr>
                      <a:r>
                        <a:rPr lang="en-US" sz="1300" b="1" u="none" strike="noStrike">
                          <a:solidFill>
                            <a:srgbClr val="000000"/>
                          </a:solidFill>
                          <a:effectLst/>
                          <a:uFillTx/>
                          <a:latin typeface="Arial"/>
                        </a:rPr>
                        <a:t>Explicit</a:t>
                      </a:r>
                      <a:r>
                        <a:rPr lang="en-US" sz="1300" b="0" u="none" strike="noStrike">
                          <a:solidFill>
                            <a:srgbClr val="000000"/>
                          </a:solidFill>
                          <a:effectLst/>
                          <a:uFillTx/>
                          <a:latin typeface="Arial"/>
                        </a:rPr>
                        <a:t> as Edges</a:t>
                      </a:r>
                      <a:endParaRPr lang="en-AU" sz="13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tabLst>
                          <a:tab algn="l" pos="0"/>
                        </a:tabLst>
                      </a:pPr>
                      <a:r>
                        <a:rPr lang="en-US" sz="1300" b="1" u="none" strike="noStrike">
                          <a:solidFill>
                            <a:srgbClr val="000000"/>
                          </a:solidFill>
                          <a:effectLst/>
                          <a:uFillTx/>
                          <a:latin typeface="Arial"/>
                        </a:rPr>
                        <a:t>Explicit</a:t>
                      </a:r>
                      <a:r>
                        <a:rPr lang="en-US" sz="1300" b="0" u="none" strike="noStrike">
                          <a:solidFill>
                            <a:srgbClr val="000000"/>
                          </a:solidFill>
                          <a:effectLst/>
                          <a:uFillTx/>
                          <a:latin typeface="Arial"/>
                        </a:rPr>
                        <a:t> via node update + message passing</a:t>
                      </a:r>
                      <a:endParaRPr lang="en-AU" sz="13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tabLst>
                          <a:tab algn="l" pos="0"/>
                        </a:tabLst>
                      </a:pPr>
                      <a:r>
                        <a:rPr lang="en-US" sz="1300" b="1" u="none" strike="noStrike">
                          <a:solidFill>
                            <a:srgbClr val="000000"/>
                          </a:solidFill>
                          <a:effectLst/>
                          <a:uFillTx/>
                          <a:latin typeface="Arial"/>
                        </a:rPr>
                        <a:t>Explicit</a:t>
                      </a:r>
                      <a:r>
                        <a:rPr lang="en-US" sz="1300" b="0" u="none" strike="noStrike">
                          <a:solidFill>
                            <a:srgbClr val="000000"/>
                          </a:solidFill>
                          <a:effectLst/>
                          <a:uFillTx/>
                          <a:latin typeface="Arial"/>
                        </a:rPr>
                        <a:t> via Forgetting Functions</a:t>
                      </a:r>
                      <a:endParaRPr lang="en-AU" sz="13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tabLst>
                          <a:tab algn="l" pos="0"/>
                        </a:tabLst>
                      </a:pPr>
                      <a:r>
                        <a:rPr lang="en-US" sz="1300" b="1" u="none" strike="noStrike">
                          <a:solidFill>
                            <a:srgbClr val="000000"/>
                          </a:solidFill>
                          <a:effectLst/>
                          <a:uFillTx/>
                          <a:latin typeface="Arial"/>
                        </a:rPr>
                        <a:t>Explicit</a:t>
                      </a:r>
                      <a:r>
                        <a:rPr lang="en-US" sz="1300" b="0" u="none" strike="noStrike">
                          <a:solidFill>
                            <a:srgbClr val="000000"/>
                          </a:solidFill>
                          <a:effectLst/>
                          <a:uFillTx/>
                          <a:latin typeface="Arial"/>
                        </a:rPr>
                        <a:t> as a Graph</a:t>
                      </a:r>
                      <a:endParaRPr lang="en-AU" sz="13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r>
              <a:tr h="346320">
                <a:tc>
                  <a:txBody>
                    <a:bodyPr lIns="36000" rIns="36000" tIns="36000" bIns="36000" anchor="t">
                      <a:noAutofit/>
                    </a:bodyPr>
                    <a:p>
                      <a:pPr algn="ctr">
                        <a:lnSpc>
                          <a:spcPct val="100000"/>
                        </a:lnSpc>
                        <a:tabLst>
                          <a:tab algn="l" pos="0"/>
                        </a:tabLst>
                      </a:pPr>
                      <a:r>
                        <a:rPr lang="en-US" sz="1300" b="0" u="none" strike="noStrike">
                          <a:solidFill>
                            <a:srgbClr val="000000"/>
                          </a:solidFill>
                          <a:effectLst/>
                          <a:uFillTx/>
                          <a:latin typeface="Arial"/>
                        </a:rPr>
                        <a:t>Key-Value Memory Network</a:t>
                      </a:r>
                      <a:endParaRPr lang="en-AU" sz="13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tabLst>
                          <a:tab algn="l" pos="0"/>
                        </a:tabLst>
                      </a:pPr>
                      <a:r>
                        <a:rPr lang="en-US" sz="1300" b="1" u="none" strike="noStrike">
                          <a:solidFill>
                            <a:srgbClr val="000000"/>
                          </a:solidFill>
                          <a:effectLst/>
                          <a:uFillTx/>
                          <a:latin typeface="Arial"/>
                        </a:rPr>
                        <a:t>Explicit</a:t>
                      </a:r>
                      <a:r>
                        <a:rPr lang="en-US" sz="1300" b="0" u="none" strike="noStrike">
                          <a:solidFill>
                            <a:srgbClr val="000000"/>
                          </a:solidFill>
                          <a:effectLst/>
                          <a:uFillTx/>
                          <a:latin typeface="Arial"/>
                        </a:rPr>
                        <a:t> as Keys</a:t>
                      </a:r>
                      <a:endParaRPr lang="en-AU" sz="13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tabLst>
                          <a:tab algn="l" pos="0"/>
                        </a:tabLst>
                      </a:pPr>
                      <a:r>
                        <a:rPr lang="en-US" sz="1300" b="0" u="none" strike="noStrike">
                          <a:solidFill>
                            <a:srgbClr val="000000"/>
                          </a:solidFill>
                          <a:effectLst/>
                          <a:uFillTx/>
                          <a:latin typeface="Arial"/>
                        </a:rPr>
                        <a:t>---------</a:t>
                      </a:r>
                      <a:endParaRPr lang="en-AU" sz="13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tabLst>
                          <a:tab algn="l" pos="0"/>
                        </a:tabLst>
                      </a:pPr>
                      <a:r>
                        <a:rPr lang="en-US" sz="1300" b="1" u="none" strike="noStrike">
                          <a:solidFill>
                            <a:srgbClr val="000000"/>
                          </a:solidFill>
                          <a:effectLst/>
                          <a:uFillTx/>
                          <a:latin typeface="Arial"/>
                        </a:rPr>
                        <a:t>Explicit</a:t>
                      </a:r>
                      <a:r>
                        <a:rPr lang="en-US" sz="1300" b="0" u="none" strike="noStrike">
                          <a:solidFill>
                            <a:srgbClr val="000000"/>
                          </a:solidFill>
                          <a:effectLst/>
                          <a:uFillTx/>
                          <a:latin typeface="Arial"/>
                        </a:rPr>
                        <a:t> via erase-add update</a:t>
                      </a:r>
                      <a:endParaRPr lang="en-AU" sz="13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tabLst>
                          <a:tab algn="l" pos="0"/>
                        </a:tabLst>
                      </a:pPr>
                      <a:r>
                        <a:rPr lang="en-US" sz="1300" b="0" u="none" strike="noStrike">
                          <a:solidFill>
                            <a:srgbClr val="000000"/>
                          </a:solidFill>
                          <a:effectLst/>
                          <a:uFillTx/>
                          <a:latin typeface="Arial"/>
                        </a:rPr>
                        <a:t>---------</a:t>
                      </a:r>
                      <a:endParaRPr lang="en-AU" sz="13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tabLst>
                          <a:tab algn="l" pos="0"/>
                        </a:tabLst>
                      </a:pPr>
                      <a:r>
                        <a:rPr lang="en-US" sz="1300" b="1" u="none" strike="noStrike">
                          <a:solidFill>
                            <a:srgbClr val="000000"/>
                          </a:solidFill>
                          <a:effectLst/>
                          <a:uFillTx/>
                          <a:latin typeface="Arial"/>
                        </a:rPr>
                        <a:t>Explicit</a:t>
                      </a:r>
                      <a:r>
                        <a:rPr lang="en-US" sz="1300" b="0" u="none" strike="noStrike">
                          <a:solidFill>
                            <a:srgbClr val="000000"/>
                          </a:solidFill>
                          <a:effectLst/>
                          <a:uFillTx/>
                          <a:latin typeface="Arial"/>
                        </a:rPr>
                        <a:t> as a Key-Value Table</a:t>
                      </a:r>
                      <a:endParaRPr lang="en-AU" sz="13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r>
              <a:tr h="346320">
                <a:tc>
                  <a:txBody>
                    <a:bodyPr lIns="36000" rIns="36000" tIns="36000" bIns="36000" anchor="t">
                      <a:noAutofit/>
                    </a:bodyPr>
                    <a:p>
                      <a:pPr algn="ctr">
                        <a:lnSpc>
                          <a:spcPct val="100000"/>
                        </a:lnSpc>
                        <a:tabLst>
                          <a:tab algn="l" pos="0"/>
                        </a:tabLst>
                      </a:pPr>
                      <a:r>
                        <a:rPr lang="en-US" sz="1300" b="0" u="none" strike="noStrike">
                          <a:solidFill>
                            <a:srgbClr val="000000"/>
                          </a:solidFill>
                          <a:effectLst/>
                          <a:uFillTx/>
                          <a:latin typeface="Arial"/>
                        </a:rPr>
                        <a:t>Recurrent Neural Network</a:t>
                      </a:r>
                      <a:endParaRPr lang="en-AU" sz="13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tabLst>
                          <a:tab algn="l" pos="0"/>
                        </a:tabLst>
                      </a:pPr>
                      <a:r>
                        <a:rPr lang="en-US" sz="1300" b="1" u="none" strike="noStrike">
                          <a:solidFill>
                            <a:srgbClr val="000000"/>
                          </a:solidFill>
                          <a:effectLst/>
                          <a:uFillTx/>
                          <a:latin typeface="Arial"/>
                        </a:rPr>
                        <a:t>Implicit</a:t>
                      </a:r>
                      <a:r>
                        <a:rPr lang="en-US" sz="1300" b="0" u="none" strike="noStrike">
                          <a:solidFill>
                            <a:srgbClr val="000000"/>
                          </a:solidFill>
                          <a:effectLst/>
                          <a:uFillTx/>
                          <a:latin typeface="Arial"/>
                        </a:rPr>
                        <a:t> through Question Embedding</a:t>
                      </a:r>
                      <a:endParaRPr lang="en-AU" sz="13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tabLst>
                          <a:tab algn="l" pos="0"/>
                        </a:tabLst>
                      </a:pPr>
                      <a:r>
                        <a:rPr lang="en-US" sz="1300" b="1" u="none" strike="noStrike">
                          <a:solidFill>
                            <a:srgbClr val="000000"/>
                          </a:solidFill>
                          <a:effectLst/>
                          <a:uFillTx/>
                          <a:latin typeface="Arial"/>
                        </a:rPr>
                        <a:t>Implicit</a:t>
                      </a:r>
                      <a:r>
                        <a:rPr lang="en-US" sz="1300" b="0" u="none" strike="noStrike">
                          <a:solidFill>
                            <a:srgbClr val="000000"/>
                          </a:solidFill>
                          <a:effectLst/>
                          <a:uFillTx/>
                          <a:latin typeface="Arial"/>
                        </a:rPr>
                        <a:t> through Recurrent Weights</a:t>
                      </a:r>
                      <a:endParaRPr lang="en-AU" sz="13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spcBef>
                          <a:spcPts val="1191"/>
                        </a:spcBef>
                        <a:spcAft>
                          <a:spcPts val="992"/>
                        </a:spcAft>
                        <a:tabLst>
                          <a:tab algn="l" pos="0"/>
                        </a:tabLst>
                      </a:pPr>
                      <a:r>
                        <a:rPr lang="en-US" sz="1300" b="1" u="none" strike="noStrike">
                          <a:solidFill>
                            <a:srgbClr val="000000"/>
                          </a:solidFill>
                          <a:effectLst/>
                          <a:uFillTx/>
                          <a:latin typeface="Arial"/>
                        </a:rPr>
                        <a:t>Implicit</a:t>
                      </a:r>
                      <a:r>
                        <a:rPr lang="en-US" sz="1300" b="0" u="none" strike="noStrike">
                          <a:solidFill>
                            <a:srgbClr val="000000"/>
                          </a:solidFill>
                          <a:effectLst/>
                          <a:uFillTx/>
                          <a:latin typeface="Arial"/>
                        </a:rPr>
                        <a:t> through the Input &amp; Update Gates</a:t>
                      </a:r>
                      <a:endParaRPr lang="en-AU" sz="13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spcBef>
                          <a:spcPts val="1191"/>
                        </a:spcBef>
                        <a:spcAft>
                          <a:spcPts val="992"/>
                        </a:spcAft>
                        <a:tabLst>
                          <a:tab algn="l" pos="0"/>
                        </a:tabLst>
                      </a:pPr>
                      <a:r>
                        <a:rPr lang="en-US" sz="1300" b="1" u="none" strike="noStrike">
                          <a:solidFill>
                            <a:srgbClr val="000000"/>
                          </a:solidFill>
                          <a:effectLst/>
                          <a:uFillTx/>
                          <a:latin typeface="Arial"/>
                        </a:rPr>
                        <a:t>Implicit</a:t>
                      </a:r>
                      <a:r>
                        <a:rPr lang="en-US" sz="1300" b="0" u="none" strike="noStrike">
                          <a:solidFill>
                            <a:srgbClr val="000000"/>
                          </a:solidFill>
                          <a:effectLst/>
                          <a:uFillTx/>
                          <a:latin typeface="Arial"/>
                        </a:rPr>
                        <a:t> through the Forget Gate</a:t>
                      </a:r>
                      <a:endParaRPr lang="en-AU" sz="13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spcBef>
                          <a:spcPts val="1417"/>
                        </a:spcBef>
                        <a:tabLst>
                          <a:tab algn="l" pos="0"/>
                        </a:tabLst>
                      </a:pPr>
                      <a:r>
                        <a:rPr lang="en-US" sz="1300" b="1" u="none" strike="noStrike">
                          <a:solidFill>
                            <a:srgbClr val="000000"/>
                          </a:solidFill>
                          <a:effectLst/>
                          <a:uFillTx/>
                          <a:latin typeface="Arial"/>
                        </a:rPr>
                        <a:t>Explicit</a:t>
                      </a:r>
                      <a:r>
                        <a:rPr lang="en-US" sz="1300" b="0" u="none" strike="noStrike">
                          <a:solidFill>
                            <a:srgbClr val="000000"/>
                          </a:solidFill>
                          <a:effectLst/>
                          <a:uFillTx/>
                          <a:latin typeface="Arial"/>
                        </a:rPr>
                        <a:t> as a hidden state vector(s)</a:t>
                      </a:r>
                      <a:endParaRPr lang="en-AU" sz="13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r>
            </a:tbl>
          </a:graphicData>
        </a:graphic>
      </p:graphicFrame>
      <p:sp>
        <p:nvSpPr>
          <p:cNvPr id="3" name="PlaceHolder 2"/>
          <p:cNvSpPr>
            <a:spLocks noGrp="1"/>
          </p:cNvSpPr>
          <p:nvPr>
            <p:ph type="sldNum" idx="2"/>
          </p:nvPr>
        </p:nvSpPr>
        <p:spPr/>
        <p:txBody>
          <a:bodyPr/>
          <a:p>
            <a:fld id="{D928854B-9D3A-49EA-B15B-592B8EE6C9F6}" type="slidenum">
              <a:t>16</a:t>
            </a:fld>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76" name=""/>
          <p:cNvPicPr/>
          <p:nvPr/>
        </p:nvPicPr>
        <p:blipFill>
          <a:blip r:embed="rId1"/>
          <a:stretch/>
        </p:blipFill>
        <p:spPr>
          <a:xfrm>
            <a:off x="260280" y="181800"/>
            <a:ext cx="5832720" cy="3595320"/>
          </a:xfrm>
          <a:prstGeom prst="rect">
            <a:avLst/>
          </a:prstGeom>
          <a:noFill/>
          <a:ln w="0">
            <a:noFill/>
          </a:ln>
        </p:spPr>
      </p:pic>
      <p:pic>
        <p:nvPicPr>
          <p:cNvPr id="77" name=""/>
          <p:cNvPicPr/>
          <p:nvPr/>
        </p:nvPicPr>
        <p:blipFill>
          <a:blip r:embed="rId2"/>
          <a:stretch/>
        </p:blipFill>
        <p:spPr>
          <a:xfrm>
            <a:off x="5580000" y="2958840"/>
            <a:ext cx="4317120" cy="2427120"/>
          </a:xfrm>
          <a:prstGeom prst="rect">
            <a:avLst/>
          </a:prstGeom>
          <a:noFill/>
          <a:ln w="0">
            <a:noFill/>
          </a:ln>
        </p:spPr>
      </p:pic>
      <p:sp>
        <p:nvSpPr>
          <p:cNvPr id="78" name=""/>
          <p:cNvSpPr/>
          <p:nvPr/>
        </p:nvSpPr>
        <p:spPr>
          <a:xfrm>
            <a:off x="6480000" y="479520"/>
            <a:ext cx="3057120" cy="2476440"/>
          </a:xfrm>
          <a:prstGeom prst="rect">
            <a:avLst/>
          </a:prstGeom>
          <a:noFill/>
          <a:ln w="0">
            <a:noFill/>
          </a:ln>
        </p:spPr>
        <p:style>
          <a:lnRef idx="0"/>
          <a:fillRef idx="0"/>
          <a:effectRef idx="0"/>
          <a:fontRef idx="minor"/>
        </p:style>
        <p:txBody>
          <a:bodyPr lIns="90000" rIns="90000" tIns="45000" bIns="45000" anchor="t">
            <a:spAutoFit/>
          </a:bodyPr>
          <a:p>
            <a:pPr marL="216000" indent="-216000">
              <a:lnSpc>
                <a:spcPct val="100000"/>
              </a:lnSpc>
              <a:buClr>
                <a:srgbClr val="000000"/>
              </a:buClr>
              <a:buSzPct val="45000"/>
              <a:buFont typeface="Wingdings" charset="2"/>
              <a:buChar char=""/>
            </a:pPr>
            <a:r>
              <a:rPr lang="en-US" sz="1200" b="1" u="none" strike="noStrike">
                <a:solidFill>
                  <a:srgbClr val="000000"/>
                </a:solidFill>
                <a:effectLst/>
                <a:uFillTx/>
                <a:latin typeface="Arial"/>
                <a:ea typeface="DejaVu Sans"/>
              </a:rPr>
              <a:t>s</a:t>
            </a:r>
            <a:r>
              <a:rPr lang="en-US" sz="1200" b="0" u="none" strike="noStrike">
                <a:solidFill>
                  <a:srgbClr val="000000"/>
                </a:solidFill>
                <a:effectLst/>
                <a:uFillTx/>
                <a:latin typeface="Arial"/>
                <a:ea typeface="DejaVu Sans"/>
              </a:rPr>
              <a:t>: similarity score between two embeddings</a:t>
            </a:r>
            <a:endParaRPr lang="en-AU" sz="1200" b="0" u="none" strike="noStrike">
              <a:solidFill>
                <a:srgbClr val="000000"/>
              </a:solidFill>
              <a:effectLst/>
              <a:uFillTx/>
              <a:latin typeface="Arial"/>
            </a:endParaRPr>
          </a:p>
          <a:p>
            <a:pPr>
              <a:lnSpc>
                <a:spcPct val="100000"/>
              </a:lnSpc>
            </a:pPr>
            <a:endParaRPr lang="en-AU" sz="1200" b="0" u="none" strike="noStrike">
              <a:solidFill>
                <a:srgbClr val="000000"/>
              </a:solidFill>
              <a:effectLst/>
              <a:uFillTx/>
              <a:latin typeface="Arial"/>
            </a:endParaRPr>
          </a:p>
          <a:p>
            <a:pPr marL="216000" indent="-216000">
              <a:lnSpc>
                <a:spcPct val="100000"/>
              </a:lnSpc>
              <a:buClr>
                <a:srgbClr val="000000"/>
              </a:buClr>
              <a:buSzPct val="45000"/>
              <a:buFont typeface="Wingdings" charset="2"/>
              <a:buChar char=""/>
            </a:pPr>
            <a:r>
              <a:rPr lang="en-US" sz="1200" b="1" u="none" strike="noStrike">
                <a:solidFill>
                  <a:srgbClr val="000000"/>
                </a:solidFill>
                <a:effectLst/>
                <a:uFillTx/>
                <a:latin typeface="Arial"/>
                <a:ea typeface="DejaVu Sans"/>
              </a:rPr>
              <a:t>b(Δt)</a:t>
            </a:r>
            <a:r>
              <a:rPr lang="en-US" sz="1200" b="0" u="none" strike="noStrike">
                <a:solidFill>
                  <a:srgbClr val="000000"/>
                </a:solidFill>
                <a:effectLst/>
                <a:uFillTx/>
                <a:latin typeface="Arial"/>
                <a:ea typeface="DejaVu Sans"/>
              </a:rPr>
              <a:t>: forgetting function</a:t>
            </a:r>
            <a:endParaRPr lang="en-AU" sz="1200" b="0" u="none" strike="noStrike">
              <a:solidFill>
                <a:srgbClr val="000000"/>
              </a:solidFill>
              <a:effectLst/>
              <a:uFillTx/>
              <a:latin typeface="Arial"/>
            </a:endParaRPr>
          </a:p>
          <a:p>
            <a:pPr>
              <a:lnSpc>
                <a:spcPct val="100000"/>
              </a:lnSpc>
            </a:pPr>
            <a:endParaRPr lang="en-AU" sz="1200" b="0" u="none" strike="noStrike">
              <a:solidFill>
                <a:srgbClr val="000000"/>
              </a:solidFill>
              <a:effectLst/>
              <a:uFillTx/>
              <a:latin typeface="Arial"/>
            </a:endParaRPr>
          </a:p>
          <a:p>
            <a:pPr marL="216000" indent="-216000">
              <a:lnSpc>
                <a:spcPct val="100000"/>
              </a:lnSpc>
              <a:buClr>
                <a:srgbClr val="000000"/>
              </a:buClr>
              <a:buSzPct val="45000"/>
              <a:buFont typeface="Wingdings" charset="2"/>
              <a:buChar char=""/>
            </a:pPr>
            <a:r>
              <a:rPr lang="en-US" sz="1200" b="1" u="none" strike="noStrike">
                <a:solidFill>
                  <a:srgbClr val="000000"/>
                </a:solidFill>
                <a:effectLst/>
                <a:uFillTx/>
                <a:latin typeface="Arial"/>
                <a:ea typeface="DejaVu Sans"/>
              </a:rPr>
              <a:t>α</a:t>
            </a:r>
            <a:r>
              <a:rPr lang="en-US" sz="1200" b="0" u="none" strike="noStrike">
                <a:solidFill>
                  <a:srgbClr val="000000"/>
                </a:solidFill>
                <a:effectLst/>
                <a:uFillTx/>
                <a:latin typeface="Arial"/>
                <a:ea typeface="DejaVu Sans"/>
              </a:rPr>
              <a:t>: attention weights</a:t>
            </a:r>
            <a:endParaRPr lang="en-AU" sz="1200" b="0" u="none" strike="noStrike">
              <a:solidFill>
                <a:srgbClr val="000000"/>
              </a:solidFill>
              <a:effectLst/>
              <a:uFillTx/>
              <a:latin typeface="Arial"/>
            </a:endParaRPr>
          </a:p>
          <a:p>
            <a:pPr>
              <a:lnSpc>
                <a:spcPct val="100000"/>
              </a:lnSpc>
            </a:pPr>
            <a:endParaRPr lang="en-AU" sz="1200" b="0" u="none" strike="noStrike">
              <a:solidFill>
                <a:srgbClr val="000000"/>
              </a:solidFill>
              <a:effectLst/>
              <a:uFillTx/>
              <a:latin typeface="Arial"/>
            </a:endParaRPr>
          </a:p>
          <a:p>
            <a:pPr marL="216000" indent="-216000">
              <a:lnSpc>
                <a:spcPct val="100000"/>
              </a:lnSpc>
              <a:buClr>
                <a:srgbClr val="000000"/>
              </a:buClr>
              <a:buSzPct val="45000"/>
              <a:buFont typeface="Wingdings" charset="2"/>
              <a:buChar char=""/>
            </a:pPr>
            <a:r>
              <a:rPr lang="en-US" sz="1200" b="1" u="none" strike="noStrike">
                <a:solidFill>
                  <a:srgbClr val="000000"/>
                </a:solidFill>
                <a:effectLst/>
                <a:uFillTx/>
                <a:latin typeface="Arial"/>
                <a:ea typeface="Noto Sans CJK SC"/>
              </a:rPr>
              <a:t>h</a:t>
            </a:r>
            <a:r>
              <a:rPr lang="en-US" sz="1200" b="0" u="none" strike="noStrike">
                <a:solidFill>
                  <a:srgbClr val="000000"/>
                </a:solidFill>
                <a:effectLst/>
                <a:uFillTx/>
                <a:latin typeface="Arial"/>
                <a:ea typeface="Noto Sans CJK SC"/>
              </a:rPr>
              <a:t>: query-conditioned student’s knowledge state</a:t>
            </a:r>
            <a:endParaRPr lang="en-AU" sz="1200" b="0" u="none" strike="noStrike">
              <a:solidFill>
                <a:srgbClr val="000000"/>
              </a:solidFill>
              <a:effectLst/>
              <a:uFillTx/>
              <a:latin typeface="Arial"/>
            </a:endParaRPr>
          </a:p>
          <a:p>
            <a:pPr>
              <a:lnSpc>
                <a:spcPct val="100000"/>
              </a:lnSpc>
            </a:pPr>
            <a:endParaRPr lang="en-AU" sz="1200" b="0" u="none" strike="noStrike">
              <a:solidFill>
                <a:srgbClr val="000000"/>
              </a:solidFill>
              <a:effectLst/>
              <a:uFillTx/>
              <a:latin typeface="Arial"/>
            </a:endParaRPr>
          </a:p>
          <a:p>
            <a:pPr marL="216000" indent="-216000">
              <a:lnSpc>
                <a:spcPct val="100000"/>
              </a:lnSpc>
              <a:buClr>
                <a:srgbClr val="000000"/>
              </a:buClr>
              <a:buSzPct val="45000"/>
              <a:buFont typeface="Wingdings" charset="2"/>
              <a:buChar char=""/>
            </a:pPr>
            <a:r>
              <a:rPr lang="en-US" sz="1200" b="1" u="none" strike="noStrike">
                <a:solidFill>
                  <a:srgbClr val="000000"/>
                </a:solidFill>
                <a:effectLst/>
                <a:uFillTx/>
                <a:latin typeface="Arial"/>
                <a:ea typeface="Noto Sans CJK SC"/>
              </a:rPr>
              <a:t>h4</a:t>
            </a:r>
            <a:r>
              <a:rPr lang="en-US" sz="1200" b="0" u="none" strike="noStrike">
                <a:solidFill>
                  <a:srgbClr val="000000"/>
                </a:solidFill>
                <a:effectLst/>
                <a:uFillTx/>
                <a:latin typeface="Arial"/>
                <a:ea typeface="Noto Sans CJK SC"/>
              </a:rPr>
              <a:t>: the student’s knowledge state for answering q1 at t = 4, given their history [(q1,right) (q3,wrong) (q2,right)]</a:t>
            </a:r>
            <a:endParaRPr lang="en-AU" sz="1200" b="0" u="none" strike="noStrike">
              <a:solidFill>
                <a:srgbClr val="000000"/>
              </a:solidFill>
              <a:effectLst/>
              <a:uFillTx/>
              <a:latin typeface="Arial"/>
            </a:endParaRPr>
          </a:p>
          <a:p>
            <a:pPr>
              <a:lnSpc>
                <a:spcPct val="100000"/>
              </a:lnSpc>
            </a:pPr>
            <a:endParaRPr lang="en-AU" sz="1200" b="0" u="none" strike="noStrike">
              <a:solidFill>
                <a:srgbClr val="000000"/>
              </a:solidFill>
              <a:effectLst/>
              <a:uFillTx/>
              <a:latin typeface="Arial"/>
            </a:endParaRPr>
          </a:p>
        </p:txBody>
      </p:sp>
      <p:sp>
        <p:nvSpPr>
          <p:cNvPr id="79" name=""/>
          <p:cNvSpPr/>
          <p:nvPr/>
        </p:nvSpPr>
        <p:spPr>
          <a:xfrm>
            <a:off x="900000" y="3240000"/>
            <a:ext cx="2337120" cy="465480"/>
          </a:xfrm>
          <a:prstGeom prst="rect">
            <a:avLst/>
          </a:prstGeom>
          <a:noFill/>
          <a:ln w="0">
            <a:noFill/>
          </a:ln>
        </p:spPr>
        <p:style>
          <a:lnRef idx="0"/>
          <a:fillRef idx="0"/>
          <a:effectRef idx="0"/>
          <a:fontRef idx="minor"/>
        </p:style>
        <p:txBody>
          <a:bodyPr lIns="90000" rIns="90000" tIns="45000" bIns="45000" anchor="t" anchorCtr="1">
            <a:spAutoFit/>
          </a:bodyPr>
          <a:p>
            <a:pPr algn="ctr">
              <a:lnSpc>
                <a:spcPct val="100000"/>
              </a:lnSpc>
            </a:pPr>
            <a:r>
              <a:rPr lang="en-US" sz="2600" b="0" u="none" strike="noStrike">
                <a:solidFill>
                  <a:srgbClr val="000000"/>
                </a:solidFill>
                <a:effectLst/>
                <a:uFillTx/>
                <a:latin typeface="Arial"/>
                <a:ea typeface="DejaVu Sans"/>
              </a:rPr>
              <a:t>Transformer</a:t>
            </a:r>
            <a:endParaRPr lang="en-AU" sz="2600" b="0" u="none" strike="noStrike">
              <a:solidFill>
                <a:srgbClr val="000000"/>
              </a:solidFill>
              <a:effectLst/>
              <a:uFillTx/>
              <a:latin typeface="Arial"/>
            </a:endParaRPr>
          </a:p>
        </p:txBody>
      </p:sp>
      <p:sp>
        <p:nvSpPr>
          <p:cNvPr id="80" name=""/>
          <p:cNvSpPr/>
          <p:nvPr/>
        </p:nvSpPr>
        <p:spPr>
          <a:xfrm>
            <a:off x="202680" y="4122360"/>
            <a:ext cx="5014440" cy="1194120"/>
          </a:xfrm>
          <a:prstGeom prst="rect">
            <a:avLst/>
          </a:prstGeom>
          <a:noFill/>
          <a:ln w="36000">
            <a:solidFill>
              <a:srgbClr val="5b277d"/>
            </a:solidFill>
            <a:prstDash val="sysDot"/>
            <a:round/>
          </a:ln>
        </p:spPr>
        <p:style>
          <a:lnRef idx="0"/>
          <a:fillRef idx="0"/>
          <a:effectRef idx="0"/>
          <a:fontRef idx="minor"/>
        </p:style>
        <p:txBody>
          <a:bodyPr lIns="108000" rIns="108000" tIns="63000" bIns="63000" anchor="t">
            <a:spAutoFit/>
          </a:bodyPr>
          <a:p>
            <a:pPr>
              <a:lnSpc>
                <a:spcPct val="100000"/>
              </a:lnSpc>
            </a:pPr>
            <a:r>
              <a:rPr lang="en-US" sz="1000" b="1" i="1" u="none" strike="noStrike">
                <a:solidFill>
                  <a:srgbClr val="000000"/>
                </a:solidFill>
                <a:effectLst/>
                <a:uFillTx/>
                <a:latin typeface="Arial"/>
                <a:ea typeface="DejaVu Sans"/>
              </a:rPr>
              <a:t>Encoder Only (As Above)</a:t>
            </a:r>
            <a:r>
              <a:rPr lang="en-US" sz="1000" b="0" i="1" u="none" strike="noStrike">
                <a:solidFill>
                  <a:srgbClr val="000000"/>
                </a:solidFill>
                <a:effectLst/>
                <a:uFillTx/>
                <a:latin typeface="Arial"/>
                <a:ea typeface="DejaVu Sans"/>
              </a:rPr>
              <a:t> -- Aritra Ghosh, Neil Heffernan, and Andrew S. Lan. 2020. Context-aware attentive knowledge tracing. In SIGKDD.</a:t>
            </a:r>
            <a:endParaRPr lang="en-AU" sz="1000" b="0" u="none" strike="noStrike">
              <a:solidFill>
                <a:srgbClr val="000000"/>
              </a:solidFill>
              <a:effectLst/>
              <a:uFillTx/>
              <a:latin typeface="Arial"/>
            </a:endParaRPr>
          </a:p>
          <a:p>
            <a:pPr>
              <a:lnSpc>
                <a:spcPct val="100000"/>
              </a:lnSpc>
            </a:pPr>
            <a:r>
              <a:rPr lang="en-US" sz="1000" b="0" i="1" u="none" strike="noStrike">
                <a:solidFill>
                  <a:srgbClr val="000000"/>
                </a:solidFill>
                <a:effectLst/>
                <a:uFillTx/>
                <a:latin typeface="Arial"/>
                <a:ea typeface="DejaVu Sans"/>
              </a:rPr>
              <a:t>2330–2339.</a:t>
            </a:r>
            <a:endParaRPr lang="en-AU" sz="1000" b="0" u="none" strike="noStrike">
              <a:solidFill>
                <a:srgbClr val="000000"/>
              </a:solidFill>
              <a:effectLst/>
              <a:uFillTx/>
              <a:latin typeface="Arial"/>
            </a:endParaRPr>
          </a:p>
          <a:p>
            <a:pPr>
              <a:lnSpc>
                <a:spcPct val="100000"/>
              </a:lnSpc>
            </a:pPr>
            <a:endParaRPr lang="en-AU" sz="1000" b="0" u="none" strike="noStrike">
              <a:solidFill>
                <a:srgbClr val="000000"/>
              </a:solidFill>
              <a:effectLst/>
              <a:uFillTx/>
              <a:latin typeface="Arial"/>
            </a:endParaRPr>
          </a:p>
          <a:p>
            <a:pPr>
              <a:lnSpc>
                <a:spcPct val="100000"/>
              </a:lnSpc>
            </a:pPr>
            <a:r>
              <a:rPr lang="en-US" sz="1000" b="1" i="1" u="none" strike="noStrike">
                <a:solidFill>
                  <a:srgbClr val="000000"/>
                </a:solidFill>
                <a:effectLst/>
                <a:uFillTx/>
                <a:latin typeface="Arial"/>
                <a:ea typeface="DejaVu Sans"/>
              </a:rPr>
              <a:t>Encoder-Decoder (Not Discussed Here)</a:t>
            </a:r>
            <a:r>
              <a:rPr lang="en-US" sz="1000" b="0" i="1" u="none" strike="noStrike">
                <a:solidFill>
                  <a:srgbClr val="000000"/>
                </a:solidFill>
                <a:effectLst/>
                <a:uFillTx/>
                <a:latin typeface="Arial"/>
                <a:ea typeface="DejaVu Sans"/>
              </a:rPr>
              <a:t> -- Dongmin Shin, Yugeun Shim, Hangyeol Yu, Seewoo Lee, Byungsoo Kim, and Youngduck Choi. 2021. SAINT+: Inte-</a:t>
            </a:r>
            <a:endParaRPr lang="en-AU" sz="1000" b="0" u="none" strike="noStrike">
              <a:solidFill>
                <a:srgbClr val="000000"/>
              </a:solidFill>
              <a:effectLst/>
              <a:uFillTx/>
              <a:latin typeface="Arial"/>
            </a:endParaRPr>
          </a:p>
          <a:p>
            <a:pPr>
              <a:lnSpc>
                <a:spcPct val="100000"/>
              </a:lnSpc>
            </a:pPr>
            <a:r>
              <a:rPr lang="en-US" sz="1000" b="0" i="1" u="none" strike="noStrike">
                <a:solidFill>
                  <a:srgbClr val="000000"/>
                </a:solidFill>
                <a:effectLst/>
                <a:uFillTx/>
                <a:latin typeface="Arial"/>
                <a:ea typeface="DejaVu Sans"/>
              </a:rPr>
              <a:t>grating temporal features for EdNet correctness prediction. In LAK. 490–496.</a:t>
            </a:r>
            <a:endParaRPr lang="en-AU" sz="1000" b="0" u="none" strike="noStrike">
              <a:solidFill>
                <a:srgbClr val="000000"/>
              </a:solidFill>
              <a:effectLst/>
              <a:uFillTx/>
              <a:latin typeface="Arial"/>
            </a:endParaRPr>
          </a:p>
        </p:txBody>
      </p:sp>
      <p:sp>
        <p:nvSpPr>
          <p:cNvPr id="2" name="PlaceHolder 1"/>
          <p:cNvSpPr>
            <a:spLocks noGrp="1"/>
          </p:cNvSpPr>
          <p:nvPr>
            <p:ph type="sldNum" idx="2"/>
          </p:nvPr>
        </p:nvSpPr>
        <p:spPr/>
        <p:txBody>
          <a:bodyPr/>
          <a:p>
            <a:fld id="{AE97656A-C96B-4797-B0DB-43D6578233AC}" type="slidenum">
              <a:t>17</a:t>
            </a:fld>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81" name=""/>
          <p:cNvPicPr/>
          <p:nvPr/>
        </p:nvPicPr>
        <p:blipFill>
          <a:blip r:embed="rId1"/>
          <a:stretch/>
        </p:blipFill>
        <p:spPr>
          <a:xfrm>
            <a:off x="284400" y="1440000"/>
            <a:ext cx="5112720" cy="3151440"/>
          </a:xfrm>
          <a:prstGeom prst="rect">
            <a:avLst/>
          </a:prstGeom>
          <a:noFill/>
          <a:ln w="0">
            <a:noFill/>
          </a:ln>
        </p:spPr>
      </p:pic>
      <p:sp>
        <p:nvSpPr>
          <p:cNvPr id="82" name="PlaceHolder 1"/>
          <p:cNvSpPr>
            <a:spLocks noGrp="1"/>
          </p:cNvSpPr>
          <p:nvPr>
            <p:ph type="title"/>
          </p:nvPr>
        </p:nvSpPr>
        <p:spPr>
          <a:xfrm>
            <a:off x="720000" y="357120"/>
            <a:ext cx="3957120" cy="676800"/>
          </a:xfrm>
          <a:prstGeom prst="rect">
            <a:avLst/>
          </a:prstGeom>
          <a:noFill/>
          <a:ln w="0">
            <a:noFill/>
          </a:ln>
        </p:spPr>
        <p:txBody>
          <a:bodyPr lIns="0" rIns="0" tIns="0" bIns="0" anchor="ctr">
            <a:spAutoFit/>
          </a:bodyPr>
          <a:p>
            <a:pPr indent="0" algn="ctr">
              <a:lnSpc>
                <a:spcPct val="100000"/>
              </a:lnSpc>
              <a:buNone/>
              <a:tabLst>
                <a:tab algn="l" pos="0"/>
              </a:tabLst>
            </a:pPr>
            <a:r>
              <a:rPr lang="en-US" sz="2600" b="0" u="none" strike="noStrike">
                <a:solidFill>
                  <a:srgbClr val="000000"/>
                </a:solidFill>
                <a:effectLst/>
                <a:uFillTx/>
                <a:latin typeface="Arial"/>
              </a:rPr>
              <a:t>Transformer (Analysis)</a:t>
            </a:r>
            <a:endParaRPr lang="en-AU" sz="2600" b="0" u="none" strike="noStrike">
              <a:solidFill>
                <a:srgbClr val="000000"/>
              </a:solidFill>
              <a:effectLst/>
              <a:uFillTx/>
              <a:latin typeface="Arial"/>
            </a:endParaRPr>
          </a:p>
        </p:txBody>
      </p:sp>
      <p:sp>
        <p:nvSpPr>
          <p:cNvPr id="83" name="PlaceHolder 2"/>
          <p:cNvSpPr>
            <a:spLocks noGrp="1"/>
          </p:cNvSpPr>
          <p:nvPr>
            <p:ph/>
          </p:nvPr>
        </p:nvSpPr>
        <p:spPr>
          <a:xfrm>
            <a:off x="5580000" y="720000"/>
            <a:ext cx="4137120" cy="4497120"/>
          </a:xfrm>
          <a:prstGeom prst="rect">
            <a:avLst/>
          </a:prstGeom>
          <a:noFill/>
          <a:ln w="0">
            <a:noFill/>
          </a:ln>
        </p:spPr>
        <p:txBody>
          <a:bodyPr lIns="0" rIns="0" tIns="0" bIns="0" anchor="t">
            <a:normAutofit fontScale="85000" lnSpcReduction="19999"/>
          </a:bodyPr>
          <a:p>
            <a:pPr indent="0">
              <a:lnSpc>
                <a:spcPct val="100000"/>
              </a:lnSpc>
              <a:spcBef>
                <a:spcPts val="1417"/>
              </a:spcBef>
              <a:buNone/>
              <a:tabLst>
                <a:tab algn="l" pos="0"/>
              </a:tabLst>
            </a:pPr>
            <a:r>
              <a:rPr lang="en-US" sz="1400" b="0" u="none" strike="noStrike">
                <a:solidFill>
                  <a:srgbClr val="000000"/>
                </a:solidFill>
                <a:effectLst/>
                <a:uFillTx/>
                <a:latin typeface="Arial"/>
              </a:rPr>
              <a:t>🤔 How does it model KCs?</a:t>
            </a:r>
            <a:endParaRPr lang="en-AU" sz="1400" b="0" u="none" strike="noStrike">
              <a:solidFill>
                <a:srgbClr val="000000"/>
              </a:solidFill>
              <a:effectLst/>
              <a:uFillTx/>
              <a:latin typeface="Arial"/>
            </a:endParaRPr>
          </a:p>
          <a:p>
            <a:pPr marL="432000" indent="-324000">
              <a:lnSpc>
                <a:spcPct val="100000"/>
              </a:lnSpc>
              <a:spcBef>
                <a:spcPts val="1417"/>
              </a:spcBef>
              <a:buClr>
                <a:srgbClr val="000000"/>
              </a:buClr>
              <a:buSzPct val="45000"/>
              <a:buFont typeface="Wingdings" charset="2"/>
              <a:buChar char=""/>
              <a:tabLst>
                <a:tab algn="l" pos="0"/>
              </a:tabLst>
            </a:pPr>
            <a:r>
              <a:rPr lang="en-US" sz="1400" b="1" u="none" strike="noStrike">
                <a:solidFill>
                  <a:srgbClr val="000000"/>
                </a:solidFill>
                <a:effectLst/>
                <a:uFillTx/>
                <a:latin typeface="Arial"/>
              </a:rPr>
              <a:t>Implicitly</a:t>
            </a:r>
            <a:r>
              <a:rPr lang="en-US" sz="1400" b="0" u="none" strike="noStrike">
                <a:solidFill>
                  <a:srgbClr val="000000"/>
                </a:solidFill>
                <a:effectLst/>
                <a:uFillTx/>
                <a:latin typeface="Arial"/>
              </a:rPr>
              <a:t> through embeddings</a:t>
            </a:r>
            <a:endParaRPr lang="en-AU" sz="1400" b="0" u="none" strike="noStrike">
              <a:solidFill>
                <a:srgbClr val="000000"/>
              </a:solidFill>
              <a:effectLst/>
              <a:uFillTx/>
              <a:latin typeface="Arial"/>
            </a:endParaRPr>
          </a:p>
          <a:p>
            <a:pPr indent="0">
              <a:lnSpc>
                <a:spcPct val="100000"/>
              </a:lnSpc>
              <a:spcBef>
                <a:spcPts val="1417"/>
              </a:spcBef>
              <a:buNone/>
              <a:tabLst>
                <a:tab algn="l" pos="0"/>
              </a:tabLst>
            </a:pPr>
            <a:r>
              <a:rPr lang="en-US" sz="1400" b="0" u="none" strike="noStrike">
                <a:solidFill>
                  <a:srgbClr val="000000"/>
                </a:solidFill>
                <a:effectLst/>
                <a:uFillTx/>
                <a:latin typeface="Arial"/>
              </a:rPr>
              <a:t>🤔 How does it model KC-KC relations?</a:t>
            </a:r>
            <a:endParaRPr lang="en-AU" sz="1400" b="0" u="none" strike="noStrike">
              <a:solidFill>
                <a:srgbClr val="000000"/>
              </a:solidFill>
              <a:effectLst/>
              <a:uFillTx/>
              <a:latin typeface="Arial"/>
            </a:endParaRPr>
          </a:p>
          <a:p>
            <a:pPr marL="432000" indent="-324000">
              <a:lnSpc>
                <a:spcPct val="100000"/>
              </a:lnSpc>
              <a:spcBef>
                <a:spcPts val="1417"/>
              </a:spcBef>
              <a:buClr>
                <a:srgbClr val="000000"/>
              </a:buClr>
              <a:buSzPct val="45000"/>
              <a:buFont typeface="Wingdings" charset="2"/>
              <a:buChar char=""/>
              <a:tabLst>
                <a:tab algn="l" pos="0"/>
              </a:tabLst>
            </a:pPr>
            <a:r>
              <a:rPr lang="en-US" sz="1400" b="1" u="none" strike="noStrike">
                <a:solidFill>
                  <a:srgbClr val="000000"/>
                </a:solidFill>
                <a:effectLst/>
                <a:uFillTx/>
                <a:latin typeface="Arial"/>
              </a:rPr>
              <a:t>Implicitly</a:t>
            </a:r>
            <a:r>
              <a:rPr lang="en-US" sz="1400" b="0" u="none" strike="noStrike">
                <a:solidFill>
                  <a:srgbClr val="000000"/>
                </a:solidFill>
                <a:effectLst/>
                <a:uFillTx/>
                <a:latin typeface="Arial"/>
              </a:rPr>
              <a:t> through attention weights</a:t>
            </a:r>
            <a:endParaRPr lang="en-AU" sz="1400" b="0" u="none" strike="noStrike">
              <a:solidFill>
                <a:srgbClr val="000000"/>
              </a:solidFill>
              <a:effectLst/>
              <a:uFillTx/>
              <a:latin typeface="Arial"/>
            </a:endParaRPr>
          </a:p>
          <a:p>
            <a:pPr marL="432000" indent="-324000">
              <a:lnSpc>
                <a:spcPct val="100000"/>
              </a:lnSpc>
              <a:spcBef>
                <a:spcPts val="1417"/>
              </a:spcBef>
              <a:buClr>
                <a:srgbClr val="000000"/>
              </a:buClr>
              <a:buSzPct val="45000"/>
              <a:buFont typeface="Wingdings" charset="2"/>
              <a:buChar char=""/>
              <a:tabLst>
                <a:tab algn="l" pos="0"/>
              </a:tabLst>
            </a:pPr>
            <a:r>
              <a:rPr lang="en-US" sz="1400" b="0" u="none" strike="noStrike">
                <a:solidFill>
                  <a:srgbClr val="000000"/>
                </a:solidFill>
                <a:effectLst/>
                <a:uFillTx/>
                <a:latin typeface="Arial"/>
              </a:rPr>
              <a:t>Historical questions with hidden KCs relevant to the KCs in the query question may be attended more.</a:t>
            </a:r>
            <a:endParaRPr lang="en-AU" sz="1400" b="0" u="none" strike="noStrike">
              <a:solidFill>
                <a:srgbClr val="000000"/>
              </a:solidFill>
              <a:effectLst/>
              <a:uFillTx/>
              <a:latin typeface="Arial"/>
            </a:endParaRPr>
          </a:p>
          <a:p>
            <a:pPr indent="0">
              <a:lnSpc>
                <a:spcPct val="100000"/>
              </a:lnSpc>
              <a:spcBef>
                <a:spcPts val="1417"/>
              </a:spcBef>
              <a:buNone/>
              <a:tabLst>
                <a:tab algn="l" pos="0"/>
              </a:tabLst>
            </a:pPr>
            <a:r>
              <a:rPr lang="en-US" sz="1400" b="0" u="none" strike="noStrike">
                <a:solidFill>
                  <a:srgbClr val="000000"/>
                </a:solidFill>
                <a:effectLst/>
                <a:uFillTx/>
                <a:latin typeface="Arial"/>
              </a:rPr>
              <a:t>🤔 How does it model the learning of KCs?</a:t>
            </a:r>
            <a:endParaRPr lang="en-AU" sz="1400" b="0" u="none" strike="noStrike">
              <a:solidFill>
                <a:srgbClr val="000000"/>
              </a:solidFill>
              <a:effectLst/>
              <a:uFillTx/>
              <a:latin typeface="Arial"/>
            </a:endParaRPr>
          </a:p>
          <a:p>
            <a:pPr marL="432000" indent="-324000">
              <a:lnSpc>
                <a:spcPct val="100000"/>
              </a:lnSpc>
              <a:spcBef>
                <a:spcPts val="1191"/>
              </a:spcBef>
              <a:spcAft>
                <a:spcPts val="992"/>
              </a:spcAft>
              <a:buClr>
                <a:srgbClr val="000000"/>
              </a:buClr>
              <a:buSzPct val="45000"/>
              <a:buFont typeface="Wingdings" charset="2"/>
              <a:buChar char=""/>
              <a:tabLst>
                <a:tab algn="l" pos="0"/>
              </a:tabLst>
            </a:pPr>
            <a:r>
              <a:rPr lang="en-US" sz="1400" b="1" u="none" strike="noStrike">
                <a:solidFill>
                  <a:srgbClr val="000000"/>
                </a:solidFill>
                <a:effectLst/>
                <a:uFillTx/>
                <a:latin typeface="Arial"/>
              </a:rPr>
              <a:t>Implicitly</a:t>
            </a:r>
            <a:r>
              <a:rPr lang="en-US" sz="1400" b="0" u="none" strike="noStrike">
                <a:solidFill>
                  <a:srgbClr val="000000"/>
                </a:solidFill>
                <a:effectLst/>
                <a:uFillTx/>
                <a:latin typeface="Arial"/>
              </a:rPr>
              <a:t> through attention mechanism.</a:t>
            </a:r>
            <a:endParaRPr lang="en-AU" sz="1400" b="0" u="none" strike="noStrike">
              <a:solidFill>
                <a:srgbClr val="000000"/>
              </a:solidFill>
              <a:effectLst/>
              <a:uFillTx/>
              <a:latin typeface="Arial"/>
            </a:endParaRPr>
          </a:p>
          <a:p>
            <a:pPr marL="432000" indent="-324000">
              <a:lnSpc>
                <a:spcPct val="100000"/>
              </a:lnSpc>
              <a:spcBef>
                <a:spcPts val="1191"/>
              </a:spcBef>
              <a:spcAft>
                <a:spcPts val="992"/>
              </a:spcAft>
              <a:buClr>
                <a:srgbClr val="000000"/>
              </a:buClr>
              <a:buSzPct val="45000"/>
              <a:buFont typeface="Wingdings" charset="2"/>
              <a:buChar char=""/>
              <a:tabLst>
                <a:tab algn="l" pos="0"/>
              </a:tabLst>
            </a:pPr>
            <a:r>
              <a:rPr lang="en-US" sz="1400" b="0" u="none" strike="noStrike">
                <a:solidFill>
                  <a:srgbClr val="000000"/>
                </a:solidFill>
                <a:effectLst/>
                <a:uFillTx/>
                <a:latin typeface="Arial"/>
              </a:rPr>
              <a:t>How much information each past interaction contributes to the next prediction?</a:t>
            </a:r>
            <a:endParaRPr lang="en-AU" sz="1400" b="0" u="none" strike="noStrike">
              <a:solidFill>
                <a:srgbClr val="000000"/>
              </a:solidFill>
              <a:effectLst/>
              <a:uFillTx/>
              <a:latin typeface="Arial"/>
            </a:endParaRPr>
          </a:p>
          <a:p>
            <a:pPr indent="0">
              <a:lnSpc>
                <a:spcPct val="100000"/>
              </a:lnSpc>
              <a:spcBef>
                <a:spcPts val="1417"/>
              </a:spcBef>
              <a:buNone/>
              <a:tabLst>
                <a:tab algn="l" pos="0"/>
              </a:tabLst>
            </a:pPr>
            <a:r>
              <a:rPr lang="en-US" sz="1400" b="0" u="none" strike="noStrike">
                <a:solidFill>
                  <a:srgbClr val="000000"/>
                </a:solidFill>
                <a:effectLst/>
                <a:uFillTx/>
                <a:latin typeface="Arial"/>
              </a:rPr>
              <a:t>🤔 How does it model the forgetting of KCs?</a:t>
            </a:r>
            <a:endParaRPr lang="en-AU" sz="1400" b="0" u="none" strike="noStrike">
              <a:solidFill>
                <a:srgbClr val="000000"/>
              </a:solidFill>
              <a:effectLst/>
              <a:uFillTx/>
              <a:latin typeface="Arial"/>
            </a:endParaRPr>
          </a:p>
          <a:p>
            <a:pPr marL="432000" indent="-324000">
              <a:lnSpc>
                <a:spcPct val="100000"/>
              </a:lnSpc>
              <a:spcBef>
                <a:spcPts val="1191"/>
              </a:spcBef>
              <a:spcAft>
                <a:spcPts val="992"/>
              </a:spcAft>
              <a:buClr>
                <a:srgbClr val="000000"/>
              </a:buClr>
              <a:buSzPct val="45000"/>
              <a:buFont typeface="Wingdings" charset="2"/>
              <a:buChar char=""/>
              <a:tabLst>
                <a:tab algn="l" pos="0"/>
              </a:tabLst>
            </a:pPr>
            <a:r>
              <a:rPr lang="en-US" sz="1400" b="1" u="none" strike="noStrike">
                <a:solidFill>
                  <a:srgbClr val="000000"/>
                </a:solidFill>
                <a:effectLst/>
                <a:uFillTx/>
                <a:latin typeface="Arial"/>
              </a:rPr>
              <a:t>Explicitly</a:t>
            </a:r>
            <a:r>
              <a:rPr lang="en-US" sz="1400" b="0" u="none" strike="noStrike">
                <a:solidFill>
                  <a:srgbClr val="000000"/>
                </a:solidFill>
                <a:effectLst/>
                <a:uFillTx/>
                <a:latin typeface="Arial"/>
              </a:rPr>
              <a:t> through forgetting functions</a:t>
            </a:r>
            <a:endParaRPr lang="en-AU" sz="1400" b="0" u="none" strike="noStrike">
              <a:solidFill>
                <a:srgbClr val="000000"/>
              </a:solidFill>
              <a:effectLst/>
              <a:uFillTx/>
              <a:latin typeface="Arial"/>
            </a:endParaRPr>
          </a:p>
          <a:p>
            <a:pPr indent="0">
              <a:lnSpc>
                <a:spcPct val="100000"/>
              </a:lnSpc>
              <a:spcBef>
                <a:spcPts val="1417"/>
              </a:spcBef>
              <a:buNone/>
              <a:tabLst>
                <a:tab algn="l" pos="0"/>
              </a:tabLst>
            </a:pPr>
            <a:r>
              <a:rPr lang="en-US" sz="1400" b="0" u="none" strike="noStrike">
                <a:solidFill>
                  <a:srgbClr val="000000"/>
                </a:solidFill>
                <a:effectLst/>
                <a:uFillTx/>
                <a:latin typeface="Arial"/>
              </a:rPr>
              <a:t>🤔 How does it model the student’s knowledge state?</a:t>
            </a:r>
            <a:endParaRPr lang="en-AU" sz="1400" b="0" u="none" strike="noStrike">
              <a:solidFill>
                <a:srgbClr val="000000"/>
              </a:solidFill>
              <a:effectLst/>
              <a:uFillTx/>
              <a:latin typeface="Arial"/>
            </a:endParaRPr>
          </a:p>
          <a:p>
            <a:pPr marL="432000" indent="-324000">
              <a:lnSpc>
                <a:spcPct val="100000"/>
              </a:lnSpc>
              <a:spcBef>
                <a:spcPts val="1417"/>
              </a:spcBef>
              <a:buClr>
                <a:srgbClr val="000000"/>
              </a:buClr>
              <a:buSzPct val="45000"/>
              <a:buFont typeface="Wingdings" charset="2"/>
              <a:buChar char=""/>
              <a:tabLst>
                <a:tab algn="l" pos="0"/>
              </a:tabLst>
            </a:pPr>
            <a:r>
              <a:rPr lang="en-US" sz="1400" b="0" u="none" strike="noStrike">
                <a:solidFill>
                  <a:srgbClr val="000000"/>
                </a:solidFill>
                <a:effectLst/>
                <a:uFillTx/>
                <a:latin typeface="Arial"/>
              </a:rPr>
              <a:t>The student’s global knowledge state is </a:t>
            </a:r>
            <a:r>
              <a:rPr lang="en-US" sz="1400" b="1" u="none" strike="noStrike">
                <a:solidFill>
                  <a:srgbClr val="000000"/>
                </a:solidFill>
                <a:effectLst/>
                <a:uFillTx/>
                <a:latin typeface="Arial"/>
              </a:rPr>
              <a:t>implicit</a:t>
            </a:r>
            <a:endParaRPr lang="en-AU" sz="1400" b="0" u="none" strike="noStrike">
              <a:solidFill>
                <a:srgbClr val="000000"/>
              </a:solidFill>
              <a:effectLst/>
              <a:uFillTx/>
              <a:latin typeface="Arial"/>
            </a:endParaRPr>
          </a:p>
          <a:p>
            <a:pPr marL="432000" indent="-324000">
              <a:lnSpc>
                <a:spcPct val="100000"/>
              </a:lnSpc>
              <a:spcBef>
                <a:spcPts val="1417"/>
              </a:spcBef>
              <a:buClr>
                <a:srgbClr val="000000"/>
              </a:buClr>
              <a:buSzPct val="45000"/>
              <a:buFont typeface="Wingdings" charset="2"/>
              <a:buChar char=""/>
              <a:tabLst>
                <a:tab algn="l" pos="0"/>
              </a:tabLst>
            </a:pPr>
            <a:r>
              <a:rPr lang="en-US" sz="1400" b="0" u="none" strike="noStrike">
                <a:solidFill>
                  <a:srgbClr val="000000"/>
                </a:solidFill>
                <a:effectLst/>
                <a:uFillTx/>
                <a:latin typeface="Arial"/>
              </a:rPr>
              <a:t>The query-conditioned knowledge state is</a:t>
            </a:r>
            <a:endParaRPr lang="en-AU" sz="1400" b="0" u="none" strike="noStrike">
              <a:solidFill>
                <a:srgbClr val="000000"/>
              </a:solidFill>
              <a:effectLst/>
              <a:uFillTx/>
              <a:latin typeface="Arial"/>
            </a:endParaRPr>
          </a:p>
          <a:p>
            <a:pPr marL="432000" indent="0">
              <a:lnSpc>
                <a:spcPct val="100000"/>
              </a:lnSpc>
              <a:spcBef>
                <a:spcPts val="1417"/>
              </a:spcBef>
              <a:buNone/>
              <a:tabLst>
                <a:tab algn="l" pos="0"/>
              </a:tabLst>
            </a:pPr>
            <a:r>
              <a:rPr lang="en-US" sz="1400" b="0" u="none" strike="noStrike">
                <a:solidFill>
                  <a:srgbClr val="000000"/>
                </a:solidFill>
                <a:effectLst/>
                <a:uFillTx/>
                <a:latin typeface="Arial"/>
              </a:rPr>
              <a:t>modelled </a:t>
            </a:r>
            <a:r>
              <a:rPr lang="en-US" sz="1400" b="1" u="none" strike="noStrike">
                <a:solidFill>
                  <a:srgbClr val="000000"/>
                </a:solidFill>
                <a:effectLst/>
                <a:uFillTx/>
                <a:latin typeface="Arial"/>
              </a:rPr>
              <a:t>explicitly</a:t>
            </a:r>
            <a:r>
              <a:rPr lang="en-US" sz="1400" b="0" u="none" strike="noStrike">
                <a:solidFill>
                  <a:srgbClr val="000000"/>
                </a:solidFill>
                <a:effectLst/>
                <a:uFillTx/>
                <a:latin typeface="Arial"/>
              </a:rPr>
              <a:t> as a vector embedding.</a:t>
            </a:r>
            <a:endParaRPr lang="en-AU" sz="1400" b="0" u="none" strike="noStrike">
              <a:solidFill>
                <a:srgbClr val="000000"/>
              </a:solidFill>
              <a:effectLst/>
              <a:uFillTx/>
              <a:latin typeface="Arial"/>
            </a:endParaRPr>
          </a:p>
          <a:p>
            <a:pPr marL="432000" indent="0">
              <a:lnSpc>
                <a:spcPct val="100000"/>
              </a:lnSpc>
              <a:spcBef>
                <a:spcPts val="1417"/>
              </a:spcBef>
              <a:buNone/>
              <a:tabLst>
                <a:tab algn="l" pos="0"/>
              </a:tabLst>
            </a:pPr>
            <a:endParaRPr lang="en-AU" sz="1400" b="0" u="none" strike="noStrike">
              <a:solidFill>
                <a:srgbClr val="000000"/>
              </a:solidFill>
              <a:effectLst/>
              <a:uFillTx/>
              <a:latin typeface="Arial"/>
            </a:endParaRPr>
          </a:p>
        </p:txBody>
      </p:sp>
      <p:sp>
        <p:nvSpPr>
          <p:cNvPr id="4" name="PlaceHolder 3"/>
          <p:cNvSpPr>
            <a:spLocks noGrp="1"/>
          </p:cNvSpPr>
          <p:nvPr>
            <p:ph type="sldNum" idx="2"/>
          </p:nvPr>
        </p:nvSpPr>
        <p:spPr/>
        <p:txBody>
          <a:bodyPr/>
          <a:p>
            <a:fld id="{7E74F2DD-B1C1-48E8-9E4B-34AE6F39A430}" type="slidenum">
              <a:t>18</a:t>
            </a:fld>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4" name="PlaceHolder 1"/>
          <p:cNvSpPr>
            <a:spLocks noGrp="1"/>
          </p:cNvSpPr>
          <p:nvPr>
            <p:ph type="title"/>
          </p:nvPr>
        </p:nvSpPr>
        <p:spPr>
          <a:xfrm>
            <a:off x="504000" y="223200"/>
            <a:ext cx="9068760" cy="949320"/>
          </a:xfrm>
          <a:prstGeom prst="rect">
            <a:avLst/>
          </a:prstGeom>
          <a:noFill/>
          <a:ln w="0">
            <a:noFill/>
          </a:ln>
        </p:spPr>
        <p:txBody>
          <a:bodyPr lIns="0" rIns="0" tIns="0" bIns="0" anchor="ctr">
            <a:spAutoFit/>
          </a:bodyPr>
          <a:p>
            <a:pPr indent="0" algn="ctr">
              <a:lnSpc>
                <a:spcPct val="100000"/>
              </a:lnSpc>
              <a:buNone/>
              <a:tabLst>
                <a:tab algn="l" pos="0"/>
              </a:tabLst>
            </a:pPr>
            <a:r>
              <a:rPr lang="en-US" sz="4000" b="0" u="none" strike="noStrike">
                <a:solidFill>
                  <a:srgbClr val="000000"/>
                </a:solidFill>
                <a:effectLst/>
                <a:uFillTx/>
                <a:latin typeface="Arial"/>
              </a:rPr>
              <a:t>Model Architectures Visited So Far</a:t>
            </a:r>
            <a:endParaRPr lang="en-AU" sz="4000" b="0" u="none" strike="noStrike">
              <a:solidFill>
                <a:srgbClr val="000000"/>
              </a:solidFill>
              <a:effectLst/>
              <a:uFillTx/>
              <a:latin typeface="Arial"/>
            </a:endParaRPr>
          </a:p>
        </p:txBody>
      </p:sp>
      <p:graphicFrame>
        <p:nvGraphicFramePr>
          <p:cNvPr id="85" name=""/>
          <p:cNvGraphicFramePr/>
          <p:nvPr/>
        </p:nvGraphicFramePr>
        <p:xfrm>
          <a:off x="413280" y="1927080"/>
          <a:ext cx="9032040" cy="2971080"/>
        </p:xfrm>
        <a:graphic>
          <a:graphicData uri="http://schemas.openxmlformats.org/drawingml/2006/table">
            <a:tbl>
              <a:tblPr/>
              <a:tblGrid>
                <a:gridCol w="1505520"/>
                <a:gridCol w="1505520"/>
                <a:gridCol w="1505520"/>
                <a:gridCol w="1510560"/>
                <a:gridCol w="1500480"/>
                <a:gridCol w="1504800"/>
              </a:tblGrid>
              <a:tr h="346320">
                <a:tc>
                  <a:txBody>
                    <a:bodyPr lIns="36000" rIns="36000" tIns="36000" bIns="36000" anchor="t">
                      <a:noAutofit/>
                    </a:bodyPr>
                    <a:p>
                      <a:pPr algn="ctr">
                        <a:lnSpc>
                          <a:spcPct val="100000"/>
                        </a:lnSpc>
                        <a:tabLst>
                          <a:tab algn="l" pos="0"/>
                        </a:tabLst>
                      </a:pPr>
                      <a:r>
                        <a:rPr lang="en-US" sz="1300" b="0" u="none" strike="noStrike">
                          <a:solidFill>
                            <a:srgbClr val="000000"/>
                          </a:solidFill>
                          <a:effectLst/>
                          <a:uFillTx/>
                          <a:latin typeface="Arial"/>
                        </a:rPr>
                        <a:t>Architecture</a:t>
                      </a:r>
                      <a:endParaRPr lang="en-AU" sz="13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tabLst>
                          <a:tab algn="l" pos="0"/>
                        </a:tabLst>
                      </a:pPr>
                      <a:r>
                        <a:rPr lang="en-US" sz="1300" b="0" u="none" strike="noStrike">
                          <a:solidFill>
                            <a:srgbClr val="000000"/>
                          </a:solidFill>
                          <a:effectLst/>
                          <a:uFillTx/>
                          <a:latin typeface="Arial"/>
                        </a:rPr>
                        <a:t>KCs</a:t>
                      </a:r>
                      <a:endParaRPr lang="en-AU" sz="13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tabLst>
                          <a:tab algn="l" pos="0"/>
                        </a:tabLst>
                      </a:pPr>
                      <a:r>
                        <a:rPr lang="en-US" sz="1300" b="0" u="none" strike="noStrike">
                          <a:solidFill>
                            <a:srgbClr val="000000"/>
                          </a:solidFill>
                          <a:effectLst/>
                          <a:uFillTx/>
                          <a:latin typeface="Arial"/>
                        </a:rPr>
                        <a:t>KC-KC Relations</a:t>
                      </a:r>
                      <a:endParaRPr lang="en-AU" sz="13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tabLst>
                          <a:tab algn="l" pos="0"/>
                        </a:tabLst>
                      </a:pPr>
                      <a:r>
                        <a:rPr lang="en-US" sz="1300" b="0" u="none" strike="noStrike">
                          <a:solidFill>
                            <a:srgbClr val="000000"/>
                          </a:solidFill>
                          <a:effectLst/>
                          <a:uFillTx/>
                          <a:latin typeface="Arial"/>
                        </a:rPr>
                        <a:t>Leaning of KCs</a:t>
                      </a:r>
                      <a:endParaRPr lang="en-AU" sz="13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tabLst>
                          <a:tab algn="l" pos="0"/>
                        </a:tabLst>
                      </a:pPr>
                      <a:r>
                        <a:rPr lang="en-US" sz="1300" b="0" u="none" strike="noStrike">
                          <a:solidFill>
                            <a:srgbClr val="000000"/>
                          </a:solidFill>
                          <a:effectLst/>
                          <a:uFillTx/>
                          <a:latin typeface="Arial"/>
                        </a:rPr>
                        <a:t>Time-Based Forgetting of KCs</a:t>
                      </a:r>
                      <a:endParaRPr lang="en-AU" sz="13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tabLst>
                          <a:tab algn="l" pos="0"/>
                        </a:tabLst>
                      </a:pPr>
                      <a:r>
                        <a:rPr lang="en-US" sz="1300" b="0" u="none" strike="noStrike">
                          <a:solidFill>
                            <a:srgbClr val="000000"/>
                          </a:solidFill>
                          <a:effectLst/>
                          <a:uFillTx/>
                          <a:latin typeface="Arial"/>
                        </a:rPr>
                        <a:t>Student’s Knowledge State</a:t>
                      </a:r>
                      <a:endParaRPr lang="en-AU" sz="13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r>
              <a:tr h="698040">
                <a:tc>
                  <a:txBody>
                    <a:bodyPr lIns="36000" rIns="36000" tIns="36000" bIns="36000" anchor="t">
                      <a:noAutofit/>
                    </a:bodyPr>
                    <a:p>
                      <a:pPr algn="ctr">
                        <a:lnSpc>
                          <a:spcPct val="100000"/>
                        </a:lnSpc>
                        <a:tabLst>
                          <a:tab algn="l" pos="0"/>
                        </a:tabLst>
                      </a:pPr>
                      <a:r>
                        <a:rPr lang="en-US" sz="1300" b="0" u="none" strike="noStrike">
                          <a:solidFill>
                            <a:srgbClr val="000000"/>
                          </a:solidFill>
                          <a:effectLst/>
                          <a:uFillTx/>
                          <a:latin typeface="Arial"/>
                        </a:rPr>
                        <a:t>Graph Neural Network</a:t>
                      </a:r>
                      <a:endParaRPr lang="en-AU" sz="13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tabLst>
                          <a:tab algn="l" pos="0"/>
                        </a:tabLst>
                      </a:pPr>
                      <a:r>
                        <a:rPr lang="en-US" sz="1300" b="1" u="none" strike="noStrike">
                          <a:solidFill>
                            <a:srgbClr val="000000"/>
                          </a:solidFill>
                          <a:effectLst/>
                          <a:uFillTx/>
                          <a:latin typeface="Arial"/>
                        </a:rPr>
                        <a:t>Explicit</a:t>
                      </a:r>
                      <a:r>
                        <a:rPr lang="en-US" sz="1300" b="0" u="none" strike="noStrike">
                          <a:solidFill>
                            <a:srgbClr val="000000"/>
                          </a:solidFill>
                          <a:effectLst/>
                          <a:uFillTx/>
                          <a:latin typeface="Arial"/>
                        </a:rPr>
                        <a:t> as Nodes</a:t>
                      </a:r>
                      <a:endParaRPr lang="en-AU" sz="13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tabLst>
                          <a:tab algn="l" pos="0"/>
                        </a:tabLst>
                      </a:pPr>
                      <a:r>
                        <a:rPr lang="en-US" sz="1300" b="1" u="none" strike="noStrike">
                          <a:solidFill>
                            <a:srgbClr val="000000"/>
                          </a:solidFill>
                          <a:effectLst/>
                          <a:uFillTx/>
                          <a:latin typeface="Arial"/>
                        </a:rPr>
                        <a:t>Explicit</a:t>
                      </a:r>
                      <a:r>
                        <a:rPr lang="en-US" sz="1300" b="0" u="none" strike="noStrike">
                          <a:solidFill>
                            <a:srgbClr val="000000"/>
                          </a:solidFill>
                          <a:effectLst/>
                          <a:uFillTx/>
                          <a:latin typeface="Arial"/>
                        </a:rPr>
                        <a:t> as Edges</a:t>
                      </a:r>
                      <a:endParaRPr lang="en-AU" sz="13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tabLst>
                          <a:tab algn="l" pos="0"/>
                        </a:tabLst>
                      </a:pPr>
                      <a:r>
                        <a:rPr lang="en-US" sz="1300" b="1" u="none" strike="noStrike">
                          <a:solidFill>
                            <a:srgbClr val="000000"/>
                          </a:solidFill>
                          <a:effectLst/>
                          <a:uFillTx/>
                          <a:latin typeface="Arial"/>
                        </a:rPr>
                        <a:t>Explicit</a:t>
                      </a:r>
                      <a:r>
                        <a:rPr lang="en-US" sz="1300" b="0" u="none" strike="noStrike">
                          <a:solidFill>
                            <a:srgbClr val="000000"/>
                          </a:solidFill>
                          <a:effectLst/>
                          <a:uFillTx/>
                          <a:latin typeface="Arial"/>
                        </a:rPr>
                        <a:t> via node update + message passing</a:t>
                      </a:r>
                      <a:endParaRPr lang="en-AU" sz="13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tabLst>
                          <a:tab algn="l" pos="0"/>
                        </a:tabLst>
                      </a:pPr>
                      <a:r>
                        <a:rPr lang="en-US" sz="1300" b="1" u="none" strike="noStrike">
                          <a:solidFill>
                            <a:srgbClr val="000000"/>
                          </a:solidFill>
                          <a:effectLst/>
                          <a:uFillTx/>
                          <a:latin typeface="Arial"/>
                        </a:rPr>
                        <a:t>Explicit</a:t>
                      </a:r>
                      <a:r>
                        <a:rPr lang="en-US" sz="1300" b="0" u="none" strike="noStrike">
                          <a:solidFill>
                            <a:srgbClr val="000000"/>
                          </a:solidFill>
                          <a:effectLst/>
                          <a:uFillTx/>
                          <a:latin typeface="Arial"/>
                        </a:rPr>
                        <a:t> via Forgetting Functions</a:t>
                      </a:r>
                      <a:endParaRPr lang="en-AU" sz="13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tabLst>
                          <a:tab algn="l" pos="0"/>
                        </a:tabLst>
                      </a:pPr>
                      <a:r>
                        <a:rPr lang="en-US" sz="1300" b="1" u="none" strike="noStrike">
                          <a:solidFill>
                            <a:srgbClr val="000000"/>
                          </a:solidFill>
                          <a:effectLst/>
                          <a:uFillTx/>
                          <a:latin typeface="Arial"/>
                        </a:rPr>
                        <a:t>Explicit</a:t>
                      </a:r>
                      <a:r>
                        <a:rPr lang="en-US" sz="1300" b="0" u="none" strike="noStrike">
                          <a:solidFill>
                            <a:srgbClr val="000000"/>
                          </a:solidFill>
                          <a:effectLst/>
                          <a:uFillTx/>
                          <a:latin typeface="Arial"/>
                        </a:rPr>
                        <a:t> as a Graph</a:t>
                      </a:r>
                      <a:endParaRPr lang="en-AU" sz="13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r>
              <a:tr h="346320">
                <a:tc>
                  <a:txBody>
                    <a:bodyPr lIns="36000" rIns="36000" tIns="36000" bIns="36000" anchor="t">
                      <a:noAutofit/>
                    </a:bodyPr>
                    <a:p>
                      <a:pPr algn="ctr">
                        <a:lnSpc>
                          <a:spcPct val="100000"/>
                        </a:lnSpc>
                        <a:tabLst>
                          <a:tab algn="l" pos="0"/>
                        </a:tabLst>
                      </a:pPr>
                      <a:r>
                        <a:rPr lang="en-US" sz="1300" b="0" u="none" strike="noStrike">
                          <a:solidFill>
                            <a:srgbClr val="000000"/>
                          </a:solidFill>
                          <a:effectLst/>
                          <a:uFillTx/>
                          <a:latin typeface="Arial"/>
                        </a:rPr>
                        <a:t>Key-Value Memory Network</a:t>
                      </a:r>
                      <a:endParaRPr lang="en-AU" sz="13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tabLst>
                          <a:tab algn="l" pos="0"/>
                        </a:tabLst>
                      </a:pPr>
                      <a:r>
                        <a:rPr lang="en-US" sz="1300" b="1" u="none" strike="noStrike">
                          <a:solidFill>
                            <a:srgbClr val="000000"/>
                          </a:solidFill>
                          <a:effectLst/>
                          <a:uFillTx/>
                          <a:latin typeface="Arial"/>
                        </a:rPr>
                        <a:t>Explicit</a:t>
                      </a:r>
                      <a:r>
                        <a:rPr lang="en-US" sz="1300" b="0" u="none" strike="noStrike">
                          <a:solidFill>
                            <a:srgbClr val="000000"/>
                          </a:solidFill>
                          <a:effectLst/>
                          <a:uFillTx/>
                          <a:latin typeface="Arial"/>
                        </a:rPr>
                        <a:t> as Keys</a:t>
                      </a:r>
                      <a:endParaRPr lang="en-AU" sz="13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tabLst>
                          <a:tab algn="l" pos="0"/>
                        </a:tabLst>
                      </a:pPr>
                      <a:r>
                        <a:rPr lang="en-US" sz="1300" b="0" u="none" strike="noStrike">
                          <a:solidFill>
                            <a:srgbClr val="000000"/>
                          </a:solidFill>
                          <a:effectLst/>
                          <a:uFillTx/>
                          <a:latin typeface="Arial"/>
                        </a:rPr>
                        <a:t>---------</a:t>
                      </a:r>
                      <a:endParaRPr lang="en-AU" sz="13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tabLst>
                          <a:tab algn="l" pos="0"/>
                        </a:tabLst>
                      </a:pPr>
                      <a:r>
                        <a:rPr lang="en-US" sz="1300" b="1" u="none" strike="noStrike">
                          <a:solidFill>
                            <a:srgbClr val="000000"/>
                          </a:solidFill>
                          <a:effectLst/>
                          <a:uFillTx/>
                          <a:latin typeface="Arial"/>
                        </a:rPr>
                        <a:t>Explicit</a:t>
                      </a:r>
                      <a:r>
                        <a:rPr lang="en-US" sz="1300" b="0" u="none" strike="noStrike">
                          <a:solidFill>
                            <a:srgbClr val="000000"/>
                          </a:solidFill>
                          <a:effectLst/>
                          <a:uFillTx/>
                          <a:latin typeface="Arial"/>
                        </a:rPr>
                        <a:t> via erase-add update</a:t>
                      </a:r>
                      <a:endParaRPr lang="en-AU" sz="13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tabLst>
                          <a:tab algn="l" pos="0"/>
                        </a:tabLst>
                      </a:pPr>
                      <a:r>
                        <a:rPr lang="en-US" sz="1300" b="0" u="none" strike="noStrike">
                          <a:solidFill>
                            <a:srgbClr val="000000"/>
                          </a:solidFill>
                          <a:effectLst/>
                          <a:uFillTx/>
                          <a:latin typeface="Arial"/>
                        </a:rPr>
                        <a:t>---------</a:t>
                      </a:r>
                      <a:endParaRPr lang="en-AU" sz="13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tabLst>
                          <a:tab algn="l" pos="0"/>
                        </a:tabLst>
                      </a:pPr>
                      <a:r>
                        <a:rPr lang="en-US" sz="1300" b="1" u="none" strike="noStrike">
                          <a:solidFill>
                            <a:srgbClr val="000000"/>
                          </a:solidFill>
                          <a:effectLst/>
                          <a:uFillTx/>
                          <a:latin typeface="Arial"/>
                        </a:rPr>
                        <a:t>Explicit</a:t>
                      </a:r>
                      <a:r>
                        <a:rPr lang="en-US" sz="1300" b="0" u="none" strike="noStrike">
                          <a:solidFill>
                            <a:srgbClr val="000000"/>
                          </a:solidFill>
                          <a:effectLst/>
                          <a:uFillTx/>
                          <a:latin typeface="Arial"/>
                        </a:rPr>
                        <a:t> as a Key-Value Table</a:t>
                      </a:r>
                      <a:endParaRPr lang="en-AU" sz="13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r>
              <a:tr h="346320">
                <a:tc>
                  <a:txBody>
                    <a:bodyPr lIns="36000" rIns="36000" tIns="36000" bIns="36000" anchor="t">
                      <a:noAutofit/>
                    </a:bodyPr>
                    <a:p>
                      <a:pPr algn="ctr">
                        <a:lnSpc>
                          <a:spcPct val="100000"/>
                        </a:lnSpc>
                        <a:tabLst>
                          <a:tab algn="l" pos="0"/>
                        </a:tabLst>
                      </a:pPr>
                      <a:r>
                        <a:rPr lang="en-US" sz="1300" b="0" u="none" strike="noStrike">
                          <a:solidFill>
                            <a:srgbClr val="000000"/>
                          </a:solidFill>
                          <a:effectLst/>
                          <a:uFillTx/>
                          <a:latin typeface="Arial"/>
                        </a:rPr>
                        <a:t>Recurrent Neural Network</a:t>
                      </a:r>
                      <a:endParaRPr lang="en-AU" sz="13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tabLst>
                          <a:tab algn="l" pos="0"/>
                        </a:tabLst>
                      </a:pPr>
                      <a:r>
                        <a:rPr lang="en-US" sz="1300" b="1" u="none" strike="noStrike">
                          <a:solidFill>
                            <a:srgbClr val="000000"/>
                          </a:solidFill>
                          <a:effectLst/>
                          <a:uFillTx/>
                          <a:latin typeface="Arial"/>
                        </a:rPr>
                        <a:t>Implicit</a:t>
                      </a:r>
                      <a:r>
                        <a:rPr lang="en-US" sz="1300" b="0" u="none" strike="noStrike">
                          <a:solidFill>
                            <a:srgbClr val="000000"/>
                          </a:solidFill>
                          <a:effectLst/>
                          <a:uFillTx/>
                          <a:latin typeface="Arial"/>
                        </a:rPr>
                        <a:t> as Question Embedding</a:t>
                      </a:r>
                      <a:endParaRPr lang="en-AU" sz="13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tabLst>
                          <a:tab algn="l" pos="0"/>
                        </a:tabLst>
                      </a:pPr>
                      <a:r>
                        <a:rPr lang="en-US" sz="1300" b="1" u="none" strike="noStrike">
                          <a:solidFill>
                            <a:srgbClr val="000000"/>
                          </a:solidFill>
                          <a:effectLst/>
                          <a:uFillTx/>
                          <a:latin typeface="Arial"/>
                        </a:rPr>
                        <a:t>Implicit</a:t>
                      </a:r>
                      <a:r>
                        <a:rPr lang="en-US" sz="1300" b="0" u="none" strike="noStrike">
                          <a:solidFill>
                            <a:srgbClr val="000000"/>
                          </a:solidFill>
                          <a:effectLst/>
                          <a:uFillTx/>
                          <a:latin typeface="Arial"/>
                        </a:rPr>
                        <a:t> as Recurrent Weights</a:t>
                      </a:r>
                      <a:endParaRPr lang="en-AU" sz="13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spcBef>
                          <a:spcPts val="1191"/>
                        </a:spcBef>
                        <a:spcAft>
                          <a:spcPts val="992"/>
                        </a:spcAft>
                        <a:tabLst>
                          <a:tab algn="l" pos="0"/>
                        </a:tabLst>
                      </a:pPr>
                      <a:r>
                        <a:rPr lang="en-US" sz="1300" b="1" u="none" strike="noStrike">
                          <a:solidFill>
                            <a:srgbClr val="000000"/>
                          </a:solidFill>
                          <a:effectLst/>
                          <a:uFillTx/>
                          <a:latin typeface="Arial"/>
                        </a:rPr>
                        <a:t>Implicit</a:t>
                      </a:r>
                      <a:r>
                        <a:rPr lang="en-US" sz="1300" b="0" u="none" strike="noStrike">
                          <a:solidFill>
                            <a:srgbClr val="000000"/>
                          </a:solidFill>
                          <a:effectLst/>
                          <a:uFillTx/>
                          <a:latin typeface="Arial"/>
                        </a:rPr>
                        <a:t> via the Input &amp; Update Gates</a:t>
                      </a:r>
                      <a:endParaRPr lang="en-AU" sz="13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spcBef>
                          <a:spcPts val="1191"/>
                        </a:spcBef>
                        <a:spcAft>
                          <a:spcPts val="992"/>
                        </a:spcAft>
                        <a:tabLst>
                          <a:tab algn="l" pos="0"/>
                        </a:tabLst>
                      </a:pPr>
                      <a:r>
                        <a:rPr lang="en-US" sz="1300" b="1" u="none" strike="noStrike">
                          <a:solidFill>
                            <a:srgbClr val="000000"/>
                          </a:solidFill>
                          <a:effectLst/>
                          <a:uFillTx/>
                          <a:latin typeface="Arial"/>
                        </a:rPr>
                        <a:t>Implicit</a:t>
                      </a:r>
                      <a:r>
                        <a:rPr lang="en-US" sz="1300" b="0" u="none" strike="noStrike">
                          <a:solidFill>
                            <a:srgbClr val="000000"/>
                          </a:solidFill>
                          <a:effectLst/>
                          <a:uFillTx/>
                          <a:latin typeface="Arial"/>
                        </a:rPr>
                        <a:t> via the Forget Gate</a:t>
                      </a:r>
                      <a:endParaRPr lang="en-AU" sz="13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spcBef>
                          <a:spcPts val="1417"/>
                        </a:spcBef>
                        <a:tabLst>
                          <a:tab algn="l" pos="0"/>
                        </a:tabLst>
                      </a:pPr>
                      <a:r>
                        <a:rPr lang="en-US" sz="1300" b="1" u="none" strike="noStrike">
                          <a:solidFill>
                            <a:srgbClr val="000000"/>
                          </a:solidFill>
                          <a:effectLst/>
                          <a:uFillTx/>
                          <a:latin typeface="Arial"/>
                        </a:rPr>
                        <a:t>Explicit</a:t>
                      </a:r>
                      <a:r>
                        <a:rPr lang="en-US" sz="1300" b="0" u="none" strike="noStrike">
                          <a:solidFill>
                            <a:srgbClr val="000000"/>
                          </a:solidFill>
                          <a:effectLst/>
                          <a:uFillTx/>
                          <a:latin typeface="Arial"/>
                        </a:rPr>
                        <a:t> as a hidden state vector(s)</a:t>
                      </a:r>
                      <a:endParaRPr lang="en-AU" sz="13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r>
              <a:tr h="346320">
                <a:tc>
                  <a:txBody>
                    <a:bodyPr lIns="36000" rIns="36000" tIns="36000" bIns="36000" anchor="t">
                      <a:noAutofit/>
                    </a:bodyPr>
                    <a:p>
                      <a:pPr algn="ctr">
                        <a:lnSpc>
                          <a:spcPct val="100000"/>
                        </a:lnSpc>
                        <a:tabLst>
                          <a:tab algn="l" pos="0"/>
                        </a:tabLst>
                      </a:pPr>
                      <a:r>
                        <a:rPr lang="en-US" sz="1300" b="0" u="none" strike="noStrike">
                          <a:solidFill>
                            <a:srgbClr val="000000"/>
                          </a:solidFill>
                          <a:effectLst/>
                          <a:uFillTx/>
                          <a:latin typeface="Arial"/>
                        </a:rPr>
                        <a:t>Transformer</a:t>
                      </a:r>
                      <a:endParaRPr lang="en-AU" sz="13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spcBef>
                          <a:spcPts val="1417"/>
                        </a:spcBef>
                        <a:tabLst>
                          <a:tab algn="l" pos="0"/>
                        </a:tabLst>
                      </a:pPr>
                      <a:r>
                        <a:rPr lang="en-US" sz="1300" b="1" u="none" strike="noStrike">
                          <a:solidFill>
                            <a:srgbClr val="000000"/>
                          </a:solidFill>
                          <a:effectLst/>
                          <a:uFillTx/>
                          <a:latin typeface="Arial"/>
                        </a:rPr>
                        <a:t>Implicit</a:t>
                      </a:r>
                      <a:r>
                        <a:rPr lang="en-US" sz="1300" b="0" u="none" strike="noStrike">
                          <a:solidFill>
                            <a:srgbClr val="000000"/>
                          </a:solidFill>
                          <a:effectLst/>
                          <a:uFillTx/>
                          <a:latin typeface="Arial"/>
                        </a:rPr>
                        <a:t> as Embeddings</a:t>
                      </a:r>
                      <a:endParaRPr lang="en-AU" sz="13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spcBef>
                          <a:spcPts val="1417"/>
                        </a:spcBef>
                        <a:tabLst>
                          <a:tab algn="l" pos="0"/>
                        </a:tabLst>
                      </a:pPr>
                      <a:r>
                        <a:rPr lang="en-US" sz="1300" b="1" u="none" strike="noStrike">
                          <a:solidFill>
                            <a:srgbClr val="000000"/>
                          </a:solidFill>
                          <a:effectLst/>
                          <a:uFillTx/>
                          <a:latin typeface="Arial"/>
                        </a:rPr>
                        <a:t>Implicit</a:t>
                      </a:r>
                      <a:r>
                        <a:rPr lang="en-US" sz="1300" b="0" u="none" strike="noStrike">
                          <a:solidFill>
                            <a:srgbClr val="000000"/>
                          </a:solidFill>
                          <a:effectLst/>
                          <a:uFillTx/>
                          <a:latin typeface="Arial"/>
                        </a:rPr>
                        <a:t> as attention weights</a:t>
                      </a:r>
                      <a:endParaRPr lang="en-AU" sz="13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spcBef>
                          <a:spcPts val="1191"/>
                        </a:spcBef>
                        <a:spcAft>
                          <a:spcPts val="992"/>
                        </a:spcAft>
                        <a:tabLst>
                          <a:tab algn="l" pos="0"/>
                        </a:tabLst>
                      </a:pPr>
                      <a:r>
                        <a:rPr lang="en-US" sz="1300" b="1" u="none" strike="noStrike">
                          <a:solidFill>
                            <a:srgbClr val="000000"/>
                          </a:solidFill>
                          <a:effectLst/>
                          <a:uFillTx/>
                          <a:latin typeface="Arial"/>
                        </a:rPr>
                        <a:t>Implicit</a:t>
                      </a:r>
                      <a:r>
                        <a:rPr lang="en-US" sz="1300" b="0" u="none" strike="noStrike">
                          <a:solidFill>
                            <a:srgbClr val="000000"/>
                          </a:solidFill>
                          <a:effectLst/>
                          <a:uFillTx/>
                          <a:latin typeface="Arial"/>
                        </a:rPr>
                        <a:t> via attention mechanism</a:t>
                      </a:r>
                      <a:endParaRPr lang="en-AU" sz="13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spcBef>
                          <a:spcPts val="1191"/>
                        </a:spcBef>
                        <a:spcAft>
                          <a:spcPts val="992"/>
                        </a:spcAft>
                        <a:tabLst>
                          <a:tab algn="l" pos="0"/>
                        </a:tabLst>
                      </a:pPr>
                      <a:r>
                        <a:rPr lang="en-US" sz="1300" b="1" u="none" strike="noStrike">
                          <a:solidFill>
                            <a:srgbClr val="000000"/>
                          </a:solidFill>
                          <a:effectLst/>
                          <a:uFillTx/>
                          <a:latin typeface="Arial"/>
                        </a:rPr>
                        <a:t>Explicitly</a:t>
                      </a:r>
                      <a:r>
                        <a:rPr lang="en-US" sz="1300" b="0" u="none" strike="noStrike">
                          <a:solidFill>
                            <a:srgbClr val="000000"/>
                          </a:solidFill>
                          <a:effectLst/>
                          <a:uFillTx/>
                          <a:latin typeface="Arial"/>
                        </a:rPr>
                        <a:t> through forgetting functions</a:t>
                      </a:r>
                      <a:endParaRPr lang="en-AU" sz="13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spcBef>
                          <a:spcPts val="1417"/>
                        </a:spcBef>
                        <a:tabLst>
                          <a:tab algn="l" pos="0"/>
                        </a:tabLst>
                      </a:pPr>
                      <a:r>
                        <a:rPr lang="en-US" sz="1300" b="0" u="none" strike="noStrike">
                          <a:solidFill>
                            <a:srgbClr val="000000"/>
                          </a:solidFill>
                          <a:effectLst/>
                          <a:uFillTx/>
                          <a:latin typeface="Arial"/>
                        </a:rPr>
                        <a:t>Full knowledge state is </a:t>
                      </a:r>
                      <a:r>
                        <a:rPr lang="en-US" sz="1300" b="1" u="none" strike="noStrike">
                          <a:solidFill>
                            <a:srgbClr val="000000"/>
                          </a:solidFill>
                          <a:effectLst/>
                          <a:uFillTx/>
                          <a:latin typeface="Arial"/>
                        </a:rPr>
                        <a:t>implicit</a:t>
                      </a:r>
                      <a:endParaRPr lang="en-AU" sz="13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r>
            </a:tbl>
          </a:graphicData>
        </a:graphic>
      </p:graphicFrame>
      <p:sp>
        <p:nvSpPr>
          <p:cNvPr id="3" name="PlaceHolder 2"/>
          <p:cNvSpPr>
            <a:spLocks noGrp="1"/>
          </p:cNvSpPr>
          <p:nvPr>
            <p:ph type="sldNum" idx="2"/>
          </p:nvPr>
        </p:nvSpPr>
        <p:spPr/>
        <p:txBody>
          <a:bodyPr/>
          <a:p>
            <a:fld id="{A5FB0919-9104-478D-AA25-62EC573F686C}" type="slidenum">
              <a:t>19</a:t>
            </a:fld>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6" name="PlaceHolder 1"/>
          <p:cNvSpPr>
            <a:spLocks noGrp="1"/>
          </p:cNvSpPr>
          <p:nvPr>
            <p:ph type="title"/>
          </p:nvPr>
        </p:nvSpPr>
        <p:spPr>
          <a:xfrm>
            <a:off x="504000" y="186840"/>
            <a:ext cx="9068760" cy="1253160"/>
          </a:xfrm>
          <a:prstGeom prst="rect">
            <a:avLst/>
          </a:prstGeom>
          <a:noFill/>
          <a:ln w="0">
            <a:noFill/>
          </a:ln>
        </p:spPr>
        <p:txBody>
          <a:bodyPr lIns="0" rIns="0" tIns="0" bIns="0" anchor="ctr">
            <a:spAutoFit/>
          </a:bodyPr>
          <a:p>
            <a:pPr indent="0" algn="ctr">
              <a:lnSpc>
                <a:spcPct val="100000"/>
              </a:lnSpc>
              <a:buNone/>
              <a:tabLst>
                <a:tab algn="l" pos="0"/>
              </a:tabLst>
            </a:pPr>
            <a:r>
              <a:rPr lang="en-US" sz="4000" b="0" u="none" strike="noStrike">
                <a:solidFill>
                  <a:srgbClr val="000000"/>
                </a:solidFill>
                <a:effectLst/>
                <a:uFillTx/>
                <a:latin typeface="Arial"/>
              </a:rPr>
              <a:t>Which knowledge states are more interpretable?</a:t>
            </a:r>
            <a:endParaRPr lang="en-AU" sz="4000" b="0" u="none" strike="noStrike">
              <a:solidFill>
                <a:srgbClr val="000000"/>
              </a:solidFill>
              <a:effectLst/>
              <a:uFillTx/>
              <a:latin typeface="Arial"/>
            </a:endParaRPr>
          </a:p>
        </p:txBody>
      </p:sp>
      <p:pic>
        <p:nvPicPr>
          <p:cNvPr id="87" name=""/>
          <p:cNvPicPr/>
          <p:nvPr/>
        </p:nvPicPr>
        <p:blipFill>
          <a:blip r:embed="rId1"/>
          <a:srcRect l="0" t="9522" r="0" b="17458"/>
          <a:stretch/>
        </p:blipFill>
        <p:spPr>
          <a:xfrm>
            <a:off x="360000" y="1565640"/>
            <a:ext cx="9333720" cy="3831480"/>
          </a:xfrm>
          <a:prstGeom prst="rect">
            <a:avLst/>
          </a:prstGeom>
          <a:noFill/>
          <a:ln w="0">
            <a:noFill/>
          </a:ln>
        </p:spPr>
      </p:pic>
      <p:sp>
        <p:nvSpPr>
          <p:cNvPr id="3" name="PlaceHolder 2"/>
          <p:cNvSpPr>
            <a:spLocks noGrp="1"/>
          </p:cNvSpPr>
          <p:nvPr>
            <p:ph type="sldNum" idx="2"/>
          </p:nvPr>
        </p:nvSpPr>
        <p:spPr/>
        <p:txBody>
          <a:bodyPr/>
          <a:p>
            <a:fld id="{9590E191-B869-46C4-80B6-427A2BC4CDBB}" type="slidenum">
              <a:t>20</a:t>
            </a:fld>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88" name=""/>
          <p:cNvPicPr/>
          <p:nvPr/>
        </p:nvPicPr>
        <p:blipFill>
          <a:blip r:embed="rId1"/>
          <a:stretch/>
        </p:blipFill>
        <p:spPr>
          <a:xfrm>
            <a:off x="459360" y="717840"/>
            <a:ext cx="8817120" cy="4958280"/>
          </a:xfrm>
          <a:prstGeom prst="rect">
            <a:avLst/>
          </a:prstGeom>
          <a:noFill/>
          <a:ln w="0">
            <a:noFill/>
          </a:ln>
        </p:spPr>
      </p:pic>
      <p:sp>
        <p:nvSpPr>
          <p:cNvPr id="89" name="PlaceHolder 1"/>
          <p:cNvSpPr>
            <a:spLocks noGrp="1"/>
          </p:cNvSpPr>
          <p:nvPr>
            <p:ph type="title"/>
          </p:nvPr>
        </p:nvSpPr>
        <p:spPr>
          <a:xfrm>
            <a:off x="540000" y="177120"/>
            <a:ext cx="9357120" cy="713160"/>
          </a:xfrm>
          <a:prstGeom prst="rect">
            <a:avLst/>
          </a:prstGeom>
          <a:noFill/>
          <a:ln w="0">
            <a:noFill/>
          </a:ln>
        </p:spPr>
        <p:txBody>
          <a:bodyPr lIns="0" rIns="0" tIns="0" bIns="0" anchor="ctr">
            <a:spAutoFit/>
          </a:bodyPr>
          <a:p>
            <a:pPr indent="0" algn="ctr">
              <a:lnSpc>
                <a:spcPct val="100000"/>
              </a:lnSpc>
              <a:buNone/>
              <a:tabLst>
                <a:tab algn="l" pos="0"/>
              </a:tabLst>
            </a:pPr>
            <a:r>
              <a:rPr lang="en-US" sz="2800" b="0" u="none" strike="noStrike">
                <a:solidFill>
                  <a:srgbClr val="000000"/>
                </a:solidFill>
                <a:effectLst/>
                <a:uFillTx/>
                <a:latin typeface="Arial"/>
              </a:rPr>
              <a:t>Why should we bother interpretable knowledge states?</a:t>
            </a:r>
            <a:endParaRPr lang="en-AU" sz="2800" b="0" u="none" strike="noStrike">
              <a:solidFill>
                <a:srgbClr val="000000"/>
              </a:solidFill>
              <a:effectLst/>
              <a:uFillTx/>
              <a:latin typeface="Arial"/>
            </a:endParaRPr>
          </a:p>
        </p:txBody>
      </p:sp>
      <p:sp>
        <p:nvSpPr>
          <p:cNvPr id="3" name="PlaceHolder 2"/>
          <p:cNvSpPr>
            <a:spLocks noGrp="1"/>
          </p:cNvSpPr>
          <p:nvPr>
            <p:ph type="sldNum" idx="2"/>
          </p:nvPr>
        </p:nvSpPr>
        <p:spPr/>
        <p:txBody>
          <a:bodyPr/>
          <a:p>
            <a:fld id="{CC7D2CCF-1C50-4769-BE31-8CB29C785AAA}" type="slidenum">
              <a:t>21</a:t>
            </a:fld>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90" name=""/>
          <p:cNvPicPr/>
          <p:nvPr/>
        </p:nvPicPr>
        <p:blipFill>
          <a:blip r:embed="rId1"/>
          <a:stretch/>
        </p:blipFill>
        <p:spPr>
          <a:xfrm>
            <a:off x="703800" y="598320"/>
            <a:ext cx="8653320" cy="4866120"/>
          </a:xfrm>
          <a:prstGeom prst="rect">
            <a:avLst/>
          </a:prstGeom>
          <a:noFill/>
          <a:ln w="0">
            <a:noFill/>
          </a:ln>
        </p:spPr>
      </p:pic>
      <p:sp>
        <p:nvSpPr>
          <p:cNvPr id="91" name="PlaceHolder 1"/>
          <p:cNvSpPr>
            <a:spLocks noGrp="1"/>
          </p:cNvSpPr>
          <p:nvPr>
            <p:ph type="title"/>
          </p:nvPr>
        </p:nvSpPr>
        <p:spPr>
          <a:xfrm>
            <a:off x="504000" y="177120"/>
            <a:ext cx="9068760" cy="676800"/>
          </a:xfrm>
          <a:prstGeom prst="rect">
            <a:avLst/>
          </a:prstGeom>
          <a:noFill/>
          <a:ln w="0">
            <a:noFill/>
          </a:ln>
        </p:spPr>
        <p:txBody>
          <a:bodyPr lIns="0" rIns="0" tIns="0" bIns="0" anchor="ctr">
            <a:spAutoFit/>
          </a:bodyPr>
          <a:p>
            <a:pPr indent="0" algn="ctr">
              <a:lnSpc>
                <a:spcPct val="100000"/>
              </a:lnSpc>
              <a:buNone/>
              <a:tabLst>
                <a:tab algn="l" pos="0"/>
              </a:tabLst>
            </a:pPr>
            <a:r>
              <a:rPr lang="en-US" sz="2800" b="0" u="none" strike="noStrike">
                <a:solidFill>
                  <a:srgbClr val="000000"/>
                </a:solidFill>
                <a:effectLst/>
                <a:uFillTx/>
                <a:latin typeface="Arial"/>
              </a:rPr>
              <a:t>Is it interpretable enough?</a:t>
            </a:r>
            <a:endParaRPr lang="en-AU" sz="2800" b="0" u="none" strike="noStrike">
              <a:solidFill>
                <a:srgbClr val="000000"/>
              </a:solidFill>
              <a:effectLst/>
              <a:uFillTx/>
              <a:latin typeface="Arial"/>
            </a:endParaRPr>
          </a:p>
        </p:txBody>
      </p:sp>
      <p:sp>
        <p:nvSpPr>
          <p:cNvPr id="92" name=""/>
          <p:cNvSpPr/>
          <p:nvPr/>
        </p:nvSpPr>
        <p:spPr>
          <a:xfrm>
            <a:off x="360000" y="4860000"/>
            <a:ext cx="8817120" cy="674280"/>
          </a:xfrm>
          <a:prstGeom prst="rect">
            <a:avLst/>
          </a:prstGeom>
          <a:noFill/>
          <a:ln w="36000">
            <a:solidFill>
              <a:srgbClr val="5b277d"/>
            </a:solidFill>
            <a:prstDash val="sysDot"/>
            <a:round/>
          </a:ln>
        </p:spPr>
        <p:style>
          <a:lnRef idx="0"/>
          <a:fillRef idx="0"/>
          <a:effectRef idx="0"/>
          <a:fontRef idx="minor"/>
        </p:style>
        <p:txBody>
          <a:bodyPr lIns="108000" rIns="108000" tIns="63000" bIns="63000" anchor="t">
            <a:spAutoFit/>
          </a:bodyPr>
          <a:p>
            <a:pPr>
              <a:lnSpc>
                <a:spcPct val="100000"/>
              </a:lnSpc>
            </a:pPr>
            <a:r>
              <a:rPr lang="en-US" sz="1200" b="0" u="none" strike="noStrike">
                <a:solidFill>
                  <a:srgbClr val="000000"/>
                </a:solidFill>
                <a:effectLst/>
                <a:uFillTx/>
                <a:latin typeface="Arial"/>
                <a:ea typeface="DejaVu Sans"/>
              </a:rPr>
              <a:t>It is reasonable that the nodes in the KC graph created by current GNN are implicit, instead of some real-world KCs. This is because the model have not yet access to the text of the questions. What if the model can now access to the question text. Can we map the implicit KC node embedding back to some real-world KCs?</a:t>
            </a:r>
            <a:endParaRPr lang="en-AU" sz="1200" b="0" u="none" strike="noStrike">
              <a:solidFill>
                <a:srgbClr val="000000"/>
              </a:solidFill>
              <a:effectLst/>
              <a:uFillTx/>
              <a:latin typeface="Arial"/>
            </a:endParaRPr>
          </a:p>
        </p:txBody>
      </p:sp>
      <p:sp>
        <p:nvSpPr>
          <p:cNvPr id="3" name="PlaceHolder 2"/>
          <p:cNvSpPr>
            <a:spLocks noGrp="1"/>
          </p:cNvSpPr>
          <p:nvPr>
            <p:ph type="sldNum" idx="2"/>
          </p:nvPr>
        </p:nvSpPr>
        <p:spPr/>
        <p:txBody>
          <a:bodyPr/>
          <a:p>
            <a:fld id="{A2FF241C-6D2F-4EE1-B076-1BFF129889AB}" type="slidenum">
              <a:t>22</a:t>
            </a:fld>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3" name="PlaceHolder 1"/>
          <p:cNvSpPr>
            <a:spLocks noGrp="1"/>
          </p:cNvSpPr>
          <p:nvPr>
            <p:ph type="title"/>
          </p:nvPr>
        </p:nvSpPr>
        <p:spPr>
          <a:xfrm>
            <a:off x="468360" y="71280"/>
            <a:ext cx="9068760" cy="1008720"/>
          </a:xfrm>
          <a:prstGeom prst="rect">
            <a:avLst/>
          </a:prstGeom>
          <a:noFill/>
          <a:ln w="0">
            <a:noFill/>
          </a:ln>
        </p:spPr>
        <p:txBody>
          <a:bodyPr lIns="0" rIns="0" tIns="0" bIns="0" anchor="ctr">
            <a:spAutoFit/>
          </a:bodyPr>
          <a:p>
            <a:pPr indent="0" algn="ctr">
              <a:lnSpc>
                <a:spcPct val="100000"/>
              </a:lnSpc>
              <a:buNone/>
              <a:tabLst>
                <a:tab algn="l" pos="0"/>
              </a:tabLst>
            </a:pPr>
            <a:r>
              <a:rPr lang="en-US" sz="2800" b="0" u="none" strike="noStrike">
                <a:solidFill>
                  <a:srgbClr val="000000"/>
                </a:solidFill>
                <a:effectLst/>
                <a:uFillTx/>
                <a:latin typeface="Arial"/>
              </a:rPr>
              <a:t>Challenges of making things explicit and interpretable</a:t>
            </a:r>
            <a:br>
              <a:rPr sz="2800"/>
            </a:br>
            <a:r>
              <a:rPr lang="en-US" sz="2800" b="0" u="none" strike="noStrike">
                <a:solidFill>
                  <a:srgbClr val="000000"/>
                </a:solidFill>
                <a:effectLst/>
                <a:uFillTx/>
                <a:latin typeface="Arial"/>
              </a:rPr>
              <a:t> </a:t>
            </a:r>
            <a:r>
              <a:rPr lang="en-US" sz="2800" b="1" u="none" strike="noStrike">
                <a:solidFill>
                  <a:srgbClr val="000000"/>
                </a:solidFill>
                <a:effectLst/>
                <a:uFillTx/>
                <a:latin typeface="Arial"/>
              </a:rPr>
              <a:t>Explicitness</a:t>
            </a:r>
            <a:r>
              <a:rPr lang="en-US" sz="2800" b="0" u="none" strike="noStrike">
                <a:solidFill>
                  <a:srgbClr val="000000"/>
                </a:solidFill>
                <a:effectLst/>
                <a:uFillTx/>
                <a:latin typeface="Arial"/>
              </a:rPr>
              <a:t> vs. </a:t>
            </a:r>
            <a:r>
              <a:rPr lang="en-US" sz="2800" b="1" u="none" strike="noStrike">
                <a:solidFill>
                  <a:srgbClr val="000000"/>
                </a:solidFill>
                <a:effectLst/>
                <a:uFillTx/>
                <a:latin typeface="Arial"/>
              </a:rPr>
              <a:t>Flexibility</a:t>
            </a:r>
            <a:endParaRPr lang="en-AU" sz="2800" b="0" u="none" strike="noStrike">
              <a:solidFill>
                <a:srgbClr val="000000"/>
              </a:solidFill>
              <a:effectLst/>
              <a:uFillTx/>
              <a:latin typeface="Arial"/>
            </a:endParaRPr>
          </a:p>
        </p:txBody>
      </p:sp>
      <p:sp>
        <p:nvSpPr>
          <p:cNvPr id="94" name="PlaceHolder 2"/>
          <p:cNvSpPr>
            <a:spLocks noGrp="1"/>
          </p:cNvSpPr>
          <p:nvPr>
            <p:ph/>
          </p:nvPr>
        </p:nvSpPr>
        <p:spPr>
          <a:xfrm>
            <a:off x="469800" y="1172160"/>
            <a:ext cx="9068760" cy="4497120"/>
          </a:xfrm>
          <a:prstGeom prst="rect">
            <a:avLst/>
          </a:prstGeom>
          <a:noFill/>
          <a:ln w="0">
            <a:noFill/>
          </a:ln>
        </p:spPr>
        <p:txBody>
          <a:bodyPr lIns="0" rIns="0" tIns="0" bIns="0" anchor="t">
            <a:normAutofit lnSpcReduction="9999"/>
          </a:bodyPr>
          <a:p>
            <a:pPr indent="0">
              <a:lnSpc>
                <a:spcPct val="100000"/>
              </a:lnSpc>
              <a:spcBef>
                <a:spcPts val="1191"/>
              </a:spcBef>
              <a:spcAft>
                <a:spcPts val="992"/>
              </a:spcAft>
              <a:buNone/>
              <a:tabLst>
                <a:tab algn="l" pos="0"/>
              </a:tabLst>
            </a:pPr>
            <a:r>
              <a:rPr lang="en-US" sz="1400" b="0" u="none" strike="noStrike">
                <a:solidFill>
                  <a:srgbClr val="000000"/>
                </a:solidFill>
                <a:effectLst/>
                <a:uFillTx/>
                <a:latin typeface="Arial"/>
              </a:rPr>
              <a:t>Consider a function σ(q) which can convert an interaction into its latent knowledge state representation.</a:t>
            </a:r>
            <a:endParaRPr lang="en-AU" sz="1400" b="0" u="none" strike="noStrike">
              <a:solidFill>
                <a:srgbClr val="000000"/>
              </a:solidFill>
              <a:effectLst/>
              <a:uFillTx/>
              <a:latin typeface="Arial"/>
            </a:endParaRPr>
          </a:p>
          <a:p>
            <a:pPr indent="0">
              <a:lnSpc>
                <a:spcPct val="100000"/>
              </a:lnSpc>
              <a:spcBef>
                <a:spcPts val="1191"/>
              </a:spcBef>
              <a:spcAft>
                <a:spcPts val="992"/>
              </a:spcAft>
              <a:buNone/>
              <a:tabLst>
                <a:tab algn="l" pos="0"/>
              </a:tabLst>
            </a:pPr>
            <a:r>
              <a:rPr lang="en-US" sz="1400" b="1" u="none" strike="noStrike">
                <a:solidFill>
                  <a:srgbClr val="000000"/>
                </a:solidFill>
                <a:effectLst/>
                <a:uFillTx/>
                <a:latin typeface="Arial"/>
              </a:rPr>
              <a:t>What does GNN/RNN do conceptually?</a:t>
            </a:r>
            <a:endParaRPr lang="en-AU" sz="1400" b="0" u="none" strike="noStrike">
              <a:solidFill>
                <a:srgbClr val="000000"/>
              </a:solidFill>
              <a:effectLst/>
              <a:uFillTx/>
              <a:latin typeface="Arial"/>
            </a:endParaRPr>
          </a:p>
          <a:p>
            <a:pPr indent="0">
              <a:lnSpc>
                <a:spcPct val="100000"/>
              </a:lnSpc>
              <a:spcBef>
                <a:spcPts val="1191"/>
              </a:spcBef>
              <a:spcAft>
                <a:spcPts val="992"/>
              </a:spcAft>
              <a:buNone/>
              <a:tabLst>
                <a:tab algn="l" pos="0"/>
              </a:tabLst>
            </a:pPr>
            <a:r>
              <a:rPr lang="en-US" sz="1400" b="0" u="none" strike="noStrike">
                <a:solidFill>
                  <a:srgbClr val="000000"/>
                </a:solidFill>
                <a:effectLst/>
                <a:uFillTx/>
                <a:latin typeface="Arial"/>
                <a:ea typeface="Noto Sans CJK SC"/>
              </a:rPr>
              <a:t>Transforms both the student history and the query question into its latent knowledge state representation. h = σ(student’s history) and h_query = σ(query question). Makes prediction based on how well h aligns with h_query, e.g., (h ⋅ h_query).</a:t>
            </a:r>
            <a:endParaRPr lang="en-AU" sz="1400" b="0" u="none" strike="noStrike">
              <a:solidFill>
                <a:srgbClr val="000000"/>
              </a:solidFill>
              <a:effectLst/>
              <a:uFillTx/>
              <a:latin typeface="Arial"/>
            </a:endParaRPr>
          </a:p>
          <a:p>
            <a:pPr indent="0">
              <a:lnSpc>
                <a:spcPct val="100000"/>
              </a:lnSpc>
              <a:spcBef>
                <a:spcPts val="1191"/>
              </a:spcBef>
              <a:spcAft>
                <a:spcPts val="992"/>
              </a:spcAft>
              <a:buNone/>
              <a:tabLst>
                <a:tab algn="l" pos="0"/>
              </a:tabLst>
            </a:pPr>
            <a:r>
              <a:rPr lang="en-US" sz="1400" b="1" u="none" strike="noStrike">
                <a:solidFill>
                  <a:srgbClr val="000000"/>
                </a:solidFill>
                <a:effectLst/>
                <a:uFillTx/>
                <a:latin typeface="Arial"/>
                <a:ea typeface="Noto Sans CJK SC"/>
              </a:rPr>
              <a:t>Kernel Trick</a:t>
            </a:r>
            <a:endParaRPr lang="en-AU" sz="1400" b="0" u="none" strike="noStrike">
              <a:solidFill>
                <a:srgbClr val="000000"/>
              </a:solidFill>
              <a:effectLst/>
              <a:uFillTx/>
              <a:latin typeface="Arial"/>
            </a:endParaRPr>
          </a:p>
          <a:p>
            <a:pPr indent="0">
              <a:lnSpc>
                <a:spcPct val="100000"/>
              </a:lnSpc>
              <a:spcBef>
                <a:spcPts val="1191"/>
              </a:spcBef>
              <a:spcAft>
                <a:spcPts val="992"/>
              </a:spcAft>
              <a:buNone/>
              <a:tabLst>
                <a:tab algn="l" pos="0"/>
              </a:tabLst>
            </a:pPr>
            <a:r>
              <a:rPr lang="en-US" sz="1400" b="0" u="sng" strike="noStrike">
                <a:solidFill>
                  <a:srgbClr val="000000"/>
                </a:solidFill>
                <a:effectLst/>
                <a:uFillTx/>
                <a:latin typeface="Arial"/>
                <a:ea typeface="Noto Sans CJK SC"/>
              </a:rPr>
              <a:t>(h ⋅ h_query) = σ(student’s history) ⋅ σ(query question) = K(student’s history, query question)</a:t>
            </a:r>
            <a:r>
              <a:rPr lang="en-US" sz="1400" b="0" u="none" strike="noStrike">
                <a:solidFill>
                  <a:srgbClr val="000000"/>
                </a:solidFill>
                <a:effectLst/>
                <a:uFillTx/>
                <a:latin typeface="Arial"/>
                <a:ea typeface="Noto Sans CJK SC"/>
              </a:rPr>
              <a:t>, for some kernel function K. We don’t actually need to transform them into latent knowledge state. We can learn a kernel function K and compare the student’s history and query question directly. </a:t>
            </a:r>
            <a:r>
              <a:rPr lang="en-US" sz="1400" b="0" u="sng" strike="noStrike">
                <a:solidFill>
                  <a:srgbClr val="000000"/>
                </a:solidFill>
                <a:effectLst/>
                <a:uFillTx/>
                <a:latin typeface="Arial"/>
                <a:ea typeface="Noto Sans CJK SC"/>
              </a:rPr>
              <a:t>This is basically how </a:t>
            </a:r>
            <a:r>
              <a:rPr lang="en-US" sz="1400" b="1" u="sng" strike="noStrike">
                <a:solidFill>
                  <a:srgbClr val="000000"/>
                </a:solidFill>
                <a:effectLst/>
                <a:uFillTx/>
                <a:latin typeface="Arial"/>
                <a:ea typeface="Noto Sans CJK SC"/>
              </a:rPr>
              <a:t>transformers</a:t>
            </a:r>
            <a:r>
              <a:rPr lang="en-US" sz="1400" b="0" u="sng" strike="noStrike">
                <a:solidFill>
                  <a:srgbClr val="000000"/>
                </a:solidFill>
                <a:effectLst/>
                <a:uFillTx/>
                <a:latin typeface="Arial"/>
                <a:ea typeface="Noto Sans CJK SC"/>
              </a:rPr>
              <a:t> do KT?</a:t>
            </a:r>
            <a:endParaRPr lang="en-AU" sz="1400" b="0" u="none" strike="noStrike">
              <a:solidFill>
                <a:srgbClr val="000000"/>
              </a:solidFill>
              <a:effectLst/>
              <a:uFillTx/>
              <a:latin typeface="Arial"/>
            </a:endParaRPr>
          </a:p>
          <a:p>
            <a:pPr indent="0">
              <a:lnSpc>
                <a:spcPct val="100000"/>
              </a:lnSpc>
              <a:spcBef>
                <a:spcPts val="1191"/>
              </a:spcBef>
              <a:spcAft>
                <a:spcPts val="992"/>
              </a:spcAft>
              <a:buNone/>
              <a:tabLst>
                <a:tab algn="l" pos="0"/>
              </a:tabLst>
            </a:pPr>
            <a:r>
              <a:rPr lang="en-US" sz="1400" b="1" u="none" strike="noStrike">
                <a:solidFill>
                  <a:srgbClr val="000000"/>
                </a:solidFill>
                <a:effectLst/>
                <a:uFillTx/>
                <a:latin typeface="Arial"/>
                <a:ea typeface="Noto Sans CJK SC"/>
              </a:rPr>
              <a:t>Benefits of being implicit</a:t>
            </a:r>
            <a:endParaRPr lang="en-AU" sz="1400" b="0" u="none" strike="noStrike">
              <a:solidFill>
                <a:srgbClr val="000000"/>
              </a:solidFill>
              <a:effectLst/>
              <a:uFillTx/>
              <a:latin typeface="Arial"/>
            </a:endParaRPr>
          </a:p>
          <a:p>
            <a:pPr indent="0">
              <a:lnSpc>
                <a:spcPct val="100000"/>
              </a:lnSpc>
              <a:spcBef>
                <a:spcPts val="1191"/>
              </a:spcBef>
              <a:spcAft>
                <a:spcPts val="992"/>
              </a:spcAft>
              <a:buNone/>
              <a:tabLst>
                <a:tab algn="l" pos="0"/>
              </a:tabLst>
            </a:pPr>
            <a:r>
              <a:rPr lang="en-US" sz="1400" b="0" u="none" strike="noStrike">
                <a:solidFill>
                  <a:srgbClr val="000000"/>
                </a:solidFill>
                <a:effectLst/>
                <a:uFillTx/>
                <a:latin typeface="Arial"/>
                <a:ea typeface="Noto Sans CJK SC"/>
              </a:rPr>
              <a:t>Without explicitly representing the knowledge state, the knowledge state can then be arbitrarily complex. A classical example in Machine Learning: RBF kernel (equivalent to the dot product of two latent variables with infinite number of dimensions! )</a:t>
            </a:r>
            <a:endParaRPr lang="en-AU" sz="1400" b="0" u="none" strike="noStrike">
              <a:solidFill>
                <a:srgbClr val="000000"/>
              </a:solidFill>
              <a:effectLst/>
              <a:uFillTx/>
              <a:latin typeface="Arial"/>
            </a:endParaRPr>
          </a:p>
          <a:p>
            <a:pPr indent="0">
              <a:lnSpc>
                <a:spcPct val="100000"/>
              </a:lnSpc>
              <a:spcBef>
                <a:spcPts val="1191"/>
              </a:spcBef>
              <a:spcAft>
                <a:spcPts val="992"/>
              </a:spcAft>
              <a:buNone/>
              <a:tabLst>
                <a:tab algn="l" pos="0"/>
              </a:tabLst>
            </a:pPr>
            <a:endParaRPr lang="en-AU" sz="1400" b="0" u="none" strike="noStrike">
              <a:solidFill>
                <a:srgbClr val="000000"/>
              </a:solidFill>
              <a:effectLst/>
              <a:uFillTx/>
              <a:latin typeface="Arial"/>
            </a:endParaRPr>
          </a:p>
          <a:p>
            <a:pPr indent="0">
              <a:lnSpc>
                <a:spcPct val="100000"/>
              </a:lnSpc>
              <a:spcBef>
                <a:spcPts val="1191"/>
              </a:spcBef>
              <a:spcAft>
                <a:spcPts val="992"/>
              </a:spcAft>
              <a:buNone/>
              <a:tabLst>
                <a:tab algn="l" pos="0"/>
              </a:tabLst>
            </a:pPr>
            <a:endParaRPr lang="en-AU" sz="1400" b="0" u="none" strike="noStrike">
              <a:solidFill>
                <a:srgbClr val="000000"/>
              </a:solidFill>
              <a:effectLst/>
              <a:uFillTx/>
              <a:latin typeface="Arial"/>
            </a:endParaRPr>
          </a:p>
          <a:p>
            <a:pPr indent="0">
              <a:lnSpc>
                <a:spcPct val="100000"/>
              </a:lnSpc>
              <a:spcBef>
                <a:spcPts val="1191"/>
              </a:spcBef>
              <a:spcAft>
                <a:spcPts val="992"/>
              </a:spcAft>
              <a:buNone/>
              <a:tabLst>
                <a:tab algn="l" pos="0"/>
              </a:tabLst>
            </a:pPr>
            <a:endParaRPr lang="en-AU" sz="1400" b="0" u="none" strike="noStrike">
              <a:solidFill>
                <a:srgbClr val="000000"/>
              </a:solidFill>
              <a:effectLst/>
              <a:uFillTx/>
              <a:latin typeface="Arial"/>
            </a:endParaRPr>
          </a:p>
          <a:p>
            <a:pPr indent="0">
              <a:lnSpc>
                <a:spcPct val="100000"/>
              </a:lnSpc>
              <a:spcBef>
                <a:spcPts val="1191"/>
              </a:spcBef>
              <a:spcAft>
                <a:spcPts val="992"/>
              </a:spcAft>
              <a:buNone/>
              <a:tabLst>
                <a:tab algn="l" pos="0"/>
              </a:tabLst>
            </a:pPr>
            <a:endParaRPr lang="en-AU" sz="1400" b="0" u="none" strike="noStrike">
              <a:solidFill>
                <a:srgbClr val="000000"/>
              </a:solidFill>
              <a:effectLst/>
              <a:uFillTx/>
              <a:latin typeface="Arial"/>
            </a:endParaRPr>
          </a:p>
        </p:txBody>
      </p:sp>
      <p:pic>
        <p:nvPicPr>
          <p:cNvPr id="95" name=""/>
          <p:cNvPicPr/>
          <p:nvPr/>
        </p:nvPicPr>
        <p:blipFill>
          <a:blip r:embed="rId1"/>
          <a:stretch/>
        </p:blipFill>
        <p:spPr>
          <a:xfrm>
            <a:off x="3240000" y="5040000"/>
            <a:ext cx="2877120" cy="540000"/>
          </a:xfrm>
          <a:prstGeom prst="rect">
            <a:avLst/>
          </a:prstGeom>
          <a:noFill/>
          <a:ln w="0">
            <a:noFill/>
          </a:ln>
        </p:spPr>
      </p:pic>
      <p:sp>
        <p:nvSpPr>
          <p:cNvPr id="4" name="PlaceHolder 3"/>
          <p:cNvSpPr>
            <a:spLocks noGrp="1"/>
          </p:cNvSpPr>
          <p:nvPr>
            <p:ph type="sldNum" idx="2"/>
          </p:nvPr>
        </p:nvSpPr>
        <p:spPr/>
        <p:txBody>
          <a:bodyPr/>
          <a:p>
            <a:fld id="{59F1E7A5-FAEB-46FA-BFEE-C3CEFC3B2E3D}" type="slidenum">
              <a:t>23</a:t>
            </a:fld>
          </a:p>
        </p:txBody>
      </p:sp>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6" name="PlaceHolder 1"/>
          <p:cNvSpPr>
            <a:spLocks noGrp="1"/>
          </p:cNvSpPr>
          <p:nvPr>
            <p:ph type="title"/>
          </p:nvPr>
        </p:nvSpPr>
        <p:spPr>
          <a:xfrm>
            <a:off x="504000" y="223200"/>
            <a:ext cx="9068760" cy="949320"/>
          </a:xfrm>
          <a:prstGeom prst="rect">
            <a:avLst/>
          </a:prstGeom>
          <a:noFill/>
          <a:ln w="0">
            <a:noFill/>
          </a:ln>
        </p:spPr>
        <p:txBody>
          <a:bodyPr lIns="0" rIns="0" tIns="0" bIns="0" anchor="ctr">
            <a:spAutoFit/>
          </a:bodyPr>
          <a:p>
            <a:pPr indent="0" algn="ctr">
              <a:lnSpc>
                <a:spcPct val="100000"/>
              </a:lnSpc>
              <a:buNone/>
              <a:tabLst>
                <a:tab algn="l" pos="0"/>
              </a:tabLst>
            </a:pPr>
            <a:r>
              <a:rPr lang="en-US" sz="4400" b="0" u="none" strike="noStrike">
                <a:solidFill>
                  <a:srgbClr val="000000"/>
                </a:solidFill>
                <a:effectLst/>
                <a:uFillTx/>
                <a:latin typeface="Arial"/>
              </a:rPr>
              <a:t>Research Question</a:t>
            </a:r>
            <a:endParaRPr lang="en-AU" sz="4400" b="0" u="none" strike="noStrike">
              <a:solidFill>
                <a:srgbClr val="000000"/>
              </a:solidFill>
              <a:effectLst/>
              <a:uFillTx/>
              <a:latin typeface="Arial"/>
            </a:endParaRPr>
          </a:p>
        </p:txBody>
      </p:sp>
      <p:sp>
        <p:nvSpPr>
          <p:cNvPr id="97" name="PlaceHolder 2"/>
          <p:cNvSpPr>
            <a:spLocks noGrp="1"/>
          </p:cNvSpPr>
          <p:nvPr>
            <p:ph/>
          </p:nvPr>
        </p:nvSpPr>
        <p:spPr>
          <a:xfrm>
            <a:off x="504000" y="2160000"/>
            <a:ext cx="9068760" cy="2451960"/>
          </a:xfrm>
          <a:prstGeom prst="rect">
            <a:avLst/>
          </a:prstGeom>
          <a:noFill/>
          <a:ln w="0">
            <a:noFill/>
          </a:ln>
        </p:spPr>
        <p:txBody>
          <a:bodyPr lIns="0" rIns="0" tIns="0" bIns="0" anchor="t">
            <a:normAutofit/>
          </a:bodyPr>
          <a:p>
            <a:pPr indent="0">
              <a:lnSpc>
                <a:spcPct val="100000"/>
              </a:lnSpc>
              <a:spcBef>
                <a:spcPts val="1191"/>
              </a:spcBef>
              <a:spcAft>
                <a:spcPts val="992"/>
              </a:spcAft>
              <a:buNone/>
              <a:tabLst>
                <a:tab algn="l" pos="0"/>
              </a:tabLst>
            </a:pPr>
            <a:r>
              <a:rPr lang="en-US" sz="2100" b="0" i="1" u="none" strike="noStrike">
                <a:solidFill>
                  <a:srgbClr val="000000"/>
                </a:solidFill>
                <a:effectLst/>
                <a:uFillTx/>
                <a:latin typeface="Arial"/>
              </a:rPr>
              <a:t>How can we make Knowledge Tracing models, especially Graph-based KT, more explicit and interpretable — enabling human teachers to understand students’ knowledge states — without severely sacrificing flexibility?</a:t>
            </a:r>
            <a:endParaRPr lang="en-AU" sz="2100" b="0" u="none" strike="noStrike">
              <a:solidFill>
                <a:srgbClr val="000000"/>
              </a:solidFill>
              <a:effectLst/>
              <a:uFillTx/>
              <a:latin typeface="Arial"/>
            </a:endParaRPr>
          </a:p>
        </p:txBody>
      </p:sp>
      <p:sp>
        <p:nvSpPr>
          <p:cNvPr id="4" name="PlaceHolder 3"/>
          <p:cNvSpPr>
            <a:spLocks noGrp="1"/>
          </p:cNvSpPr>
          <p:nvPr>
            <p:ph type="sldNum" idx="2"/>
          </p:nvPr>
        </p:nvSpPr>
        <p:spPr/>
        <p:txBody>
          <a:bodyPr/>
          <a:p>
            <a:fld id="{5971F31E-221F-407B-81A1-DE9615D2A0BC}" type="slidenum">
              <a:t>24</a:t>
            </a:fld>
          </a:p>
        </p:txBody>
      </p:sp>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8" name="PlaceHolder 1"/>
          <p:cNvSpPr>
            <a:spLocks noGrp="1"/>
          </p:cNvSpPr>
          <p:nvPr>
            <p:ph type="title"/>
          </p:nvPr>
        </p:nvSpPr>
        <p:spPr>
          <a:xfrm>
            <a:off x="540000" y="366840"/>
            <a:ext cx="9068760" cy="1253160"/>
          </a:xfrm>
          <a:prstGeom prst="rect">
            <a:avLst/>
          </a:prstGeom>
          <a:noFill/>
          <a:ln w="0">
            <a:noFill/>
          </a:ln>
        </p:spPr>
        <p:txBody>
          <a:bodyPr lIns="0" rIns="0" tIns="0" bIns="0" anchor="ctr">
            <a:spAutoFit/>
          </a:bodyPr>
          <a:p>
            <a:pPr indent="0" algn="ctr">
              <a:lnSpc>
                <a:spcPct val="100000"/>
              </a:lnSpc>
              <a:buNone/>
              <a:tabLst>
                <a:tab algn="l" pos="0"/>
              </a:tabLst>
            </a:pPr>
            <a:r>
              <a:rPr lang="en-US" sz="4400" b="0" u="none" strike="noStrike">
                <a:solidFill>
                  <a:srgbClr val="000000"/>
                </a:solidFill>
                <a:effectLst/>
                <a:uFillTx/>
                <a:latin typeface="Arial"/>
              </a:rPr>
              <a:t>Research Plan: </a:t>
            </a:r>
            <a:br>
              <a:rPr sz="4400"/>
            </a:br>
            <a:r>
              <a:rPr lang="en-US" sz="4400" b="0" u="none" strike="noStrike">
                <a:solidFill>
                  <a:srgbClr val="000000"/>
                </a:solidFill>
                <a:effectLst/>
                <a:uFillTx/>
                <a:latin typeface="Arial"/>
              </a:rPr>
              <a:t>Two Stages/Directions</a:t>
            </a:r>
            <a:endParaRPr lang="en-AU" sz="4400" b="0" u="none" strike="noStrike">
              <a:solidFill>
                <a:srgbClr val="000000"/>
              </a:solidFill>
              <a:effectLst/>
              <a:uFillTx/>
              <a:latin typeface="Arial"/>
            </a:endParaRPr>
          </a:p>
        </p:txBody>
      </p:sp>
      <p:sp>
        <p:nvSpPr>
          <p:cNvPr id="99" name="PlaceHolder 2"/>
          <p:cNvSpPr>
            <a:spLocks noGrp="1"/>
          </p:cNvSpPr>
          <p:nvPr>
            <p:ph/>
          </p:nvPr>
        </p:nvSpPr>
        <p:spPr>
          <a:xfrm>
            <a:off x="900000" y="2225160"/>
            <a:ext cx="8457120" cy="2091960"/>
          </a:xfrm>
          <a:prstGeom prst="rect">
            <a:avLst/>
          </a:prstGeom>
          <a:noFill/>
          <a:ln w="0">
            <a:noFill/>
          </a:ln>
        </p:spPr>
        <p:txBody>
          <a:bodyPr lIns="0" rIns="0" tIns="0" bIns="0" anchor="t">
            <a:normAutofit fontScale="70000" lnSpcReduction="19999"/>
          </a:bodyPr>
          <a:p>
            <a:pPr indent="0">
              <a:lnSpc>
                <a:spcPct val="100000"/>
              </a:lnSpc>
              <a:spcBef>
                <a:spcPts val="1417"/>
              </a:spcBef>
              <a:buNone/>
              <a:tabLst>
                <a:tab algn="l" pos="0"/>
              </a:tabLst>
            </a:pPr>
            <a:r>
              <a:rPr lang="en-US" sz="2400" b="1" u="none" strike="noStrike">
                <a:solidFill>
                  <a:srgbClr val="000000"/>
                </a:solidFill>
                <a:effectLst/>
                <a:uFillTx/>
                <a:latin typeface="Arial"/>
              </a:rPr>
              <a:t>Stage 1</a:t>
            </a:r>
            <a:r>
              <a:rPr lang="en-US" sz="2400" b="0" u="none" strike="noStrike">
                <a:solidFill>
                  <a:srgbClr val="000000"/>
                </a:solidFill>
                <a:effectLst/>
                <a:uFillTx/>
                <a:latin typeface="Arial"/>
              </a:rPr>
              <a:t>: (Build an interpretable KT model right away, by scarifying some flexibility) </a:t>
            </a:r>
            <a:endParaRPr lang="en-AU" sz="2400" b="0" u="none" strike="noStrike">
              <a:solidFill>
                <a:srgbClr val="000000"/>
              </a:solidFill>
              <a:effectLst/>
              <a:uFillTx/>
              <a:latin typeface="Arial"/>
            </a:endParaRPr>
          </a:p>
          <a:p>
            <a:pPr indent="0">
              <a:lnSpc>
                <a:spcPct val="100000"/>
              </a:lnSpc>
              <a:spcBef>
                <a:spcPts val="1417"/>
              </a:spcBef>
              <a:buNone/>
              <a:tabLst>
                <a:tab algn="l" pos="0"/>
              </a:tabLst>
            </a:pPr>
            <a:r>
              <a:rPr lang="en-US" sz="2400" b="0" u="none" strike="noStrike">
                <a:solidFill>
                  <a:srgbClr val="000000"/>
                </a:solidFill>
                <a:effectLst/>
                <a:uFillTx/>
                <a:latin typeface="Arial"/>
              </a:rPr>
              <a:t>Use a language model to generate human-readable KCs to initialise and train a Graph-KT model.</a:t>
            </a:r>
            <a:endParaRPr lang="en-AU" sz="2400" b="0" u="none" strike="noStrike">
              <a:solidFill>
                <a:srgbClr val="000000"/>
              </a:solidFill>
              <a:effectLst/>
              <a:uFillTx/>
              <a:latin typeface="Arial"/>
            </a:endParaRPr>
          </a:p>
          <a:p>
            <a:pPr indent="0">
              <a:lnSpc>
                <a:spcPct val="100000"/>
              </a:lnSpc>
              <a:spcBef>
                <a:spcPts val="1417"/>
              </a:spcBef>
              <a:buNone/>
              <a:tabLst>
                <a:tab algn="l" pos="0"/>
              </a:tabLst>
            </a:pPr>
            <a:endParaRPr lang="en-AU" sz="2400" b="0" u="none" strike="noStrike">
              <a:solidFill>
                <a:srgbClr val="000000"/>
              </a:solidFill>
              <a:effectLst/>
              <a:uFillTx/>
              <a:latin typeface="Arial"/>
            </a:endParaRPr>
          </a:p>
          <a:p>
            <a:pPr indent="0">
              <a:lnSpc>
                <a:spcPct val="100000"/>
              </a:lnSpc>
              <a:spcBef>
                <a:spcPts val="1417"/>
              </a:spcBef>
              <a:buNone/>
              <a:tabLst>
                <a:tab algn="l" pos="0"/>
              </a:tabLst>
            </a:pPr>
            <a:r>
              <a:rPr lang="en-US" sz="2400" b="1" u="none" strike="noStrike">
                <a:solidFill>
                  <a:srgbClr val="000000"/>
                </a:solidFill>
                <a:effectLst/>
                <a:uFillTx/>
                <a:latin typeface="Arial"/>
              </a:rPr>
              <a:t>Stage 2</a:t>
            </a:r>
            <a:r>
              <a:rPr lang="en-US" sz="2400" b="0" u="none" strike="noStrike">
                <a:solidFill>
                  <a:srgbClr val="000000"/>
                </a:solidFill>
                <a:effectLst/>
                <a:uFillTx/>
                <a:latin typeface="Arial"/>
              </a:rPr>
              <a:t>: (Make a flexible KT model interpretable as well) </a:t>
            </a:r>
            <a:endParaRPr lang="en-AU" sz="2400" b="0" u="none" strike="noStrike">
              <a:solidFill>
                <a:srgbClr val="000000"/>
              </a:solidFill>
              <a:effectLst/>
              <a:uFillTx/>
              <a:latin typeface="Arial"/>
            </a:endParaRPr>
          </a:p>
          <a:p>
            <a:pPr indent="0">
              <a:lnSpc>
                <a:spcPct val="100000"/>
              </a:lnSpc>
              <a:spcBef>
                <a:spcPts val="1417"/>
              </a:spcBef>
              <a:buNone/>
              <a:tabLst>
                <a:tab algn="l" pos="0"/>
              </a:tabLst>
            </a:pPr>
            <a:r>
              <a:rPr lang="en-US" sz="2400" b="0" u="none" strike="noStrike">
                <a:solidFill>
                  <a:srgbClr val="000000"/>
                </a:solidFill>
                <a:effectLst/>
                <a:uFillTx/>
                <a:latin typeface="Arial"/>
              </a:rPr>
              <a:t>Given a trained Graph-KT model, map its implicit KC nodes embedding to some meaningful and human-interpretable KCs / text.</a:t>
            </a:r>
            <a:endParaRPr lang="en-AU" sz="2400" b="0" u="none" strike="noStrike">
              <a:solidFill>
                <a:srgbClr val="000000"/>
              </a:solidFill>
              <a:effectLst/>
              <a:uFillTx/>
              <a:latin typeface="Arial"/>
            </a:endParaRPr>
          </a:p>
        </p:txBody>
      </p:sp>
      <p:sp>
        <p:nvSpPr>
          <p:cNvPr id="4" name="PlaceHolder 3"/>
          <p:cNvSpPr>
            <a:spLocks noGrp="1"/>
          </p:cNvSpPr>
          <p:nvPr>
            <p:ph type="sldNum" idx="2"/>
          </p:nvPr>
        </p:nvSpPr>
        <p:spPr/>
        <p:txBody>
          <a:bodyPr/>
          <a:p>
            <a:fld id="{309D6144-CAD6-47A9-9D97-80D581D2E8E0}" type="slidenum">
              <a:t>25</a:t>
            </a:fld>
          </a:p>
        </p:txBody>
      </p:sp>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0" name="PlaceHolder 1"/>
          <p:cNvSpPr>
            <a:spLocks noGrp="1"/>
          </p:cNvSpPr>
          <p:nvPr>
            <p:ph type="title"/>
          </p:nvPr>
        </p:nvSpPr>
        <p:spPr>
          <a:xfrm>
            <a:off x="360000" y="177120"/>
            <a:ext cx="4173120" cy="949320"/>
          </a:xfrm>
          <a:prstGeom prst="rect">
            <a:avLst/>
          </a:prstGeom>
          <a:noFill/>
          <a:ln w="0">
            <a:noFill/>
          </a:ln>
        </p:spPr>
        <p:txBody>
          <a:bodyPr lIns="0" rIns="0" tIns="0" bIns="0" anchor="ctr">
            <a:spAutoFit/>
          </a:bodyPr>
          <a:p>
            <a:pPr indent="0" algn="ctr">
              <a:lnSpc>
                <a:spcPct val="100000"/>
              </a:lnSpc>
              <a:buNone/>
              <a:tabLst>
                <a:tab algn="l" pos="0"/>
              </a:tabLst>
            </a:pPr>
            <a:r>
              <a:rPr lang="en-US" sz="2600" b="0" u="none" strike="noStrike">
                <a:solidFill>
                  <a:srgbClr val="000000"/>
                </a:solidFill>
                <a:effectLst/>
                <a:uFillTx/>
                <a:latin typeface="Arial"/>
              </a:rPr>
              <a:t>Stage 1: LLM for GNN Initialisation</a:t>
            </a:r>
            <a:endParaRPr lang="en-AU" sz="2600" b="0" u="none" strike="noStrike">
              <a:solidFill>
                <a:srgbClr val="000000"/>
              </a:solidFill>
              <a:effectLst/>
              <a:uFillTx/>
              <a:latin typeface="Arial"/>
            </a:endParaRPr>
          </a:p>
        </p:txBody>
      </p:sp>
      <p:sp>
        <p:nvSpPr>
          <p:cNvPr id="101" name="PlaceHolder 2"/>
          <p:cNvSpPr>
            <a:spLocks noGrp="1"/>
          </p:cNvSpPr>
          <p:nvPr>
            <p:ph/>
          </p:nvPr>
        </p:nvSpPr>
        <p:spPr>
          <a:xfrm>
            <a:off x="360000" y="1391760"/>
            <a:ext cx="4353120" cy="3825360"/>
          </a:xfrm>
          <a:prstGeom prst="rect">
            <a:avLst/>
          </a:prstGeom>
          <a:noFill/>
          <a:ln w="0">
            <a:noFill/>
          </a:ln>
        </p:spPr>
        <p:txBody>
          <a:bodyPr lIns="0" rIns="0" tIns="0" bIns="0" anchor="t">
            <a:normAutofit fontScale="92500" lnSpcReduction="9999"/>
          </a:bodyPr>
          <a:p>
            <a:pPr indent="0">
              <a:lnSpc>
                <a:spcPct val="100000"/>
              </a:lnSpc>
              <a:spcBef>
                <a:spcPts val="1417"/>
              </a:spcBef>
              <a:buNone/>
              <a:tabLst>
                <a:tab algn="l" pos="0"/>
              </a:tabLst>
            </a:pPr>
            <a:r>
              <a:rPr lang="en-US" sz="1400" b="0" u="none" strike="noStrike">
                <a:solidFill>
                  <a:srgbClr val="000000"/>
                </a:solidFill>
                <a:effectLst/>
                <a:uFillTx/>
                <a:latin typeface="Arial"/>
              </a:rPr>
              <a:t>Given the student history [(Question ID, Question Text, Result)]</a:t>
            </a:r>
            <a:endParaRPr lang="en-AU" sz="1400" b="0" u="none" strike="noStrike">
              <a:solidFill>
                <a:srgbClr val="000000"/>
              </a:solidFill>
              <a:effectLst/>
              <a:uFillTx/>
              <a:latin typeface="Arial"/>
            </a:endParaRPr>
          </a:p>
          <a:p>
            <a:pPr marL="432000" indent="-324000">
              <a:lnSpc>
                <a:spcPct val="100000"/>
              </a:lnSpc>
              <a:spcBef>
                <a:spcPts val="1417"/>
              </a:spcBef>
              <a:buClr>
                <a:srgbClr val="000000"/>
              </a:buClr>
              <a:buFont typeface="OpenSymbol"/>
              <a:buAutoNum type="arabicParenR"/>
              <a:tabLst>
                <a:tab algn="l" pos="0"/>
              </a:tabLst>
            </a:pPr>
            <a:r>
              <a:rPr lang="en-US" sz="1400" b="0" u="none" strike="noStrike">
                <a:solidFill>
                  <a:srgbClr val="000000"/>
                </a:solidFill>
                <a:effectLst/>
                <a:uFillTx/>
                <a:latin typeface="Arial"/>
              </a:rPr>
              <a:t>Train a language model to generate all possible real-world KCs from the question text.</a:t>
            </a:r>
            <a:endParaRPr lang="en-AU" sz="1400" b="0" u="none" strike="noStrike">
              <a:solidFill>
                <a:srgbClr val="000000"/>
              </a:solidFill>
              <a:effectLst/>
              <a:uFillTx/>
              <a:latin typeface="Arial"/>
            </a:endParaRPr>
          </a:p>
          <a:p>
            <a:pPr marL="432000" indent="-324000">
              <a:lnSpc>
                <a:spcPct val="100000"/>
              </a:lnSpc>
              <a:spcBef>
                <a:spcPts val="1417"/>
              </a:spcBef>
              <a:buClr>
                <a:srgbClr val="000000"/>
              </a:buClr>
              <a:buFont typeface="OpenSymbol"/>
              <a:buAutoNum type="arabicParenR"/>
              <a:tabLst>
                <a:tab algn="l" pos="0"/>
              </a:tabLst>
            </a:pPr>
            <a:r>
              <a:rPr lang="en-US" sz="1400" b="0" u="none" strike="noStrike">
                <a:solidFill>
                  <a:srgbClr val="000000"/>
                </a:solidFill>
                <a:effectLst/>
                <a:uFillTx/>
                <a:latin typeface="Arial"/>
              </a:rPr>
              <a:t>Use them to initialise the nodes of a Graph-KT Models. </a:t>
            </a:r>
            <a:endParaRPr lang="en-AU" sz="1400" b="0" u="none" strike="noStrike">
              <a:solidFill>
                <a:srgbClr val="000000"/>
              </a:solidFill>
              <a:effectLst/>
              <a:uFillTx/>
              <a:latin typeface="Arial"/>
            </a:endParaRPr>
          </a:p>
          <a:p>
            <a:pPr marL="432000" indent="-324000">
              <a:lnSpc>
                <a:spcPct val="100000"/>
              </a:lnSpc>
              <a:spcBef>
                <a:spcPts val="1417"/>
              </a:spcBef>
              <a:buClr>
                <a:srgbClr val="000000"/>
              </a:buClr>
              <a:buFont typeface="OpenSymbol"/>
              <a:buAutoNum type="arabicParenR"/>
              <a:tabLst>
                <a:tab algn="l" pos="0"/>
              </a:tabLst>
            </a:pPr>
            <a:r>
              <a:rPr lang="en-US" sz="1400" b="0" u="none" strike="noStrike">
                <a:solidFill>
                  <a:srgbClr val="000000"/>
                </a:solidFill>
                <a:effectLst/>
                <a:uFillTx/>
                <a:latin typeface="Arial"/>
              </a:rPr>
              <a:t>Fix the nodes as well as the mapping between questions and KC nodes during training.</a:t>
            </a:r>
            <a:endParaRPr lang="en-AU" sz="1400" b="0" u="none" strike="noStrike">
              <a:solidFill>
                <a:srgbClr val="000000"/>
              </a:solidFill>
              <a:effectLst/>
              <a:uFillTx/>
              <a:latin typeface="Arial"/>
            </a:endParaRPr>
          </a:p>
          <a:p>
            <a:pPr marL="432000" indent="-324000">
              <a:lnSpc>
                <a:spcPct val="100000"/>
              </a:lnSpc>
              <a:spcBef>
                <a:spcPts val="1417"/>
              </a:spcBef>
              <a:buClr>
                <a:srgbClr val="000000"/>
              </a:buClr>
              <a:buFont typeface="OpenSymbol"/>
              <a:buAutoNum type="arabicParenR"/>
              <a:tabLst>
                <a:tab algn="l" pos="0"/>
              </a:tabLst>
            </a:pPr>
            <a:r>
              <a:rPr lang="en-US" sz="1400" b="0" u="none" strike="noStrike">
                <a:solidFill>
                  <a:srgbClr val="000000"/>
                </a:solidFill>
                <a:effectLst/>
                <a:uFillTx/>
                <a:latin typeface="Arial"/>
                <a:ea typeface="Noto Sans CJK SC"/>
              </a:rPr>
              <a:t>The trained KT model should inherently contain explicit and interpretable KCs</a:t>
            </a:r>
            <a:endParaRPr lang="en-AU" sz="1400" b="0" u="none" strike="noStrike">
              <a:solidFill>
                <a:srgbClr val="000000"/>
              </a:solidFill>
              <a:effectLst/>
              <a:uFillTx/>
              <a:latin typeface="Arial"/>
            </a:endParaRPr>
          </a:p>
          <a:p>
            <a:pPr indent="0">
              <a:lnSpc>
                <a:spcPct val="100000"/>
              </a:lnSpc>
              <a:spcBef>
                <a:spcPts val="1417"/>
              </a:spcBef>
              <a:buNone/>
              <a:tabLst>
                <a:tab algn="l" pos="0"/>
              </a:tabLst>
            </a:pPr>
            <a:r>
              <a:rPr lang="en-US" sz="1400" b="0" u="none" strike="noStrike">
                <a:solidFill>
                  <a:srgbClr val="000000"/>
                </a:solidFill>
                <a:effectLst/>
                <a:uFillTx/>
                <a:latin typeface="Arial"/>
                <a:ea typeface="Noto Sans CJK SC"/>
              </a:rPr>
              <a:t>Limitation:</a:t>
            </a:r>
            <a:endParaRPr lang="en-AU" sz="1400" b="0" u="none" strike="noStrike">
              <a:solidFill>
                <a:srgbClr val="000000"/>
              </a:solidFill>
              <a:effectLst/>
              <a:uFillTx/>
              <a:latin typeface="Arial"/>
            </a:endParaRPr>
          </a:p>
          <a:p>
            <a:pPr indent="0">
              <a:lnSpc>
                <a:spcPct val="100000"/>
              </a:lnSpc>
              <a:spcBef>
                <a:spcPts val="1417"/>
              </a:spcBef>
              <a:buNone/>
              <a:tabLst>
                <a:tab algn="l" pos="0"/>
              </a:tabLst>
            </a:pPr>
            <a:r>
              <a:rPr lang="en-US" sz="1400" b="0" u="none" strike="noStrike">
                <a:solidFill>
                  <a:srgbClr val="000000"/>
                </a:solidFill>
                <a:effectLst/>
                <a:uFillTx/>
                <a:latin typeface="Arial"/>
                <a:ea typeface="Noto Sans CJK SC"/>
              </a:rPr>
              <a:t>We can no longer model complex KCs and their relations, e.g., hierarchical KCs, if we does not explicitly do so, since they are fixed during training.</a:t>
            </a:r>
            <a:endParaRPr lang="en-AU" sz="1400" b="0" u="none" strike="noStrike">
              <a:solidFill>
                <a:srgbClr val="000000"/>
              </a:solidFill>
              <a:effectLst/>
              <a:uFillTx/>
              <a:latin typeface="Arial"/>
            </a:endParaRPr>
          </a:p>
          <a:p>
            <a:pPr indent="0">
              <a:lnSpc>
                <a:spcPct val="100000"/>
              </a:lnSpc>
              <a:spcBef>
                <a:spcPts val="1417"/>
              </a:spcBef>
              <a:buNone/>
              <a:tabLst>
                <a:tab algn="l" pos="0"/>
              </a:tabLst>
            </a:pPr>
            <a:r>
              <a:rPr lang="en-US" sz="1400" b="0" u="none" strike="noStrike">
                <a:solidFill>
                  <a:srgbClr val="000000"/>
                </a:solidFill>
                <a:effectLst/>
                <a:uFillTx/>
                <a:latin typeface="Arial"/>
                <a:ea typeface="Noto Sans CJK SC"/>
              </a:rPr>
              <a:t>Explicitness ⬆️  Interpretability ⬆️  Flexibility ⬇️ </a:t>
            </a:r>
            <a:endParaRPr lang="en-AU" sz="1400" b="0" u="none" strike="noStrike">
              <a:solidFill>
                <a:srgbClr val="000000"/>
              </a:solidFill>
              <a:effectLst/>
              <a:uFillTx/>
              <a:latin typeface="Arial"/>
            </a:endParaRPr>
          </a:p>
          <a:p>
            <a:pPr indent="0">
              <a:lnSpc>
                <a:spcPct val="100000"/>
              </a:lnSpc>
              <a:spcBef>
                <a:spcPts val="1417"/>
              </a:spcBef>
              <a:buNone/>
              <a:tabLst>
                <a:tab algn="l" pos="0"/>
              </a:tabLst>
            </a:pPr>
            <a:endParaRPr lang="en-AU" sz="1400" b="0" u="none" strike="noStrike">
              <a:solidFill>
                <a:srgbClr val="000000"/>
              </a:solidFill>
              <a:effectLst/>
              <a:uFillTx/>
              <a:latin typeface="Arial"/>
            </a:endParaRPr>
          </a:p>
          <a:p>
            <a:pPr indent="0">
              <a:lnSpc>
                <a:spcPct val="100000"/>
              </a:lnSpc>
              <a:spcBef>
                <a:spcPts val="1417"/>
              </a:spcBef>
              <a:buNone/>
              <a:tabLst>
                <a:tab algn="l" pos="0"/>
              </a:tabLst>
            </a:pPr>
            <a:endParaRPr lang="en-AU" sz="1400" b="0" u="none" strike="noStrike">
              <a:solidFill>
                <a:srgbClr val="000000"/>
              </a:solidFill>
              <a:effectLst/>
              <a:uFillTx/>
              <a:latin typeface="Arial"/>
            </a:endParaRPr>
          </a:p>
          <a:p>
            <a:pPr indent="0">
              <a:lnSpc>
                <a:spcPct val="100000"/>
              </a:lnSpc>
              <a:spcBef>
                <a:spcPts val="1417"/>
              </a:spcBef>
              <a:buNone/>
              <a:tabLst>
                <a:tab algn="l" pos="0"/>
              </a:tabLst>
            </a:pPr>
            <a:endParaRPr lang="en-AU" sz="1400" b="0" u="none" strike="noStrike">
              <a:solidFill>
                <a:srgbClr val="000000"/>
              </a:solidFill>
              <a:effectLst/>
              <a:uFillTx/>
              <a:latin typeface="Arial"/>
            </a:endParaRPr>
          </a:p>
          <a:p>
            <a:pPr indent="0">
              <a:lnSpc>
                <a:spcPct val="100000"/>
              </a:lnSpc>
              <a:spcBef>
                <a:spcPts val="1417"/>
              </a:spcBef>
              <a:buNone/>
              <a:tabLst>
                <a:tab algn="l" pos="0"/>
              </a:tabLst>
            </a:pPr>
            <a:endParaRPr lang="en-AU" sz="1400" b="0" u="none" strike="noStrike">
              <a:solidFill>
                <a:srgbClr val="000000"/>
              </a:solidFill>
              <a:effectLst/>
              <a:uFillTx/>
              <a:latin typeface="Arial"/>
            </a:endParaRPr>
          </a:p>
          <a:p>
            <a:pPr indent="0">
              <a:lnSpc>
                <a:spcPct val="100000"/>
              </a:lnSpc>
              <a:spcBef>
                <a:spcPts val="1417"/>
              </a:spcBef>
              <a:buNone/>
              <a:tabLst>
                <a:tab algn="l" pos="0"/>
              </a:tabLst>
            </a:pPr>
            <a:endParaRPr lang="en-AU" sz="1400" b="0" u="none" strike="noStrike">
              <a:solidFill>
                <a:srgbClr val="000000"/>
              </a:solidFill>
              <a:effectLst/>
              <a:uFillTx/>
              <a:latin typeface="Arial"/>
            </a:endParaRPr>
          </a:p>
          <a:p>
            <a:pPr indent="0">
              <a:lnSpc>
                <a:spcPct val="100000"/>
              </a:lnSpc>
              <a:spcBef>
                <a:spcPts val="1417"/>
              </a:spcBef>
              <a:buNone/>
              <a:tabLst>
                <a:tab algn="l" pos="0"/>
              </a:tabLst>
            </a:pPr>
            <a:endParaRPr lang="en-AU" sz="1400" b="0" u="none" strike="noStrike">
              <a:solidFill>
                <a:srgbClr val="000000"/>
              </a:solidFill>
              <a:effectLst/>
              <a:uFillTx/>
              <a:latin typeface="Arial"/>
            </a:endParaRPr>
          </a:p>
          <a:p>
            <a:pPr indent="0">
              <a:lnSpc>
                <a:spcPct val="100000"/>
              </a:lnSpc>
              <a:spcBef>
                <a:spcPts val="1417"/>
              </a:spcBef>
              <a:buNone/>
              <a:tabLst>
                <a:tab algn="l" pos="0"/>
              </a:tabLst>
            </a:pPr>
            <a:endParaRPr lang="en-AU" sz="1400" b="0" u="none" strike="noStrike">
              <a:solidFill>
                <a:srgbClr val="000000"/>
              </a:solidFill>
              <a:effectLst/>
              <a:uFillTx/>
              <a:latin typeface="Arial"/>
            </a:endParaRPr>
          </a:p>
          <a:p>
            <a:pPr indent="0">
              <a:lnSpc>
                <a:spcPct val="100000"/>
              </a:lnSpc>
              <a:spcBef>
                <a:spcPts val="1417"/>
              </a:spcBef>
              <a:buNone/>
              <a:tabLst>
                <a:tab algn="l" pos="0"/>
              </a:tabLst>
            </a:pPr>
            <a:endParaRPr lang="en-AU" sz="1400" b="0" u="none" strike="noStrike">
              <a:solidFill>
                <a:srgbClr val="000000"/>
              </a:solidFill>
              <a:effectLst/>
              <a:uFillTx/>
              <a:latin typeface="Arial"/>
            </a:endParaRPr>
          </a:p>
          <a:p>
            <a:pPr indent="0">
              <a:lnSpc>
                <a:spcPct val="100000"/>
              </a:lnSpc>
              <a:spcBef>
                <a:spcPts val="1417"/>
              </a:spcBef>
              <a:buNone/>
              <a:tabLst>
                <a:tab algn="l" pos="0"/>
              </a:tabLst>
            </a:pPr>
            <a:endParaRPr lang="en-AU" sz="1400" b="0" u="none" strike="noStrike">
              <a:solidFill>
                <a:srgbClr val="000000"/>
              </a:solidFill>
              <a:effectLst/>
              <a:uFillTx/>
              <a:latin typeface="Arial"/>
            </a:endParaRPr>
          </a:p>
          <a:p>
            <a:pPr indent="0">
              <a:lnSpc>
                <a:spcPct val="100000"/>
              </a:lnSpc>
              <a:spcBef>
                <a:spcPts val="1417"/>
              </a:spcBef>
              <a:buNone/>
              <a:tabLst>
                <a:tab algn="l" pos="0"/>
              </a:tabLst>
            </a:pPr>
            <a:endParaRPr lang="en-AU" sz="2400" b="0" u="none" strike="noStrike">
              <a:solidFill>
                <a:srgbClr val="000000"/>
              </a:solidFill>
              <a:effectLst/>
              <a:uFillTx/>
              <a:latin typeface="Arial"/>
            </a:endParaRPr>
          </a:p>
          <a:p>
            <a:pPr indent="0">
              <a:lnSpc>
                <a:spcPct val="100000"/>
              </a:lnSpc>
              <a:spcBef>
                <a:spcPts val="1417"/>
              </a:spcBef>
              <a:buNone/>
              <a:tabLst>
                <a:tab algn="l" pos="0"/>
              </a:tabLst>
            </a:pPr>
            <a:endParaRPr lang="en-AU" sz="2400" b="0" u="none" strike="noStrike">
              <a:solidFill>
                <a:srgbClr val="000000"/>
              </a:solidFill>
              <a:effectLst/>
              <a:uFillTx/>
              <a:latin typeface="Arial"/>
            </a:endParaRPr>
          </a:p>
          <a:p>
            <a:pPr marL="432000" indent="0">
              <a:lnSpc>
                <a:spcPct val="100000"/>
              </a:lnSpc>
              <a:spcBef>
                <a:spcPts val="1417"/>
              </a:spcBef>
              <a:buNone/>
              <a:tabLst>
                <a:tab algn="l" pos="0"/>
              </a:tabLst>
            </a:pPr>
            <a:endParaRPr lang="en-AU" sz="2400" b="0" u="none" strike="noStrike">
              <a:solidFill>
                <a:srgbClr val="000000"/>
              </a:solidFill>
              <a:effectLst/>
              <a:uFillTx/>
              <a:latin typeface="Arial"/>
            </a:endParaRPr>
          </a:p>
          <a:p>
            <a:pPr marL="432000" indent="0">
              <a:lnSpc>
                <a:spcPct val="100000"/>
              </a:lnSpc>
              <a:spcBef>
                <a:spcPts val="1417"/>
              </a:spcBef>
              <a:buNone/>
              <a:tabLst>
                <a:tab algn="l" pos="0"/>
              </a:tabLst>
            </a:pPr>
            <a:endParaRPr lang="en-AU" sz="2400" b="0" u="none" strike="noStrike">
              <a:solidFill>
                <a:srgbClr val="000000"/>
              </a:solidFill>
              <a:effectLst/>
              <a:uFillTx/>
              <a:latin typeface="Arial"/>
            </a:endParaRPr>
          </a:p>
          <a:p>
            <a:pPr marL="432000" indent="0">
              <a:lnSpc>
                <a:spcPct val="100000"/>
              </a:lnSpc>
              <a:spcBef>
                <a:spcPts val="1417"/>
              </a:spcBef>
              <a:buNone/>
              <a:tabLst>
                <a:tab algn="l" pos="0"/>
              </a:tabLst>
            </a:pPr>
            <a:endParaRPr lang="en-AU" sz="2400" b="0" u="none" strike="noStrike">
              <a:solidFill>
                <a:srgbClr val="000000"/>
              </a:solidFill>
              <a:effectLst/>
              <a:uFillTx/>
              <a:latin typeface="Arial"/>
            </a:endParaRPr>
          </a:p>
          <a:p>
            <a:pPr marL="432000" indent="0">
              <a:lnSpc>
                <a:spcPct val="100000"/>
              </a:lnSpc>
              <a:spcBef>
                <a:spcPts val="1417"/>
              </a:spcBef>
              <a:buNone/>
              <a:tabLst>
                <a:tab algn="l" pos="0"/>
              </a:tabLst>
            </a:pPr>
            <a:endParaRPr lang="en-AU" sz="2400" b="0" u="none" strike="noStrike">
              <a:solidFill>
                <a:srgbClr val="000000"/>
              </a:solidFill>
              <a:effectLst/>
              <a:uFillTx/>
              <a:latin typeface="Arial"/>
            </a:endParaRPr>
          </a:p>
        </p:txBody>
      </p:sp>
      <p:pic>
        <p:nvPicPr>
          <p:cNvPr id="102" name=""/>
          <p:cNvPicPr/>
          <p:nvPr/>
        </p:nvPicPr>
        <p:blipFill>
          <a:blip r:embed="rId1"/>
          <a:stretch/>
        </p:blipFill>
        <p:spPr>
          <a:xfrm>
            <a:off x="5040000" y="180000"/>
            <a:ext cx="3417120" cy="5291280"/>
          </a:xfrm>
          <a:prstGeom prst="rect">
            <a:avLst/>
          </a:prstGeom>
          <a:noFill/>
          <a:ln w="0">
            <a:noFill/>
          </a:ln>
        </p:spPr>
      </p:pic>
      <p:sp>
        <p:nvSpPr>
          <p:cNvPr id="103" name=""/>
          <p:cNvSpPr/>
          <p:nvPr/>
        </p:nvSpPr>
        <p:spPr>
          <a:xfrm>
            <a:off x="7740000" y="3420000"/>
            <a:ext cx="2157120" cy="179388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lang="en-US" sz="1200" b="0" u="none" strike="noStrike">
                <a:solidFill>
                  <a:srgbClr val="ff0000"/>
                </a:solidFill>
                <a:effectLst/>
                <a:uFillTx/>
                <a:latin typeface="Arial"/>
                <a:ea typeface="DejaVu Sans"/>
              </a:rPr>
              <a:t>Dynamically Initialised.</a:t>
            </a:r>
            <a:endParaRPr lang="en-AU" sz="1200" b="0" u="none" strike="noStrike">
              <a:solidFill>
                <a:srgbClr val="000000"/>
              </a:solidFill>
              <a:effectLst/>
              <a:uFillTx/>
              <a:latin typeface="Arial"/>
            </a:endParaRPr>
          </a:p>
          <a:p>
            <a:pPr>
              <a:lnSpc>
                <a:spcPct val="100000"/>
              </a:lnSpc>
            </a:pPr>
            <a:r>
              <a:rPr lang="en-US" sz="1200" b="0" u="none" strike="noStrike">
                <a:solidFill>
                  <a:srgbClr val="ff0000"/>
                </a:solidFill>
                <a:effectLst/>
                <a:uFillTx/>
                <a:latin typeface="Arial"/>
                <a:ea typeface="DejaVu Sans"/>
              </a:rPr>
              <a:t>Fixed during Training.</a:t>
            </a:r>
            <a:endParaRPr lang="en-AU" sz="1200" b="0" u="none" strike="noStrike">
              <a:solidFill>
                <a:srgbClr val="000000"/>
              </a:solidFill>
              <a:effectLst/>
              <a:uFillTx/>
              <a:latin typeface="Arial"/>
            </a:endParaRPr>
          </a:p>
          <a:p>
            <a:pPr>
              <a:lnSpc>
                <a:spcPct val="100000"/>
              </a:lnSpc>
            </a:pPr>
            <a:endParaRPr lang="en-AU" sz="1200" b="0" u="none" strike="noStrike">
              <a:solidFill>
                <a:srgbClr val="000000"/>
              </a:solidFill>
              <a:effectLst/>
              <a:uFillTx/>
              <a:latin typeface="Arial"/>
            </a:endParaRPr>
          </a:p>
          <a:p>
            <a:pPr>
              <a:lnSpc>
                <a:spcPct val="100000"/>
              </a:lnSpc>
            </a:pPr>
            <a:r>
              <a:rPr lang="en-US" sz="1200" b="0" u="none" strike="noStrike">
                <a:solidFill>
                  <a:srgbClr val="2a6099"/>
                </a:solidFill>
                <a:effectLst/>
                <a:uFillTx/>
                <a:latin typeface="Arial"/>
                <a:ea typeface="DejaVu Sans"/>
              </a:rPr>
              <a:t>Static/global parameters</a:t>
            </a:r>
            <a:endParaRPr lang="en-AU" sz="1200" b="0" u="none" strike="noStrike">
              <a:solidFill>
                <a:srgbClr val="000000"/>
              </a:solidFill>
              <a:effectLst/>
              <a:uFillTx/>
              <a:latin typeface="Arial"/>
            </a:endParaRPr>
          </a:p>
          <a:p>
            <a:pPr>
              <a:lnSpc>
                <a:spcPct val="100000"/>
              </a:lnSpc>
            </a:pPr>
            <a:r>
              <a:rPr lang="en-US" sz="1200" b="0" u="none" strike="noStrike">
                <a:solidFill>
                  <a:srgbClr val="000000"/>
                </a:solidFill>
                <a:effectLst/>
                <a:uFillTx/>
                <a:latin typeface="Arial"/>
                <a:ea typeface="DejaVu Sans"/>
              </a:rPr>
              <a:t>Learned during training</a:t>
            </a:r>
            <a:endParaRPr lang="en-AU" sz="1200" b="0" u="none" strike="noStrike">
              <a:solidFill>
                <a:srgbClr val="000000"/>
              </a:solidFill>
              <a:effectLst/>
              <a:uFillTx/>
              <a:latin typeface="Arial"/>
            </a:endParaRPr>
          </a:p>
          <a:p>
            <a:pPr>
              <a:lnSpc>
                <a:spcPct val="100000"/>
              </a:lnSpc>
            </a:pPr>
            <a:r>
              <a:rPr lang="en-US" sz="1200" b="0" u="none" strike="noStrike">
                <a:solidFill>
                  <a:srgbClr val="000000"/>
                </a:solidFill>
                <a:effectLst/>
                <a:uFillTx/>
                <a:latin typeface="Arial"/>
                <a:ea typeface="DejaVu Sans"/>
              </a:rPr>
              <a:t>Fixed at inference</a:t>
            </a:r>
            <a:endParaRPr lang="en-AU" sz="1200" b="0" u="none" strike="noStrike">
              <a:solidFill>
                <a:srgbClr val="000000"/>
              </a:solidFill>
              <a:effectLst/>
              <a:uFillTx/>
              <a:latin typeface="Arial"/>
            </a:endParaRPr>
          </a:p>
          <a:p>
            <a:pPr>
              <a:lnSpc>
                <a:spcPct val="100000"/>
              </a:lnSpc>
            </a:pPr>
            <a:endParaRPr lang="en-AU" sz="1200" b="0" u="none" strike="noStrike">
              <a:solidFill>
                <a:srgbClr val="000000"/>
              </a:solidFill>
              <a:effectLst/>
              <a:uFillTx/>
              <a:latin typeface="Arial"/>
            </a:endParaRPr>
          </a:p>
          <a:p>
            <a:pPr>
              <a:lnSpc>
                <a:spcPct val="100000"/>
              </a:lnSpc>
            </a:pPr>
            <a:r>
              <a:rPr lang="en-US" sz="1200" b="0" u="none" strike="noStrike">
                <a:solidFill>
                  <a:srgbClr val="00a933"/>
                </a:solidFill>
                <a:effectLst/>
                <a:uFillTx/>
                <a:latin typeface="Arial"/>
                <a:ea typeface="DejaVu Sans"/>
              </a:rPr>
              <a:t>Dynamic/online parameters</a:t>
            </a:r>
            <a:r>
              <a:rPr lang="en-US" sz="1200" b="0" u="none" strike="noStrike">
                <a:solidFill>
                  <a:srgbClr val="000000"/>
                </a:solidFill>
                <a:effectLst/>
                <a:uFillTx/>
                <a:latin typeface="Arial"/>
                <a:ea typeface="DejaVu Sans"/>
              </a:rPr>
              <a:t> </a:t>
            </a:r>
            <a:endParaRPr lang="en-AU" sz="1200" b="0" u="none" strike="noStrike">
              <a:solidFill>
                <a:srgbClr val="000000"/>
              </a:solidFill>
              <a:effectLst/>
              <a:uFillTx/>
              <a:latin typeface="Arial"/>
            </a:endParaRPr>
          </a:p>
          <a:p>
            <a:pPr>
              <a:lnSpc>
                <a:spcPct val="100000"/>
              </a:lnSpc>
            </a:pPr>
            <a:r>
              <a:rPr lang="en-US" sz="1200" b="0" u="none" strike="noStrike">
                <a:solidFill>
                  <a:srgbClr val="000000"/>
                </a:solidFill>
                <a:effectLst/>
                <a:uFillTx/>
                <a:latin typeface="Arial"/>
                <a:ea typeface="DejaVu Sans"/>
              </a:rPr>
              <a:t>Update during inference</a:t>
            </a:r>
            <a:endParaRPr lang="en-AU" sz="1200" b="0" u="none" strike="noStrike">
              <a:solidFill>
                <a:srgbClr val="000000"/>
              </a:solidFill>
              <a:effectLst/>
              <a:uFillTx/>
              <a:latin typeface="Arial"/>
            </a:endParaRPr>
          </a:p>
        </p:txBody>
      </p:sp>
      <p:sp>
        <p:nvSpPr>
          <p:cNvPr id="4" name="PlaceHolder 3"/>
          <p:cNvSpPr>
            <a:spLocks noGrp="1"/>
          </p:cNvSpPr>
          <p:nvPr>
            <p:ph type="sldNum" idx="2"/>
          </p:nvPr>
        </p:nvSpPr>
        <p:spPr/>
        <p:txBody>
          <a:bodyPr/>
          <a:p>
            <a:fld id="{AD9F31BC-B269-412C-A5F3-FE21D47BF46A}" type="slidenum">
              <a:t>26</a:t>
            </a:fld>
          </a:p>
        </p:txBody>
      </p:sp>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4" name=""/>
          <p:cNvSpPr/>
          <p:nvPr/>
        </p:nvSpPr>
        <p:spPr>
          <a:xfrm>
            <a:off x="360000" y="260280"/>
            <a:ext cx="4137120" cy="45684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lang="en-US" sz="2600" b="0" u="none" strike="noStrike">
                <a:solidFill>
                  <a:srgbClr val="000000"/>
                </a:solidFill>
                <a:effectLst/>
                <a:uFillTx/>
                <a:latin typeface="Arial"/>
                <a:ea typeface="DejaVu Sans"/>
              </a:rPr>
              <a:t>Stage 2: LLM-GNN Fusion</a:t>
            </a:r>
            <a:endParaRPr lang="en-AU" sz="2600" b="0" u="none" strike="noStrike">
              <a:solidFill>
                <a:srgbClr val="000000"/>
              </a:solidFill>
              <a:effectLst/>
              <a:uFillTx/>
              <a:latin typeface="Arial"/>
            </a:endParaRPr>
          </a:p>
        </p:txBody>
      </p:sp>
      <p:pic>
        <p:nvPicPr>
          <p:cNvPr id="105" name=""/>
          <p:cNvPicPr/>
          <p:nvPr/>
        </p:nvPicPr>
        <p:blipFill>
          <a:blip r:embed="rId1"/>
          <a:stretch/>
        </p:blipFill>
        <p:spPr>
          <a:xfrm>
            <a:off x="5465520" y="180000"/>
            <a:ext cx="3531600" cy="5294520"/>
          </a:xfrm>
          <a:prstGeom prst="rect">
            <a:avLst/>
          </a:prstGeom>
          <a:noFill/>
          <a:ln w="0">
            <a:noFill/>
          </a:ln>
        </p:spPr>
      </p:pic>
      <p:sp>
        <p:nvSpPr>
          <p:cNvPr id="106" name="PlaceHolder 1"/>
          <p:cNvSpPr>
            <a:spLocks noGrp="1"/>
          </p:cNvSpPr>
          <p:nvPr>
            <p:ph/>
          </p:nvPr>
        </p:nvSpPr>
        <p:spPr>
          <a:xfrm>
            <a:off x="360000" y="1211760"/>
            <a:ext cx="4353120" cy="3825360"/>
          </a:xfrm>
          <a:prstGeom prst="rect">
            <a:avLst/>
          </a:prstGeom>
          <a:noFill/>
          <a:ln w="0">
            <a:noFill/>
          </a:ln>
        </p:spPr>
        <p:txBody>
          <a:bodyPr lIns="0" rIns="0" tIns="0" bIns="0" anchor="t">
            <a:normAutofit/>
          </a:bodyPr>
          <a:p>
            <a:pPr marL="432000" indent="-324000">
              <a:lnSpc>
                <a:spcPct val="100000"/>
              </a:lnSpc>
              <a:spcBef>
                <a:spcPts val="1417"/>
              </a:spcBef>
              <a:buClr>
                <a:srgbClr val="000000"/>
              </a:buClr>
              <a:buFont typeface="OpenSymbol"/>
              <a:buAutoNum type="arabicParenR"/>
            </a:pPr>
            <a:r>
              <a:rPr lang="en-US" sz="1400" b="0" u="none" strike="noStrike">
                <a:solidFill>
                  <a:srgbClr val="000000"/>
                </a:solidFill>
                <a:effectLst/>
                <a:uFillTx/>
                <a:latin typeface="Arial"/>
              </a:rPr>
              <a:t>Use a Large Language Model (LLM) Encoder to do the mapping from (question ID, text, result) to node embedding in the graph of GNN.</a:t>
            </a:r>
            <a:endParaRPr lang="en-AU" sz="1400" b="0" u="none" strike="noStrike">
              <a:solidFill>
                <a:srgbClr val="000000"/>
              </a:solidFill>
              <a:effectLst/>
              <a:uFillTx/>
              <a:latin typeface="Arial"/>
            </a:endParaRPr>
          </a:p>
          <a:p>
            <a:pPr marL="432000" indent="-324000">
              <a:lnSpc>
                <a:spcPct val="100000"/>
              </a:lnSpc>
              <a:spcBef>
                <a:spcPts val="1417"/>
              </a:spcBef>
              <a:buClr>
                <a:srgbClr val="000000"/>
              </a:buClr>
              <a:buFont typeface="OpenSymbol"/>
              <a:buAutoNum type="arabicParenR"/>
            </a:pPr>
            <a:r>
              <a:rPr lang="en-US" sz="1400" b="0" u="none" strike="noStrike">
                <a:solidFill>
                  <a:srgbClr val="000000"/>
                </a:solidFill>
                <a:effectLst/>
                <a:uFillTx/>
                <a:latin typeface="Arial"/>
              </a:rPr>
              <a:t>The nodes in GNN remains implicit, but they are now semantically meaningful</a:t>
            </a:r>
            <a:endParaRPr lang="en-AU" sz="1400" b="0" u="none" strike="noStrike">
              <a:solidFill>
                <a:srgbClr val="000000"/>
              </a:solidFill>
              <a:effectLst/>
              <a:uFillTx/>
              <a:latin typeface="Arial"/>
            </a:endParaRPr>
          </a:p>
          <a:p>
            <a:pPr marL="432000" indent="-324000">
              <a:lnSpc>
                <a:spcPct val="100000"/>
              </a:lnSpc>
              <a:spcBef>
                <a:spcPts val="1417"/>
              </a:spcBef>
              <a:buClr>
                <a:srgbClr val="000000"/>
              </a:buClr>
              <a:buFont typeface="OpenSymbol"/>
              <a:buAutoNum type="arabicParenR"/>
            </a:pPr>
            <a:r>
              <a:rPr lang="en-US" sz="1400" b="0" u="none" strike="noStrike">
                <a:solidFill>
                  <a:srgbClr val="000000"/>
                </a:solidFill>
                <a:effectLst/>
                <a:uFillTx/>
                <a:latin typeface="Arial"/>
              </a:rPr>
              <a:t>Use a LLM decoder to decode the implicit knowledge state into natural language.</a:t>
            </a:r>
            <a:endParaRPr lang="en-AU" sz="1400" b="0" u="none" strike="noStrike">
              <a:solidFill>
                <a:srgbClr val="000000"/>
              </a:solidFill>
              <a:effectLst/>
              <a:uFillTx/>
              <a:latin typeface="Arial"/>
            </a:endParaRPr>
          </a:p>
          <a:p>
            <a:pPr indent="0">
              <a:lnSpc>
                <a:spcPct val="100000"/>
              </a:lnSpc>
              <a:spcBef>
                <a:spcPts val="1417"/>
              </a:spcBef>
              <a:buNone/>
              <a:tabLst>
                <a:tab algn="l" pos="0"/>
              </a:tabLst>
            </a:pPr>
            <a:endParaRPr lang="en-AU" sz="1400" b="0" u="none" strike="noStrike">
              <a:solidFill>
                <a:srgbClr val="000000"/>
              </a:solidFill>
              <a:effectLst/>
              <a:uFillTx/>
              <a:latin typeface="Arial"/>
            </a:endParaRPr>
          </a:p>
          <a:p>
            <a:pPr indent="0">
              <a:lnSpc>
                <a:spcPct val="100000"/>
              </a:lnSpc>
              <a:spcBef>
                <a:spcPts val="1417"/>
              </a:spcBef>
              <a:buNone/>
              <a:tabLst>
                <a:tab algn="l" pos="0"/>
              </a:tabLst>
            </a:pPr>
            <a:r>
              <a:rPr lang="en-US" sz="1400" b="0" u="none" strike="noStrike">
                <a:solidFill>
                  <a:srgbClr val="000000"/>
                </a:solidFill>
                <a:effectLst/>
                <a:uFillTx/>
                <a:latin typeface="Arial"/>
              </a:rPr>
              <a:t>             Interpretability ⬆️  Flexibility ⬆️</a:t>
            </a:r>
            <a:endParaRPr lang="en-AU" sz="1400" b="0" u="none" strike="noStrike">
              <a:solidFill>
                <a:srgbClr val="000000"/>
              </a:solidFill>
              <a:effectLst/>
              <a:uFillTx/>
              <a:latin typeface="Arial"/>
            </a:endParaRPr>
          </a:p>
          <a:p>
            <a:pPr indent="0">
              <a:lnSpc>
                <a:spcPct val="100000"/>
              </a:lnSpc>
              <a:spcBef>
                <a:spcPts val="1417"/>
              </a:spcBef>
              <a:buNone/>
              <a:tabLst>
                <a:tab algn="l" pos="0"/>
              </a:tabLst>
            </a:pPr>
            <a:r>
              <a:rPr lang="en-US" sz="1400" b="0" u="none" strike="noStrike">
                <a:solidFill>
                  <a:srgbClr val="000000"/>
                </a:solidFill>
                <a:effectLst/>
                <a:uFillTx/>
                <a:latin typeface="Arial"/>
              </a:rPr>
              <a:t>                     Implicitness Remains</a:t>
            </a:r>
            <a:endParaRPr lang="en-AU" sz="1400" b="0" u="none" strike="noStrike">
              <a:solidFill>
                <a:srgbClr val="000000"/>
              </a:solidFill>
              <a:effectLst/>
              <a:uFillTx/>
              <a:latin typeface="Arial"/>
            </a:endParaRPr>
          </a:p>
          <a:p>
            <a:pPr indent="0">
              <a:lnSpc>
                <a:spcPct val="100000"/>
              </a:lnSpc>
              <a:spcBef>
                <a:spcPts val="1417"/>
              </a:spcBef>
              <a:buNone/>
              <a:tabLst>
                <a:tab algn="l" pos="0"/>
              </a:tabLst>
            </a:pPr>
            <a:endParaRPr lang="en-AU" sz="1400" b="0" u="none" strike="noStrike">
              <a:solidFill>
                <a:srgbClr val="000000"/>
              </a:solidFill>
              <a:effectLst/>
              <a:uFillTx/>
              <a:latin typeface="Arial"/>
            </a:endParaRPr>
          </a:p>
          <a:p>
            <a:pPr indent="0">
              <a:lnSpc>
                <a:spcPct val="100000"/>
              </a:lnSpc>
              <a:spcBef>
                <a:spcPts val="1417"/>
              </a:spcBef>
              <a:buNone/>
              <a:tabLst>
                <a:tab algn="l" pos="0"/>
              </a:tabLst>
            </a:pPr>
            <a:endParaRPr lang="en-AU" sz="1400" b="0" u="none" strike="noStrike">
              <a:solidFill>
                <a:srgbClr val="000000"/>
              </a:solidFill>
              <a:effectLst/>
              <a:uFillTx/>
              <a:latin typeface="Arial"/>
            </a:endParaRPr>
          </a:p>
          <a:p>
            <a:pPr indent="0">
              <a:lnSpc>
                <a:spcPct val="100000"/>
              </a:lnSpc>
              <a:spcBef>
                <a:spcPts val="1417"/>
              </a:spcBef>
              <a:buNone/>
              <a:tabLst>
                <a:tab algn="l" pos="0"/>
              </a:tabLst>
            </a:pPr>
            <a:endParaRPr lang="en-AU" sz="1400" b="0" u="none" strike="noStrike">
              <a:solidFill>
                <a:srgbClr val="000000"/>
              </a:solidFill>
              <a:effectLst/>
              <a:uFillTx/>
              <a:latin typeface="Arial"/>
            </a:endParaRPr>
          </a:p>
          <a:p>
            <a:pPr indent="0">
              <a:lnSpc>
                <a:spcPct val="100000"/>
              </a:lnSpc>
              <a:spcBef>
                <a:spcPts val="1417"/>
              </a:spcBef>
              <a:buNone/>
              <a:tabLst>
                <a:tab algn="l" pos="0"/>
              </a:tabLst>
            </a:pPr>
            <a:endParaRPr lang="en-AU" sz="1400" b="0" u="none" strike="noStrike">
              <a:solidFill>
                <a:srgbClr val="000000"/>
              </a:solidFill>
              <a:effectLst/>
              <a:uFillTx/>
              <a:latin typeface="Arial"/>
            </a:endParaRPr>
          </a:p>
          <a:p>
            <a:pPr indent="0">
              <a:lnSpc>
                <a:spcPct val="100000"/>
              </a:lnSpc>
              <a:spcBef>
                <a:spcPts val="1417"/>
              </a:spcBef>
              <a:buNone/>
              <a:tabLst>
                <a:tab algn="l" pos="0"/>
              </a:tabLst>
            </a:pPr>
            <a:endParaRPr lang="en-AU" sz="1400" b="0" u="none" strike="noStrike">
              <a:solidFill>
                <a:srgbClr val="000000"/>
              </a:solidFill>
              <a:effectLst/>
              <a:uFillTx/>
              <a:latin typeface="Arial"/>
            </a:endParaRPr>
          </a:p>
          <a:p>
            <a:pPr indent="0">
              <a:lnSpc>
                <a:spcPct val="100000"/>
              </a:lnSpc>
              <a:spcBef>
                <a:spcPts val="1417"/>
              </a:spcBef>
              <a:buNone/>
              <a:tabLst>
                <a:tab algn="l" pos="0"/>
              </a:tabLst>
            </a:pPr>
            <a:endParaRPr lang="en-AU" sz="1400" b="0" u="none" strike="noStrike">
              <a:solidFill>
                <a:srgbClr val="000000"/>
              </a:solidFill>
              <a:effectLst/>
              <a:uFillTx/>
              <a:latin typeface="Arial"/>
            </a:endParaRPr>
          </a:p>
          <a:p>
            <a:pPr indent="0">
              <a:lnSpc>
                <a:spcPct val="100000"/>
              </a:lnSpc>
              <a:spcBef>
                <a:spcPts val="1417"/>
              </a:spcBef>
              <a:buNone/>
              <a:tabLst>
                <a:tab algn="l" pos="0"/>
              </a:tabLst>
            </a:pPr>
            <a:endParaRPr lang="en-AU" sz="1400" b="0" u="none" strike="noStrike">
              <a:solidFill>
                <a:srgbClr val="000000"/>
              </a:solidFill>
              <a:effectLst/>
              <a:uFillTx/>
              <a:latin typeface="Arial"/>
            </a:endParaRPr>
          </a:p>
          <a:p>
            <a:pPr indent="0">
              <a:lnSpc>
                <a:spcPct val="100000"/>
              </a:lnSpc>
              <a:spcBef>
                <a:spcPts val="1417"/>
              </a:spcBef>
              <a:buNone/>
              <a:tabLst>
                <a:tab algn="l" pos="0"/>
              </a:tabLst>
            </a:pPr>
            <a:endParaRPr lang="en-AU" sz="1400" b="0" u="none" strike="noStrike">
              <a:solidFill>
                <a:srgbClr val="000000"/>
              </a:solidFill>
              <a:effectLst/>
              <a:uFillTx/>
              <a:latin typeface="Arial"/>
            </a:endParaRPr>
          </a:p>
          <a:p>
            <a:pPr indent="0">
              <a:lnSpc>
                <a:spcPct val="100000"/>
              </a:lnSpc>
              <a:spcBef>
                <a:spcPts val="1417"/>
              </a:spcBef>
              <a:buNone/>
              <a:tabLst>
                <a:tab algn="l" pos="0"/>
              </a:tabLst>
            </a:pPr>
            <a:endParaRPr lang="en-AU" sz="1400" b="0" u="none" strike="noStrike">
              <a:solidFill>
                <a:srgbClr val="000000"/>
              </a:solidFill>
              <a:effectLst/>
              <a:uFillTx/>
              <a:latin typeface="Arial"/>
            </a:endParaRPr>
          </a:p>
          <a:p>
            <a:pPr indent="0">
              <a:lnSpc>
                <a:spcPct val="100000"/>
              </a:lnSpc>
              <a:spcBef>
                <a:spcPts val="1417"/>
              </a:spcBef>
              <a:buNone/>
              <a:tabLst>
                <a:tab algn="l" pos="0"/>
              </a:tabLst>
            </a:pPr>
            <a:endParaRPr lang="en-AU" sz="1400" b="0" u="none" strike="noStrike">
              <a:solidFill>
                <a:srgbClr val="000000"/>
              </a:solidFill>
              <a:effectLst/>
              <a:uFillTx/>
              <a:latin typeface="Arial"/>
            </a:endParaRPr>
          </a:p>
          <a:p>
            <a:pPr indent="0">
              <a:lnSpc>
                <a:spcPct val="100000"/>
              </a:lnSpc>
              <a:spcBef>
                <a:spcPts val="1417"/>
              </a:spcBef>
              <a:buNone/>
              <a:tabLst>
                <a:tab algn="l" pos="0"/>
              </a:tabLst>
            </a:pPr>
            <a:endParaRPr lang="en-AU" sz="2400" b="0" u="none" strike="noStrike">
              <a:solidFill>
                <a:srgbClr val="000000"/>
              </a:solidFill>
              <a:effectLst/>
              <a:uFillTx/>
              <a:latin typeface="Arial"/>
            </a:endParaRPr>
          </a:p>
          <a:p>
            <a:pPr indent="0">
              <a:lnSpc>
                <a:spcPct val="100000"/>
              </a:lnSpc>
              <a:spcBef>
                <a:spcPts val="1417"/>
              </a:spcBef>
              <a:buNone/>
              <a:tabLst>
                <a:tab algn="l" pos="0"/>
              </a:tabLst>
            </a:pPr>
            <a:endParaRPr lang="en-AU" sz="2400" b="0" u="none" strike="noStrike">
              <a:solidFill>
                <a:srgbClr val="000000"/>
              </a:solidFill>
              <a:effectLst/>
              <a:uFillTx/>
              <a:latin typeface="Arial"/>
            </a:endParaRPr>
          </a:p>
          <a:p>
            <a:pPr marL="432000" indent="0">
              <a:lnSpc>
                <a:spcPct val="100000"/>
              </a:lnSpc>
              <a:spcBef>
                <a:spcPts val="1417"/>
              </a:spcBef>
              <a:buNone/>
              <a:tabLst>
                <a:tab algn="l" pos="0"/>
              </a:tabLst>
            </a:pPr>
            <a:endParaRPr lang="en-AU" sz="2400" b="0" u="none" strike="noStrike">
              <a:solidFill>
                <a:srgbClr val="000000"/>
              </a:solidFill>
              <a:effectLst/>
              <a:uFillTx/>
              <a:latin typeface="Arial"/>
            </a:endParaRPr>
          </a:p>
          <a:p>
            <a:pPr marL="432000" indent="0">
              <a:lnSpc>
                <a:spcPct val="100000"/>
              </a:lnSpc>
              <a:spcBef>
                <a:spcPts val="1417"/>
              </a:spcBef>
              <a:buNone/>
              <a:tabLst>
                <a:tab algn="l" pos="0"/>
              </a:tabLst>
            </a:pPr>
            <a:endParaRPr lang="en-AU" sz="2400" b="0" u="none" strike="noStrike">
              <a:solidFill>
                <a:srgbClr val="000000"/>
              </a:solidFill>
              <a:effectLst/>
              <a:uFillTx/>
              <a:latin typeface="Arial"/>
            </a:endParaRPr>
          </a:p>
          <a:p>
            <a:pPr marL="432000" indent="0">
              <a:lnSpc>
                <a:spcPct val="100000"/>
              </a:lnSpc>
              <a:spcBef>
                <a:spcPts val="1417"/>
              </a:spcBef>
              <a:buNone/>
              <a:tabLst>
                <a:tab algn="l" pos="0"/>
              </a:tabLst>
            </a:pPr>
            <a:endParaRPr lang="en-AU" sz="2400" b="0" u="none" strike="noStrike">
              <a:solidFill>
                <a:srgbClr val="000000"/>
              </a:solidFill>
              <a:effectLst/>
              <a:uFillTx/>
              <a:latin typeface="Arial"/>
            </a:endParaRPr>
          </a:p>
          <a:p>
            <a:pPr marL="432000" indent="0">
              <a:lnSpc>
                <a:spcPct val="100000"/>
              </a:lnSpc>
              <a:spcBef>
                <a:spcPts val="1417"/>
              </a:spcBef>
              <a:buNone/>
              <a:tabLst>
                <a:tab algn="l" pos="0"/>
              </a:tabLst>
            </a:pPr>
            <a:endParaRPr lang="en-AU" sz="2400" b="0" u="none" strike="noStrike">
              <a:solidFill>
                <a:srgbClr val="000000"/>
              </a:solidFill>
              <a:effectLst/>
              <a:uFillTx/>
              <a:latin typeface="Arial"/>
            </a:endParaRPr>
          </a:p>
        </p:txBody>
      </p:sp>
      <p:sp>
        <p:nvSpPr>
          <p:cNvPr id="3" name="PlaceHolder 2"/>
          <p:cNvSpPr>
            <a:spLocks noGrp="1"/>
          </p:cNvSpPr>
          <p:nvPr>
            <p:ph type="sldNum" idx="2"/>
          </p:nvPr>
        </p:nvSpPr>
        <p:spPr/>
        <p:txBody>
          <a:bodyPr/>
          <a:p>
            <a:fld id="{9C4D43B4-A3AB-42E0-AD9C-EE47EBE13BC3}" type="slidenum">
              <a:t>27</a:t>
            </a:fld>
          </a:p>
        </p:txBody>
      </p:sp>
    </p:spTree>
  </p:cSld>
  <mc:AlternateContent>
    <mc:Choice Requires="p14">
      <p:transition spd="slow" p14:dur="2000"/>
    </mc:Choice>
    <mc:Fallback>
      <p:transition spd="slow"/>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7" name="PlaceHolder 1"/>
          <p:cNvSpPr>
            <a:spLocks noGrp="1"/>
          </p:cNvSpPr>
          <p:nvPr>
            <p:ph type="title"/>
          </p:nvPr>
        </p:nvSpPr>
        <p:spPr>
          <a:xfrm>
            <a:off x="504000" y="223200"/>
            <a:ext cx="9068760" cy="949320"/>
          </a:xfrm>
          <a:prstGeom prst="rect">
            <a:avLst/>
          </a:prstGeom>
          <a:noFill/>
          <a:ln w="0">
            <a:noFill/>
          </a:ln>
        </p:spPr>
        <p:txBody>
          <a:bodyPr lIns="0" rIns="0" tIns="0" bIns="0" anchor="ctr">
            <a:spAutoFit/>
          </a:bodyPr>
          <a:p>
            <a:pPr indent="0" algn="ctr">
              <a:lnSpc>
                <a:spcPct val="100000"/>
              </a:lnSpc>
              <a:buNone/>
              <a:tabLst>
                <a:tab algn="l" pos="0"/>
              </a:tabLst>
            </a:pPr>
            <a:r>
              <a:rPr lang="en-US" sz="4400" b="0" u="none" strike="noStrike">
                <a:solidFill>
                  <a:srgbClr val="000000"/>
                </a:solidFill>
                <a:effectLst/>
                <a:uFillTx/>
                <a:latin typeface="Arial"/>
              </a:rPr>
              <a:t>Our Goals</a:t>
            </a:r>
            <a:endParaRPr lang="en-AU" sz="4400" b="0" u="none" strike="noStrike">
              <a:solidFill>
                <a:srgbClr val="000000"/>
              </a:solidFill>
              <a:effectLst/>
              <a:uFillTx/>
              <a:latin typeface="Arial"/>
            </a:endParaRPr>
          </a:p>
        </p:txBody>
      </p:sp>
      <p:pic>
        <p:nvPicPr>
          <p:cNvPr id="108" name=""/>
          <p:cNvPicPr/>
          <p:nvPr/>
        </p:nvPicPr>
        <p:blipFill>
          <a:blip r:embed="rId1"/>
          <a:stretch/>
        </p:blipFill>
        <p:spPr>
          <a:xfrm>
            <a:off x="1113120" y="2160000"/>
            <a:ext cx="2592000" cy="2337120"/>
          </a:xfrm>
          <a:prstGeom prst="rect">
            <a:avLst/>
          </a:prstGeom>
          <a:noFill/>
          <a:ln w="0">
            <a:noFill/>
          </a:ln>
        </p:spPr>
      </p:pic>
      <p:sp>
        <p:nvSpPr>
          <p:cNvPr id="109" name=""/>
          <p:cNvSpPr/>
          <p:nvPr/>
        </p:nvSpPr>
        <p:spPr>
          <a:xfrm>
            <a:off x="2340000" y="3240000"/>
            <a:ext cx="2157120" cy="587160"/>
          </a:xfrm>
          <a:prstGeom prst="rect">
            <a:avLst/>
          </a:prstGeom>
          <a:noFill/>
          <a:ln w="0">
            <a:noFill/>
          </a:ln>
        </p:spPr>
        <p:style>
          <a:lnRef idx="0"/>
          <a:fillRef idx="0"/>
          <a:effectRef idx="0"/>
          <a:fontRef idx="minor"/>
        </p:style>
        <p:txBody>
          <a:bodyPr lIns="90000" rIns="90000" tIns="45000" bIns="45000" anchor="t" anchorCtr="1">
            <a:spAutoFit/>
          </a:bodyPr>
          <a:p>
            <a:pPr algn="ctr">
              <a:lnSpc>
                <a:spcPct val="100000"/>
              </a:lnSpc>
            </a:pPr>
            <a:r>
              <a:rPr lang="en-AU" sz="1800" b="0" u="none" strike="noStrike">
                <a:solidFill>
                  <a:srgbClr val="000000"/>
                </a:solidFill>
                <a:effectLst/>
                <a:highlight>
                  <a:srgbClr val="ffffff"/>
                </a:highlight>
                <a:uFillTx/>
                <a:latin typeface="Arial"/>
                <a:ea typeface="DejaVu Sans"/>
              </a:rPr>
              <a:t>Interpretability</a:t>
            </a:r>
            <a:endParaRPr lang="en-AU" sz="1800" b="0" u="none" strike="noStrike">
              <a:solidFill>
                <a:srgbClr val="000000"/>
              </a:solidFill>
              <a:effectLst/>
              <a:uFillTx/>
              <a:latin typeface="Arial"/>
            </a:endParaRPr>
          </a:p>
        </p:txBody>
      </p:sp>
      <p:sp>
        <p:nvSpPr>
          <p:cNvPr id="110" name=""/>
          <p:cNvSpPr/>
          <p:nvPr/>
        </p:nvSpPr>
        <p:spPr>
          <a:xfrm>
            <a:off x="540000" y="2520000"/>
            <a:ext cx="1941120" cy="1107000"/>
          </a:xfrm>
          <a:prstGeom prst="rect">
            <a:avLst/>
          </a:prstGeom>
          <a:noFill/>
          <a:ln w="0">
            <a:noFill/>
          </a:ln>
        </p:spPr>
        <p:style>
          <a:lnRef idx="0"/>
          <a:fillRef idx="0"/>
          <a:effectRef idx="0"/>
          <a:fontRef idx="minor"/>
        </p:style>
        <p:txBody>
          <a:bodyPr lIns="90000" rIns="90000" tIns="45000" bIns="45000" anchor="t" anchorCtr="1">
            <a:spAutoFit/>
          </a:bodyPr>
          <a:p>
            <a:pPr algn="ctr">
              <a:lnSpc>
                <a:spcPct val="100000"/>
              </a:lnSpc>
            </a:pPr>
            <a:r>
              <a:rPr lang="en-AU" sz="1800" b="0" u="none" strike="noStrike">
                <a:solidFill>
                  <a:srgbClr val="000000"/>
                </a:solidFill>
                <a:effectLst/>
                <a:highlight>
                  <a:srgbClr val="ffffff"/>
                </a:highlight>
                <a:uFillTx/>
                <a:latin typeface="Arial"/>
                <a:ea typeface="DejaVu Sans"/>
              </a:rPr>
              <a:t>Performance</a:t>
            </a:r>
            <a:endParaRPr lang="en-AU" sz="1800" b="0" u="none" strike="noStrike">
              <a:solidFill>
                <a:srgbClr val="000000"/>
              </a:solidFill>
              <a:effectLst/>
              <a:uFillTx/>
              <a:latin typeface="Arial"/>
            </a:endParaRPr>
          </a:p>
          <a:p>
            <a:pPr algn="ctr">
              <a:lnSpc>
                <a:spcPct val="100000"/>
              </a:lnSpc>
            </a:pPr>
            <a:r>
              <a:rPr lang="en-AU" sz="1800" b="0" u="none" strike="noStrike">
                <a:solidFill>
                  <a:srgbClr val="000000"/>
                </a:solidFill>
                <a:effectLst/>
                <a:highlight>
                  <a:srgbClr val="ffffff"/>
                </a:highlight>
                <a:uFillTx/>
                <a:latin typeface="Arial"/>
                <a:ea typeface="DejaVu Sans"/>
              </a:rPr>
              <a:t>Flexibility</a:t>
            </a:r>
            <a:endParaRPr lang="en-AU" sz="1800" b="0" u="none" strike="noStrike">
              <a:solidFill>
                <a:srgbClr val="000000"/>
              </a:solidFill>
              <a:effectLst/>
              <a:uFillTx/>
              <a:latin typeface="Arial"/>
            </a:endParaRPr>
          </a:p>
        </p:txBody>
      </p:sp>
      <p:pic>
        <p:nvPicPr>
          <p:cNvPr id="111" name=""/>
          <p:cNvPicPr/>
          <p:nvPr/>
        </p:nvPicPr>
        <p:blipFill>
          <a:blip r:embed="rId2"/>
          <a:stretch/>
        </p:blipFill>
        <p:spPr>
          <a:xfrm>
            <a:off x="6153120" y="2160000"/>
            <a:ext cx="2592000" cy="2337120"/>
          </a:xfrm>
          <a:prstGeom prst="rect">
            <a:avLst/>
          </a:prstGeom>
          <a:noFill/>
          <a:ln w="0">
            <a:noFill/>
          </a:ln>
        </p:spPr>
      </p:pic>
      <p:sp>
        <p:nvSpPr>
          <p:cNvPr id="112" name=""/>
          <p:cNvSpPr/>
          <p:nvPr/>
        </p:nvSpPr>
        <p:spPr>
          <a:xfrm>
            <a:off x="7200000" y="3240000"/>
            <a:ext cx="2157120" cy="397440"/>
          </a:xfrm>
          <a:prstGeom prst="rect">
            <a:avLst/>
          </a:prstGeom>
          <a:noFill/>
          <a:ln w="0">
            <a:noFill/>
          </a:ln>
        </p:spPr>
        <p:style>
          <a:lnRef idx="0"/>
          <a:fillRef idx="0"/>
          <a:effectRef idx="0"/>
          <a:fontRef idx="minor"/>
        </p:style>
        <p:txBody>
          <a:bodyPr lIns="90000" rIns="90000" tIns="45000" bIns="45000" anchor="t" anchorCtr="1">
            <a:spAutoFit/>
          </a:bodyPr>
          <a:p>
            <a:pPr algn="ctr">
              <a:lnSpc>
                <a:spcPct val="100000"/>
              </a:lnSpc>
            </a:pPr>
            <a:r>
              <a:rPr lang="en-AU" sz="1800" b="0" u="none" strike="noStrike">
                <a:solidFill>
                  <a:srgbClr val="000000"/>
                </a:solidFill>
                <a:effectLst/>
                <a:highlight>
                  <a:srgbClr val="ffffff"/>
                </a:highlight>
                <a:uFillTx/>
                <a:latin typeface="Arial"/>
                <a:ea typeface="DejaVu Sans"/>
              </a:rPr>
              <a:t>Hard Work</a:t>
            </a:r>
            <a:endParaRPr lang="en-AU" sz="1800" b="0" u="none" strike="noStrike">
              <a:solidFill>
                <a:srgbClr val="000000"/>
              </a:solidFill>
              <a:effectLst/>
              <a:uFillTx/>
              <a:latin typeface="Arial"/>
            </a:endParaRPr>
          </a:p>
        </p:txBody>
      </p:sp>
      <p:sp>
        <p:nvSpPr>
          <p:cNvPr id="113" name=""/>
          <p:cNvSpPr/>
          <p:nvPr/>
        </p:nvSpPr>
        <p:spPr>
          <a:xfrm>
            <a:off x="5400000" y="2340000"/>
            <a:ext cx="2157120" cy="1446840"/>
          </a:xfrm>
          <a:prstGeom prst="rect">
            <a:avLst/>
          </a:prstGeom>
          <a:noFill/>
          <a:ln w="0">
            <a:noFill/>
          </a:ln>
        </p:spPr>
        <p:style>
          <a:lnRef idx="0"/>
          <a:fillRef idx="0"/>
          <a:effectRef idx="0"/>
          <a:fontRef idx="minor"/>
        </p:style>
        <p:txBody>
          <a:bodyPr lIns="90000" rIns="90000" tIns="45000" bIns="45000" anchor="t" anchorCtr="1">
            <a:spAutoFit/>
          </a:bodyPr>
          <a:p>
            <a:pPr algn="ctr">
              <a:lnSpc>
                <a:spcPct val="100000"/>
              </a:lnSpc>
            </a:pPr>
            <a:r>
              <a:rPr lang="en-AU" sz="1800" b="0" u="none" strike="noStrike">
                <a:solidFill>
                  <a:srgbClr val="000000"/>
                </a:solidFill>
                <a:effectLst/>
                <a:highlight>
                  <a:srgbClr val="ffffff"/>
                </a:highlight>
                <a:uFillTx/>
                <a:latin typeface="Arial"/>
                <a:ea typeface="DejaVu Sans"/>
              </a:rPr>
              <a:t>Interpretability</a:t>
            </a:r>
            <a:endParaRPr lang="en-AU" sz="1800" b="0" u="none" strike="noStrike">
              <a:solidFill>
                <a:srgbClr val="000000"/>
              </a:solidFill>
              <a:effectLst/>
              <a:uFillTx/>
              <a:latin typeface="Arial"/>
            </a:endParaRPr>
          </a:p>
          <a:p>
            <a:pPr algn="ctr">
              <a:lnSpc>
                <a:spcPct val="100000"/>
              </a:lnSpc>
            </a:pPr>
            <a:r>
              <a:rPr lang="en-AU" sz="1800" b="0" u="none" strike="noStrike">
                <a:solidFill>
                  <a:srgbClr val="000000"/>
                </a:solidFill>
                <a:effectLst/>
                <a:highlight>
                  <a:srgbClr val="ffffff"/>
                </a:highlight>
                <a:uFillTx/>
                <a:latin typeface="Arial"/>
                <a:ea typeface="DejaVu Sans"/>
              </a:rPr>
              <a:t>Performance</a:t>
            </a:r>
            <a:endParaRPr lang="en-AU" sz="1800" b="0" u="none" strike="noStrike">
              <a:solidFill>
                <a:srgbClr val="000000"/>
              </a:solidFill>
              <a:effectLst/>
              <a:uFillTx/>
              <a:latin typeface="Arial"/>
            </a:endParaRPr>
          </a:p>
          <a:p>
            <a:pPr algn="ctr">
              <a:lnSpc>
                <a:spcPct val="100000"/>
              </a:lnSpc>
            </a:pPr>
            <a:r>
              <a:rPr lang="en-AU" sz="1800" b="0" u="none" strike="noStrike">
                <a:solidFill>
                  <a:srgbClr val="000000"/>
                </a:solidFill>
                <a:effectLst/>
                <a:highlight>
                  <a:srgbClr val="ffffff"/>
                </a:highlight>
                <a:uFillTx/>
                <a:latin typeface="Arial"/>
                <a:ea typeface="DejaVu Sans"/>
              </a:rPr>
              <a:t>Flexibility</a:t>
            </a:r>
            <a:endParaRPr lang="en-AU" sz="1800" b="0" u="none" strike="noStrike">
              <a:solidFill>
                <a:srgbClr val="000000"/>
              </a:solidFill>
              <a:effectLst/>
              <a:uFillTx/>
              <a:latin typeface="Arial"/>
            </a:endParaRPr>
          </a:p>
        </p:txBody>
      </p:sp>
      <p:sp>
        <p:nvSpPr>
          <p:cNvPr id="114" name=""/>
          <p:cNvSpPr/>
          <p:nvPr/>
        </p:nvSpPr>
        <p:spPr>
          <a:xfrm>
            <a:off x="4320000" y="2880000"/>
            <a:ext cx="1077120" cy="357120"/>
          </a:xfrm>
          <a:prstGeom prst="rightArrow">
            <a:avLst>
              <a:gd name="adj1" fmla="val 50000"/>
              <a:gd name="adj2" fmla="val 75000"/>
            </a:avLst>
          </a:prstGeom>
          <a:solidFill>
            <a:srgbClr val="729fcf"/>
          </a:solidFill>
          <a:ln w="0">
            <a:solidFill>
              <a:srgbClr val="3465a4"/>
            </a:solidFill>
          </a:ln>
        </p:spPr>
        <p:style>
          <a:lnRef idx="0"/>
          <a:fillRef idx="0"/>
          <a:effectRef idx="0"/>
          <a:fontRef idx="minor"/>
        </p:style>
        <p:txBody>
          <a:bodyPr lIns="90000" rIns="90000" tIns="45000" bIns="45000" anchor="ctr">
            <a:noAutofit/>
          </a:bodyPr>
          <a:p>
            <a:pPr>
              <a:lnSpc>
                <a:spcPct val="100000"/>
              </a:lnSpc>
            </a:pPr>
            <a:endParaRPr lang="en-US" sz="1800" b="0" u="none" strike="noStrike">
              <a:solidFill>
                <a:srgbClr val="000000"/>
              </a:solidFill>
              <a:effectLst/>
              <a:uFillTx/>
              <a:latin typeface="Arial"/>
              <a:ea typeface="DejaVu Sans"/>
            </a:endParaRPr>
          </a:p>
        </p:txBody>
      </p:sp>
      <p:sp>
        <p:nvSpPr>
          <p:cNvPr id="3" name="PlaceHolder 2"/>
          <p:cNvSpPr>
            <a:spLocks noGrp="1"/>
          </p:cNvSpPr>
          <p:nvPr>
            <p:ph type="sldNum" idx="2"/>
          </p:nvPr>
        </p:nvSpPr>
        <p:spPr/>
        <p:txBody>
          <a:bodyPr/>
          <a:p>
            <a:fld id="{7A8B7F04-08C5-45B8-84D2-995E2C17EA76}" type="slidenum">
              <a:t>28</a:t>
            </a:fld>
          </a:p>
        </p:txBody>
      </p:sp>
    </p:spTree>
  </p:cSld>
  <mc:AlternateContent>
    <mc:Choice Requires="p14">
      <p:transition spd="slow" p14:dur="2000"/>
    </mc:Choice>
    <mc:Fallback>
      <p:transition spd="slow"/>
    </mc:Fallback>
  </mc:AlternateContent>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5" name="PlaceHolder 1"/>
          <p:cNvSpPr>
            <a:spLocks noGrp="1"/>
          </p:cNvSpPr>
          <p:nvPr>
            <p:ph type="title"/>
          </p:nvPr>
        </p:nvSpPr>
        <p:spPr>
          <a:xfrm>
            <a:off x="468360" y="1617120"/>
            <a:ext cx="9068760" cy="1082880"/>
          </a:xfrm>
          <a:prstGeom prst="rect">
            <a:avLst/>
          </a:prstGeom>
          <a:noFill/>
          <a:ln w="0">
            <a:noFill/>
          </a:ln>
        </p:spPr>
        <p:txBody>
          <a:bodyPr lIns="0" rIns="0" tIns="0" bIns="0" anchor="ctr">
            <a:spAutoFit/>
          </a:bodyPr>
          <a:p>
            <a:pPr indent="0" algn="ctr">
              <a:lnSpc>
                <a:spcPct val="100000"/>
              </a:lnSpc>
              <a:buNone/>
              <a:tabLst>
                <a:tab algn="l" pos="0"/>
              </a:tabLst>
            </a:pPr>
            <a:r>
              <a:rPr lang="en-US" sz="4400" b="0" u="none" strike="noStrike">
                <a:solidFill>
                  <a:srgbClr val="000000"/>
                </a:solidFill>
                <a:effectLst/>
                <a:uFillTx/>
                <a:latin typeface="Arial"/>
              </a:rPr>
              <a:t>Thank you for your attention</a:t>
            </a:r>
            <a:endParaRPr lang="en-AU" sz="4400" b="0" u="none" strike="noStrike">
              <a:solidFill>
                <a:srgbClr val="000000"/>
              </a:solidFill>
              <a:effectLst/>
              <a:uFillTx/>
              <a:latin typeface="Arial"/>
            </a:endParaRPr>
          </a:p>
        </p:txBody>
      </p:sp>
      <p:sp>
        <p:nvSpPr>
          <p:cNvPr id="116" name="PlaceHolder 2"/>
          <p:cNvSpPr>
            <a:spLocks noGrp="1"/>
          </p:cNvSpPr>
          <p:nvPr>
            <p:ph/>
          </p:nvPr>
        </p:nvSpPr>
        <p:spPr>
          <a:xfrm>
            <a:off x="504000" y="3780000"/>
            <a:ext cx="9068760" cy="1437120"/>
          </a:xfrm>
          <a:prstGeom prst="rect">
            <a:avLst/>
          </a:prstGeom>
          <a:noFill/>
          <a:ln w="0">
            <a:noFill/>
          </a:ln>
        </p:spPr>
        <p:txBody>
          <a:bodyPr lIns="0" rIns="0" tIns="0" bIns="0" anchor="t">
            <a:normAutofit fontScale="85000" lnSpcReduction="9999"/>
          </a:bodyPr>
          <a:p>
            <a:pPr indent="0">
              <a:lnSpc>
                <a:spcPct val="100000"/>
              </a:lnSpc>
              <a:spcBef>
                <a:spcPts val="1417"/>
              </a:spcBef>
              <a:buNone/>
              <a:tabLst>
                <a:tab algn="l" pos="0"/>
              </a:tabLst>
            </a:pPr>
            <a:r>
              <a:rPr lang="en-US" sz="1800" b="0" u="none" strike="noStrike">
                <a:solidFill>
                  <a:srgbClr val="000000"/>
                </a:solidFill>
                <a:effectLst/>
                <a:uFillTx/>
                <a:latin typeface="Arial"/>
              </a:rPr>
              <a:t>Bonus Slides: </a:t>
            </a:r>
            <a:endParaRPr lang="en-AU" sz="1800" b="0" u="none" strike="noStrike">
              <a:solidFill>
                <a:srgbClr val="000000"/>
              </a:solidFill>
              <a:effectLst/>
              <a:uFillTx/>
              <a:latin typeface="Arial"/>
            </a:endParaRPr>
          </a:p>
          <a:p>
            <a:pPr marL="432000" indent="-324000">
              <a:lnSpc>
                <a:spcPct val="100000"/>
              </a:lnSpc>
              <a:spcBef>
                <a:spcPts val="1417"/>
              </a:spcBef>
              <a:buClr>
                <a:srgbClr val="000000"/>
              </a:buClr>
              <a:buSzPct val="45000"/>
              <a:buFont typeface="Wingdings" charset="2"/>
              <a:buChar char=""/>
              <a:tabLst>
                <a:tab algn="l" pos="0"/>
              </a:tabLst>
            </a:pPr>
            <a:r>
              <a:rPr lang="en-US" sz="1800" b="1" u="none" strike="noStrike">
                <a:solidFill>
                  <a:srgbClr val="000000"/>
                </a:solidFill>
                <a:effectLst/>
                <a:uFillTx/>
                <a:latin typeface="Arial"/>
              </a:rPr>
              <a:t>Bayesian Network</a:t>
            </a:r>
            <a:r>
              <a:rPr lang="en-US" sz="1800" b="0" u="none" strike="noStrike">
                <a:solidFill>
                  <a:srgbClr val="000000"/>
                </a:solidFill>
                <a:effectLst/>
                <a:uFillTx/>
                <a:latin typeface="Arial"/>
              </a:rPr>
              <a:t>: a type of KT model architecture (also the oldest KT model architecture) that is explicit, interpretable, but not flexible and has low performance. (pg. 29)</a:t>
            </a:r>
            <a:endParaRPr lang="en-AU" sz="1800" b="0" u="none" strike="noStrike">
              <a:solidFill>
                <a:srgbClr val="000000"/>
              </a:solidFill>
              <a:effectLst/>
              <a:uFillTx/>
              <a:latin typeface="Arial"/>
            </a:endParaRPr>
          </a:p>
          <a:p>
            <a:pPr marL="432000" indent="-324000">
              <a:lnSpc>
                <a:spcPct val="100000"/>
              </a:lnSpc>
              <a:spcBef>
                <a:spcPts val="1417"/>
              </a:spcBef>
              <a:buClr>
                <a:srgbClr val="000000"/>
              </a:buClr>
              <a:buSzPct val="45000"/>
              <a:buFont typeface="Wingdings" charset="2"/>
              <a:buChar char=""/>
              <a:tabLst>
                <a:tab algn="l" pos="0"/>
              </a:tabLst>
            </a:pPr>
            <a:r>
              <a:rPr lang="en-US" sz="1800" b="1" u="none" strike="noStrike">
                <a:solidFill>
                  <a:srgbClr val="000000"/>
                </a:solidFill>
                <a:effectLst/>
                <a:uFillTx/>
                <a:latin typeface="Arial"/>
              </a:rPr>
              <a:t>Dataset Challenge</a:t>
            </a:r>
            <a:r>
              <a:rPr lang="en-US" sz="1800" b="0" u="none" strike="noStrike">
                <a:solidFill>
                  <a:srgbClr val="000000"/>
                </a:solidFill>
                <a:effectLst/>
                <a:uFillTx/>
                <a:latin typeface="Arial"/>
              </a:rPr>
              <a:t>: many KT datasets do not provide the text of the questions, which is essential for training LLMs. (pg. 32)</a:t>
            </a:r>
            <a:endParaRPr lang="en-AU" sz="1800" b="0" u="none" strike="noStrike">
              <a:solidFill>
                <a:srgbClr val="000000"/>
              </a:solidFill>
              <a:effectLst/>
              <a:uFillTx/>
              <a:latin typeface="Arial"/>
            </a:endParaRPr>
          </a:p>
        </p:txBody>
      </p:sp>
      <p:sp>
        <p:nvSpPr>
          <p:cNvPr id="4" name="PlaceHolder 3"/>
          <p:cNvSpPr>
            <a:spLocks noGrp="1"/>
          </p:cNvSpPr>
          <p:nvPr>
            <p:ph type="sldNum" idx="2"/>
          </p:nvPr>
        </p:nvSpPr>
        <p:spPr/>
        <p:txBody>
          <a:bodyPr/>
          <a:p>
            <a:fld id="{1500E770-CFF9-4385-A6FC-A25ADBC91DEC}" type="slidenum">
              <a:t>29</a:t>
            </a:fld>
          </a:p>
        </p:txBody>
      </p:sp>
    </p:spTree>
  </p:cSld>
  <mc:AlternateContent>
    <mc:Choice Requires="p14">
      <p:transition spd="slow" p14:dur="2000"/>
    </mc:Choice>
    <mc:Fallback>
      <p:transition spd="slow"/>
    </mc:Fallback>
  </mc:AlternateContent>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17" name=""/>
          <p:cNvPicPr/>
          <p:nvPr/>
        </p:nvPicPr>
        <p:blipFill>
          <a:blip r:embed="rId1"/>
          <a:stretch/>
        </p:blipFill>
        <p:spPr>
          <a:xfrm>
            <a:off x="308160" y="360000"/>
            <a:ext cx="3108960" cy="4497120"/>
          </a:xfrm>
          <a:prstGeom prst="rect">
            <a:avLst/>
          </a:prstGeom>
          <a:noFill/>
          <a:ln w="0">
            <a:noFill/>
          </a:ln>
        </p:spPr>
      </p:pic>
      <p:pic>
        <p:nvPicPr>
          <p:cNvPr id="118" name=""/>
          <p:cNvPicPr/>
          <p:nvPr/>
        </p:nvPicPr>
        <p:blipFill>
          <a:blip r:embed="rId2"/>
          <a:stretch/>
        </p:blipFill>
        <p:spPr>
          <a:xfrm>
            <a:off x="3600000" y="360000"/>
            <a:ext cx="2832120" cy="5037120"/>
          </a:xfrm>
          <a:prstGeom prst="rect">
            <a:avLst/>
          </a:prstGeom>
          <a:noFill/>
          <a:ln w="0">
            <a:noFill/>
          </a:ln>
        </p:spPr>
      </p:pic>
      <p:sp>
        <p:nvSpPr>
          <p:cNvPr id="119" name="PlaceHolder 1"/>
          <p:cNvSpPr>
            <a:spLocks noGrp="1"/>
          </p:cNvSpPr>
          <p:nvPr>
            <p:ph type="title"/>
          </p:nvPr>
        </p:nvSpPr>
        <p:spPr>
          <a:xfrm>
            <a:off x="6661440" y="-49320"/>
            <a:ext cx="3237120" cy="949320"/>
          </a:xfrm>
          <a:prstGeom prst="rect">
            <a:avLst/>
          </a:prstGeom>
          <a:noFill/>
          <a:ln w="0">
            <a:noFill/>
          </a:ln>
        </p:spPr>
        <p:txBody>
          <a:bodyPr lIns="0" rIns="0" tIns="0" bIns="0" anchor="ctr">
            <a:spAutoFit/>
          </a:bodyPr>
          <a:p>
            <a:pPr indent="0" algn="ctr">
              <a:lnSpc>
                <a:spcPct val="100000"/>
              </a:lnSpc>
              <a:buNone/>
              <a:tabLst>
                <a:tab algn="l" pos="0"/>
              </a:tabLst>
            </a:pPr>
            <a:r>
              <a:rPr lang="en-US" sz="2600" b="0" u="none" strike="noStrike">
                <a:solidFill>
                  <a:srgbClr val="000000"/>
                </a:solidFill>
                <a:effectLst/>
                <a:uFillTx/>
                <a:latin typeface="Arial"/>
              </a:rPr>
              <a:t>Bayesian Network</a:t>
            </a:r>
            <a:endParaRPr lang="en-AU" sz="2600" b="0" u="none" strike="noStrike">
              <a:solidFill>
                <a:srgbClr val="000000"/>
              </a:solidFill>
              <a:effectLst/>
              <a:uFillTx/>
              <a:latin typeface="Arial"/>
            </a:endParaRPr>
          </a:p>
        </p:txBody>
      </p:sp>
      <p:sp>
        <p:nvSpPr>
          <p:cNvPr id="120" name=""/>
          <p:cNvSpPr/>
          <p:nvPr/>
        </p:nvSpPr>
        <p:spPr>
          <a:xfrm>
            <a:off x="6661440" y="785880"/>
            <a:ext cx="3237120" cy="4974120"/>
          </a:xfrm>
          <a:prstGeom prst="rect">
            <a:avLst/>
          </a:prstGeom>
          <a:noFill/>
          <a:ln w="0">
            <a:noFill/>
          </a:ln>
        </p:spPr>
        <p:style>
          <a:lnRef idx="0"/>
          <a:fillRef idx="0"/>
          <a:effectRef idx="0"/>
          <a:fontRef idx="minor"/>
        </p:style>
        <p:txBody>
          <a:bodyPr lIns="90000" rIns="90000" tIns="45000" bIns="45000" anchor="t">
            <a:spAutoFit/>
          </a:bodyPr>
          <a:p>
            <a:pPr marL="216000" indent="-216000">
              <a:lnSpc>
                <a:spcPct val="100000"/>
              </a:lnSpc>
              <a:buClr>
                <a:srgbClr val="000000"/>
              </a:buClr>
              <a:buSzPct val="45000"/>
              <a:buFont typeface="Wingdings" charset="2"/>
              <a:buChar char=""/>
            </a:pPr>
            <a:r>
              <a:rPr lang="en-US" sz="1000" b="0" u="none" strike="noStrike">
                <a:solidFill>
                  <a:srgbClr val="000000"/>
                </a:solidFill>
                <a:effectLst/>
                <a:uFillTx/>
                <a:latin typeface="Arial"/>
                <a:ea typeface="DejaVu Sans"/>
              </a:rPr>
              <a:t>The model can only trace the student interactions of a single question. Hence, there is only one latent KC, i.e., the KC for answering the question. </a:t>
            </a:r>
            <a:endParaRPr lang="en-AU" sz="1000" b="0" u="none" strike="noStrike">
              <a:solidFill>
                <a:srgbClr val="000000"/>
              </a:solidFill>
              <a:effectLst/>
              <a:uFillTx/>
              <a:latin typeface="Arial"/>
            </a:endParaRPr>
          </a:p>
          <a:p>
            <a:pPr marL="216000" indent="-216000">
              <a:lnSpc>
                <a:spcPct val="100000"/>
              </a:lnSpc>
              <a:buClr>
                <a:srgbClr val="000000"/>
              </a:buClr>
              <a:buSzPct val="45000"/>
              <a:buFont typeface="Wingdings" charset="2"/>
              <a:buChar char=""/>
            </a:pPr>
            <a:r>
              <a:rPr lang="en-US" sz="1000" b="0" u="none" strike="noStrike">
                <a:solidFill>
                  <a:srgbClr val="000000"/>
                </a:solidFill>
                <a:effectLst/>
                <a:uFillTx/>
                <a:latin typeface="Arial"/>
                <a:ea typeface="DejaVu Sans"/>
              </a:rPr>
              <a:t>The student’s latent knowledge state at t = n, p(Ln), also represents the probability the student can correctly answer the question.</a:t>
            </a:r>
            <a:endParaRPr lang="en-AU" sz="1000" b="0" u="none" strike="noStrike">
              <a:solidFill>
                <a:srgbClr val="000000"/>
              </a:solidFill>
              <a:effectLst/>
              <a:uFillTx/>
              <a:latin typeface="Arial"/>
            </a:endParaRPr>
          </a:p>
          <a:p>
            <a:pPr marL="216000" indent="-216000">
              <a:lnSpc>
                <a:spcPct val="100000"/>
              </a:lnSpc>
              <a:buClr>
                <a:srgbClr val="000000"/>
              </a:buClr>
              <a:buSzPct val="45000"/>
              <a:buFont typeface="Wingdings" charset="2"/>
              <a:buChar char=""/>
            </a:pPr>
            <a:r>
              <a:rPr lang="en-US" sz="1000" b="0" u="none" strike="noStrike">
                <a:solidFill>
                  <a:srgbClr val="000000"/>
                </a:solidFill>
                <a:effectLst/>
                <a:uFillTx/>
                <a:latin typeface="Arial"/>
                <a:ea typeface="DejaVu Sans"/>
              </a:rPr>
              <a:t>The RHS graph is already the full model the original Bayesian BT (BKT), not a conceptual graph. </a:t>
            </a:r>
            <a:endParaRPr lang="en-AU" sz="1000" b="0" u="none" strike="noStrike">
              <a:solidFill>
                <a:srgbClr val="000000"/>
              </a:solidFill>
              <a:effectLst/>
              <a:uFillTx/>
              <a:latin typeface="Arial"/>
            </a:endParaRPr>
          </a:p>
          <a:p>
            <a:pPr marL="216000" indent="-216000">
              <a:lnSpc>
                <a:spcPct val="100000"/>
              </a:lnSpc>
              <a:buClr>
                <a:srgbClr val="000000"/>
              </a:buClr>
              <a:buSzPct val="45000"/>
              <a:buFont typeface="Wingdings" charset="2"/>
              <a:buChar char=""/>
            </a:pPr>
            <a:r>
              <a:rPr lang="en-US" sz="1000" b="0" u="none" strike="noStrike">
                <a:solidFill>
                  <a:srgbClr val="000000"/>
                </a:solidFill>
                <a:effectLst/>
                <a:uFillTx/>
                <a:latin typeface="Arial"/>
                <a:ea typeface="DejaVu Sans"/>
              </a:rPr>
              <a:t>The mastery is binary.</a:t>
            </a:r>
            <a:endParaRPr lang="en-AU" sz="1000" b="0" u="none" strike="noStrike">
              <a:solidFill>
                <a:srgbClr val="000000"/>
              </a:solidFill>
              <a:effectLst/>
              <a:uFillTx/>
              <a:latin typeface="Arial"/>
            </a:endParaRPr>
          </a:p>
          <a:p>
            <a:pPr marL="216000" indent="-216000">
              <a:lnSpc>
                <a:spcPct val="100000"/>
              </a:lnSpc>
              <a:buClr>
                <a:srgbClr val="000000"/>
              </a:buClr>
              <a:buSzPct val="45000"/>
              <a:buFont typeface="Wingdings" charset="2"/>
              <a:buChar char=""/>
            </a:pPr>
            <a:r>
              <a:rPr lang="en-US" sz="1000" b="0" u="none" strike="noStrike">
                <a:solidFill>
                  <a:srgbClr val="000000"/>
                </a:solidFill>
                <a:effectLst/>
                <a:uFillTx/>
                <a:latin typeface="Arial"/>
                <a:ea typeface="DejaVu Sans"/>
              </a:rPr>
              <a:t>For multiple questions, we build a separate BKT model for each.</a:t>
            </a:r>
            <a:endParaRPr lang="en-AU" sz="1000" b="0" u="none" strike="noStrike">
              <a:solidFill>
                <a:srgbClr val="000000"/>
              </a:solidFill>
              <a:effectLst/>
              <a:uFillTx/>
              <a:latin typeface="Arial"/>
            </a:endParaRPr>
          </a:p>
          <a:p>
            <a:pPr>
              <a:lnSpc>
                <a:spcPct val="100000"/>
              </a:lnSpc>
            </a:pPr>
            <a:endParaRPr lang="en-AU" sz="1000" b="0" u="none" strike="noStrike">
              <a:solidFill>
                <a:srgbClr val="000000"/>
              </a:solidFill>
              <a:effectLst/>
              <a:uFillTx/>
              <a:latin typeface="Arial"/>
            </a:endParaRPr>
          </a:p>
          <a:p>
            <a:pPr>
              <a:lnSpc>
                <a:spcPct val="100000"/>
              </a:lnSpc>
            </a:pPr>
            <a:r>
              <a:rPr lang="en-US" sz="1000" b="0" u="none" strike="noStrike">
                <a:solidFill>
                  <a:srgbClr val="2a6099"/>
                </a:solidFill>
                <a:effectLst/>
                <a:uFillTx/>
                <a:latin typeface="Arial"/>
                <a:ea typeface="DejaVu Sans"/>
              </a:rPr>
              <a:t>Static Parameters</a:t>
            </a:r>
            <a:r>
              <a:rPr lang="en-US" sz="1000" b="0" u="none" strike="noStrike">
                <a:solidFill>
                  <a:srgbClr val="000000"/>
                </a:solidFill>
                <a:effectLst/>
                <a:uFillTx/>
                <a:latin typeface="Arial"/>
                <a:ea typeface="DejaVu Sans"/>
              </a:rPr>
              <a:t>. </a:t>
            </a:r>
            <a:endParaRPr lang="en-AU" sz="1000" b="0" u="none" strike="noStrike">
              <a:solidFill>
                <a:srgbClr val="000000"/>
              </a:solidFill>
              <a:effectLst/>
              <a:uFillTx/>
              <a:latin typeface="Arial"/>
            </a:endParaRPr>
          </a:p>
          <a:p>
            <a:pPr marL="216000" indent="-216000">
              <a:lnSpc>
                <a:spcPct val="100000"/>
              </a:lnSpc>
              <a:buClr>
                <a:srgbClr val="000000"/>
              </a:buClr>
              <a:buSzPct val="45000"/>
              <a:buFont typeface="Wingdings" charset="2"/>
              <a:buChar char=""/>
            </a:pPr>
            <a:r>
              <a:rPr lang="en-US" sz="1000" b="0" u="none" strike="noStrike">
                <a:solidFill>
                  <a:srgbClr val="000000"/>
                </a:solidFill>
                <a:effectLst/>
                <a:uFillTx/>
                <a:latin typeface="Arial"/>
                <a:ea typeface="DejaVu Sans"/>
              </a:rPr>
              <a:t>p(G): The probability of guessing right, i.e., the probability of answering the question right even in an unlearned state.</a:t>
            </a:r>
            <a:endParaRPr lang="en-AU" sz="1000" b="0" u="none" strike="noStrike">
              <a:solidFill>
                <a:srgbClr val="000000"/>
              </a:solidFill>
              <a:effectLst/>
              <a:uFillTx/>
              <a:latin typeface="Arial"/>
            </a:endParaRPr>
          </a:p>
          <a:p>
            <a:pPr marL="216000" indent="-216000">
              <a:lnSpc>
                <a:spcPct val="100000"/>
              </a:lnSpc>
              <a:buClr>
                <a:srgbClr val="000000"/>
              </a:buClr>
              <a:buSzPct val="45000"/>
              <a:buFont typeface="Wingdings" charset="2"/>
              <a:buChar char=""/>
            </a:pPr>
            <a:r>
              <a:rPr lang="en-US" sz="1000" b="0" u="none" strike="noStrike">
                <a:solidFill>
                  <a:srgbClr val="000000"/>
                </a:solidFill>
                <a:effectLst/>
                <a:uFillTx/>
                <a:latin typeface="Arial"/>
                <a:ea typeface="DejaVu Sans"/>
              </a:rPr>
              <a:t>p(S): The probability of slipping, i.e., the probability of answering the question wrong in a learned state.</a:t>
            </a:r>
            <a:endParaRPr lang="en-AU" sz="1000" b="0" u="none" strike="noStrike">
              <a:solidFill>
                <a:srgbClr val="000000"/>
              </a:solidFill>
              <a:effectLst/>
              <a:uFillTx/>
              <a:latin typeface="Arial"/>
            </a:endParaRPr>
          </a:p>
          <a:p>
            <a:pPr marL="216000" indent="-216000">
              <a:lnSpc>
                <a:spcPct val="100000"/>
              </a:lnSpc>
              <a:buClr>
                <a:srgbClr val="000000"/>
              </a:buClr>
              <a:buSzPct val="45000"/>
              <a:buFont typeface="Wingdings" charset="2"/>
              <a:buChar char=""/>
            </a:pPr>
            <a:r>
              <a:rPr lang="en-US" sz="1000" b="0" u="none" strike="noStrike">
                <a:solidFill>
                  <a:srgbClr val="000000"/>
                </a:solidFill>
                <a:effectLst/>
                <a:uFillTx/>
                <a:latin typeface="Arial"/>
                <a:ea typeface="DejaVu Sans"/>
              </a:rPr>
              <a:t>p(T): The probability of transiting from a unlearned state to a learned state between t = n and t = n+1.</a:t>
            </a:r>
            <a:endParaRPr lang="en-AU" sz="1000" b="0" u="none" strike="noStrike">
              <a:solidFill>
                <a:srgbClr val="000000"/>
              </a:solidFill>
              <a:effectLst/>
              <a:uFillTx/>
              <a:latin typeface="Arial"/>
            </a:endParaRPr>
          </a:p>
          <a:p>
            <a:pPr marL="216000" indent="-216000">
              <a:lnSpc>
                <a:spcPct val="100000"/>
              </a:lnSpc>
              <a:buClr>
                <a:srgbClr val="000000"/>
              </a:buClr>
              <a:buSzPct val="45000"/>
              <a:buFont typeface="Wingdings" charset="2"/>
              <a:buChar char=""/>
            </a:pPr>
            <a:r>
              <a:rPr lang="en-US" sz="1000" b="0" u="none" strike="noStrike">
                <a:solidFill>
                  <a:srgbClr val="000000"/>
                </a:solidFill>
                <a:effectLst/>
                <a:uFillTx/>
                <a:latin typeface="Arial"/>
                <a:ea typeface="DejaVu Sans"/>
              </a:rPr>
              <a:t>p(L0): The probability that the student have mastered the KC initially.</a:t>
            </a:r>
            <a:endParaRPr lang="en-AU" sz="1000" b="0" u="none" strike="noStrike">
              <a:solidFill>
                <a:srgbClr val="000000"/>
              </a:solidFill>
              <a:effectLst/>
              <a:uFillTx/>
              <a:latin typeface="Arial"/>
            </a:endParaRPr>
          </a:p>
          <a:p>
            <a:pPr>
              <a:lnSpc>
                <a:spcPct val="100000"/>
              </a:lnSpc>
            </a:pPr>
            <a:endParaRPr lang="en-AU" sz="1000" b="0" u="none" strike="noStrike">
              <a:solidFill>
                <a:srgbClr val="000000"/>
              </a:solidFill>
              <a:effectLst/>
              <a:uFillTx/>
              <a:latin typeface="Arial"/>
            </a:endParaRPr>
          </a:p>
          <a:p>
            <a:pPr>
              <a:lnSpc>
                <a:spcPct val="100000"/>
              </a:lnSpc>
            </a:pPr>
            <a:r>
              <a:rPr lang="en-US" sz="1000" b="0" u="none" strike="noStrike">
                <a:solidFill>
                  <a:srgbClr val="00a933"/>
                </a:solidFill>
                <a:effectLst/>
                <a:uFillTx/>
                <a:latin typeface="Arial"/>
                <a:ea typeface="DejaVu Sans"/>
              </a:rPr>
              <a:t>Online parameters.</a:t>
            </a:r>
            <a:r>
              <a:rPr lang="en-US" sz="1000" b="0" u="none" strike="noStrike">
                <a:solidFill>
                  <a:srgbClr val="000000"/>
                </a:solidFill>
                <a:effectLst/>
                <a:uFillTx/>
                <a:latin typeface="Arial"/>
                <a:ea typeface="DejaVu Sans"/>
              </a:rPr>
              <a:t> </a:t>
            </a:r>
            <a:endParaRPr lang="en-AU" sz="1000" b="0" u="none" strike="noStrike">
              <a:solidFill>
                <a:srgbClr val="000000"/>
              </a:solidFill>
              <a:effectLst/>
              <a:uFillTx/>
              <a:latin typeface="Arial"/>
            </a:endParaRPr>
          </a:p>
          <a:p>
            <a:pPr marL="216000" indent="-216000">
              <a:lnSpc>
                <a:spcPct val="100000"/>
              </a:lnSpc>
              <a:buClr>
                <a:srgbClr val="000000"/>
              </a:buClr>
              <a:buSzPct val="45000"/>
              <a:buFont typeface="Wingdings" charset="2"/>
              <a:buChar char=""/>
            </a:pPr>
            <a:r>
              <a:rPr lang="en-US" sz="1000" b="0" u="none" strike="noStrike">
                <a:solidFill>
                  <a:srgbClr val="000000"/>
                </a:solidFill>
                <a:effectLst/>
                <a:uFillTx/>
                <a:latin typeface="Arial"/>
                <a:ea typeface="DejaVu Sans"/>
              </a:rPr>
              <a:t>p(Ln): The probability that the student have masted the KC at t=n. Also the probability that the student can answer the quesiton at t=n.</a:t>
            </a:r>
            <a:endParaRPr lang="en-AU" sz="1000" b="0" u="none" strike="noStrike">
              <a:solidFill>
                <a:srgbClr val="000000"/>
              </a:solidFill>
              <a:effectLst/>
              <a:uFillTx/>
              <a:latin typeface="Arial"/>
            </a:endParaRPr>
          </a:p>
          <a:p>
            <a:pPr>
              <a:lnSpc>
                <a:spcPct val="100000"/>
              </a:lnSpc>
            </a:pPr>
            <a:endParaRPr lang="en-AU" sz="1000" b="0" u="none" strike="noStrike">
              <a:solidFill>
                <a:srgbClr val="000000"/>
              </a:solidFill>
              <a:effectLst/>
              <a:uFillTx/>
              <a:latin typeface="Arial"/>
            </a:endParaRPr>
          </a:p>
          <a:p>
            <a:pPr>
              <a:lnSpc>
                <a:spcPct val="100000"/>
              </a:lnSpc>
            </a:pPr>
            <a:endParaRPr lang="en-AU" sz="1000" b="0" u="none" strike="noStrike">
              <a:solidFill>
                <a:srgbClr val="000000"/>
              </a:solidFill>
              <a:effectLst/>
              <a:uFillTx/>
              <a:latin typeface="Arial"/>
            </a:endParaRPr>
          </a:p>
          <a:p>
            <a:pPr>
              <a:lnSpc>
                <a:spcPct val="100000"/>
              </a:lnSpc>
            </a:pPr>
            <a:endParaRPr lang="en-AU" sz="1000" b="0" u="none" strike="noStrike">
              <a:solidFill>
                <a:srgbClr val="000000"/>
              </a:solidFill>
              <a:effectLst/>
              <a:uFillTx/>
              <a:latin typeface="Arial"/>
            </a:endParaRPr>
          </a:p>
        </p:txBody>
      </p:sp>
      <p:sp>
        <p:nvSpPr>
          <p:cNvPr id="121" name=""/>
          <p:cNvSpPr/>
          <p:nvPr/>
        </p:nvSpPr>
        <p:spPr>
          <a:xfrm>
            <a:off x="3960000" y="3780000"/>
            <a:ext cx="2157120" cy="89712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lang="en-US" sz="1000" b="0" i="1" u="none" strike="noStrike">
                <a:solidFill>
                  <a:srgbClr val="000000"/>
                </a:solidFill>
                <a:effectLst/>
                <a:uFillTx/>
                <a:latin typeface="Arial"/>
                <a:ea typeface="DejaVu Sans"/>
              </a:rPr>
              <a:t>Albert T. Corbett and John R. Anderson. 1994. Knowledge tracing: Modeling the acquisition of procedural knowledge.</a:t>
            </a:r>
            <a:endParaRPr lang="en-AU" sz="1000" b="0" u="none" strike="noStrike">
              <a:solidFill>
                <a:srgbClr val="000000"/>
              </a:solidFill>
              <a:effectLst/>
              <a:uFillTx/>
              <a:latin typeface="Arial"/>
            </a:endParaRPr>
          </a:p>
          <a:p>
            <a:pPr>
              <a:lnSpc>
                <a:spcPct val="100000"/>
              </a:lnSpc>
            </a:pPr>
            <a:r>
              <a:rPr lang="en-US" sz="1000" b="0" i="1" u="none" strike="noStrike">
                <a:solidFill>
                  <a:srgbClr val="000000"/>
                </a:solidFill>
                <a:effectLst/>
                <a:uFillTx/>
                <a:latin typeface="Arial"/>
                <a:ea typeface="DejaVu Sans"/>
              </a:rPr>
              <a:t>UMUAI 4 (1994), 253–278.</a:t>
            </a:r>
            <a:endParaRPr lang="en-AU" sz="1000" b="0" u="none" strike="noStrike">
              <a:solidFill>
                <a:srgbClr val="000000"/>
              </a:solidFill>
              <a:effectLst/>
              <a:uFillTx/>
              <a:latin typeface="Arial"/>
            </a:endParaRPr>
          </a:p>
        </p:txBody>
      </p:sp>
      <p:sp>
        <p:nvSpPr>
          <p:cNvPr id="3" name="PlaceHolder 2"/>
          <p:cNvSpPr>
            <a:spLocks noGrp="1"/>
          </p:cNvSpPr>
          <p:nvPr>
            <p:ph type="sldNum" idx="2"/>
          </p:nvPr>
        </p:nvSpPr>
        <p:spPr/>
        <p:txBody>
          <a:bodyPr/>
          <a:p>
            <a:fld id="{5817369D-ECF5-4C43-B91D-E2D487398D68}" type="slidenum">
              <a:t>30</a:t>
            </a:fld>
          </a:p>
        </p:txBody>
      </p:sp>
    </p:spTree>
  </p:cSld>
  <mc:AlternateContent>
    <mc:Choice Requires="p14">
      <p:transition spd="slow" p14:dur="2000"/>
    </mc:Choice>
    <mc:Fallback>
      <p:transition spd="slow"/>
    </mc:Fallback>
  </mc:AlternateContent>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2" name="PlaceHolder 1"/>
          <p:cNvSpPr>
            <a:spLocks noGrp="1"/>
          </p:cNvSpPr>
          <p:nvPr>
            <p:ph type="title"/>
          </p:nvPr>
        </p:nvSpPr>
        <p:spPr>
          <a:xfrm>
            <a:off x="4248360" y="223200"/>
            <a:ext cx="5648760" cy="676800"/>
          </a:xfrm>
          <a:prstGeom prst="rect">
            <a:avLst/>
          </a:prstGeom>
          <a:noFill/>
          <a:ln w="0">
            <a:noFill/>
          </a:ln>
        </p:spPr>
        <p:txBody>
          <a:bodyPr lIns="0" rIns="0" tIns="0" bIns="0" anchor="ctr">
            <a:spAutoFit/>
          </a:bodyPr>
          <a:p>
            <a:pPr indent="0" algn="ctr">
              <a:lnSpc>
                <a:spcPct val="100000"/>
              </a:lnSpc>
              <a:buNone/>
              <a:tabLst>
                <a:tab algn="l" pos="0"/>
              </a:tabLst>
            </a:pPr>
            <a:r>
              <a:rPr lang="en-US" sz="2600" b="0" u="none" strike="noStrike">
                <a:solidFill>
                  <a:srgbClr val="000000"/>
                </a:solidFill>
                <a:effectLst/>
                <a:uFillTx/>
                <a:latin typeface="Arial"/>
              </a:rPr>
              <a:t>Bayesian Network (Analysis)</a:t>
            </a:r>
            <a:endParaRPr lang="en-AU" sz="2600" b="0" u="none" strike="noStrike">
              <a:solidFill>
                <a:srgbClr val="000000"/>
              </a:solidFill>
              <a:effectLst/>
              <a:uFillTx/>
              <a:latin typeface="Arial"/>
            </a:endParaRPr>
          </a:p>
        </p:txBody>
      </p:sp>
      <p:sp>
        <p:nvSpPr>
          <p:cNvPr id="123" name="PlaceHolder 2"/>
          <p:cNvSpPr>
            <a:spLocks noGrp="1"/>
          </p:cNvSpPr>
          <p:nvPr>
            <p:ph/>
          </p:nvPr>
        </p:nvSpPr>
        <p:spPr>
          <a:xfrm>
            <a:off x="4320000" y="1080000"/>
            <a:ext cx="5577120" cy="3957120"/>
          </a:xfrm>
          <a:prstGeom prst="rect">
            <a:avLst/>
          </a:prstGeom>
          <a:noFill/>
          <a:ln w="0">
            <a:noFill/>
          </a:ln>
        </p:spPr>
        <p:txBody>
          <a:bodyPr lIns="0" rIns="0" tIns="0" bIns="0" anchor="t">
            <a:normAutofit lnSpcReduction="9999"/>
          </a:bodyPr>
          <a:p>
            <a:pPr indent="0">
              <a:lnSpc>
                <a:spcPct val="100000"/>
              </a:lnSpc>
              <a:spcBef>
                <a:spcPts val="1417"/>
              </a:spcBef>
              <a:buNone/>
              <a:tabLst>
                <a:tab algn="l" pos="0"/>
              </a:tabLst>
            </a:pPr>
            <a:r>
              <a:rPr lang="en-US" sz="1600" b="0" u="none" strike="noStrike">
                <a:solidFill>
                  <a:srgbClr val="000000"/>
                </a:solidFill>
                <a:effectLst/>
                <a:uFillTx/>
                <a:latin typeface="Arial"/>
              </a:rPr>
              <a:t>🤔 How does it model KCs?</a:t>
            </a:r>
            <a:endParaRPr lang="en-AU" sz="1600" b="0" u="none" strike="noStrike">
              <a:solidFill>
                <a:srgbClr val="000000"/>
              </a:solidFill>
              <a:effectLst/>
              <a:uFillTx/>
              <a:latin typeface="Arial"/>
            </a:endParaRPr>
          </a:p>
          <a:p>
            <a:pPr marL="432000" indent="-324000">
              <a:lnSpc>
                <a:spcPct val="100000"/>
              </a:lnSpc>
              <a:spcBef>
                <a:spcPts val="1417"/>
              </a:spcBef>
              <a:buClr>
                <a:srgbClr val="000000"/>
              </a:buClr>
              <a:buSzPct val="45000"/>
              <a:buFont typeface="Wingdings" charset="2"/>
              <a:buChar char=""/>
              <a:tabLst>
                <a:tab algn="l" pos="0"/>
              </a:tabLst>
            </a:pPr>
            <a:r>
              <a:rPr lang="en-US" sz="1600" b="0" u="none" strike="noStrike">
                <a:solidFill>
                  <a:srgbClr val="000000"/>
                </a:solidFill>
                <a:effectLst/>
                <a:uFillTx/>
                <a:latin typeface="Arial"/>
              </a:rPr>
              <a:t>❌ Does not model. It is assumed that one question corresponds to one KC only.</a:t>
            </a:r>
            <a:endParaRPr lang="en-AU" sz="1600" b="0" u="none" strike="noStrike">
              <a:solidFill>
                <a:srgbClr val="000000"/>
              </a:solidFill>
              <a:effectLst/>
              <a:uFillTx/>
              <a:latin typeface="Arial"/>
            </a:endParaRPr>
          </a:p>
          <a:p>
            <a:pPr indent="0">
              <a:lnSpc>
                <a:spcPct val="100000"/>
              </a:lnSpc>
              <a:spcBef>
                <a:spcPts val="1417"/>
              </a:spcBef>
              <a:buNone/>
              <a:tabLst>
                <a:tab algn="l" pos="0"/>
              </a:tabLst>
            </a:pPr>
            <a:r>
              <a:rPr lang="en-US" sz="1600" b="0" u="none" strike="noStrike">
                <a:solidFill>
                  <a:srgbClr val="000000"/>
                </a:solidFill>
                <a:effectLst/>
                <a:uFillTx/>
                <a:latin typeface="Arial"/>
              </a:rPr>
              <a:t>🤔 How does it model KC-KC relations?</a:t>
            </a:r>
            <a:endParaRPr lang="en-AU" sz="1600" b="0" u="none" strike="noStrike">
              <a:solidFill>
                <a:srgbClr val="000000"/>
              </a:solidFill>
              <a:effectLst/>
              <a:uFillTx/>
              <a:latin typeface="Arial"/>
            </a:endParaRPr>
          </a:p>
          <a:p>
            <a:pPr marL="432000" indent="-324000">
              <a:lnSpc>
                <a:spcPct val="100000"/>
              </a:lnSpc>
              <a:spcBef>
                <a:spcPts val="1417"/>
              </a:spcBef>
              <a:buClr>
                <a:srgbClr val="000000"/>
              </a:buClr>
              <a:buSzPct val="45000"/>
              <a:buFont typeface="Wingdings" charset="2"/>
              <a:buChar char=""/>
              <a:tabLst>
                <a:tab algn="l" pos="0"/>
              </a:tabLst>
            </a:pPr>
            <a:r>
              <a:rPr lang="en-US" sz="1600" b="0" u="none" strike="noStrike">
                <a:solidFill>
                  <a:srgbClr val="000000"/>
                </a:solidFill>
                <a:effectLst/>
                <a:uFillTx/>
                <a:latin typeface="Arial"/>
              </a:rPr>
              <a:t>❌ Does not model.</a:t>
            </a:r>
            <a:endParaRPr lang="en-AU" sz="1600" b="0" u="none" strike="noStrike">
              <a:solidFill>
                <a:srgbClr val="000000"/>
              </a:solidFill>
              <a:effectLst/>
              <a:uFillTx/>
              <a:latin typeface="Arial"/>
            </a:endParaRPr>
          </a:p>
          <a:p>
            <a:pPr indent="0">
              <a:lnSpc>
                <a:spcPct val="100000"/>
              </a:lnSpc>
              <a:spcBef>
                <a:spcPts val="1417"/>
              </a:spcBef>
              <a:buNone/>
              <a:tabLst>
                <a:tab algn="l" pos="0"/>
              </a:tabLst>
            </a:pPr>
            <a:r>
              <a:rPr lang="en-US" sz="1600" b="0" u="none" strike="noStrike">
                <a:solidFill>
                  <a:srgbClr val="000000"/>
                </a:solidFill>
                <a:effectLst/>
                <a:uFillTx/>
                <a:latin typeface="Arial"/>
              </a:rPr>
              <a:t>🤔 How does it model the learning of KCs?</a:t>
            </a:r>
            <a:endParaRPr lang="en-AU" sz="1600" b="0" u="none" strike="noStrike">
              <a:solidFill>
                <a:srgbClr val="000000"/>
              </a:solidFill>
              <a:effectLst/>
              <a:uFillTx/>
              <a:latin typeface="Arial"/>
            </a:endParaRPr>
          </a:p>
          <a:p>
            <a:pPr marL="432000" indent="-324000">
              <a:lnSpc>
                <a:spcPct val="100000"/>
              </a:lnSpc>
              <a:spcBef>
                <a:spcPts val="1417"/>
              </a:spcBef>
              <a:buClr>
                <a:srgbClr val="000000"/>
              </a:buClr>
              <a:buSzPct val="45000"/>
              <a:buFont typeface="Wingdings" charset="2"/>
              <a:buChar char=""/>
              <a:tabLst>
                <a:tab algn="l" pos="0"/>
              </a:tabLst>
            </a:pPr>
            <a:r>
              <a:rPr lang="en-US" sz="1600" b="1" u="none" strike="noStrike">
                <a:solidFill>
                  <a:srgbClr val="000000"/>
                </a:solidFill>
                <a:effectLst/>
                <a:uFillTx/>
                <a:latin typeface="Arial"/>
              </a:rPr>
              <a:t>Explicitly</a:t>
            </a:r>
            <a:r>
              <a:rPr lang="en-US" sz="1600" b="0" u="none" strike="noStrike">
                <a:solidFill>
                  <a:srgbClr val="000000"/>
                </a:solidFill>
                <a:effectLst/>
                <a:uFillTx/>
                <a:latin typeface="Arial"/>
              </a:rPr>
              <a:t> through a single probability value, p(T)</a:t>
            </a:r>
            <a:endParaRPr lang="en-AU" sz="1600" b="0" u="none" strike="noStrike">
              <a:solidFill>
                <a:srgbClr val="000000"/>
              </a:solidFill>
              <a:effectLst/>
              <a:uFillTx/>
              <a:latin typeface="Arial"/>
            </a:endParaRPr>
          </a:p>
          <a:p>
            <a:pPr indent="0">
              <a:lnSpc>
                <a:spcPct val="100000"/>
              </a:lnSpc>
              <a:spcBef>
                <a:spcPts val="1417"/>
              </a:spcBef>
              <a:buNone/>
              <a:tabLst>
                <a:tab algn="l" pos="0"/>
              </a:tabLst>
            </a:pPr>
            <a:r>
              <a:rPr lang="en-US" sz="1600" b="0" u="none" strike="noStrike">
                <a:solidFill>
                  <a:srgbClr val="000000"/>
                </a:solidFill>
                <a:effectLst/>
                <a:uFillTx/>
                <a:latin typeface="Arial"/>
              </a:rPr>
              <a:t>🤔 How does it model the forgetting of KCs?</a:t>
            </a:r>
            <a:endParaRPr lang="en-AU" sz="1600" b="0" u="none" strike="noStrike">
              <a:solidFill>
                <a:srgbClr val="000000"/>
              </a:solidFill>
              <a:effectLst/>
              <a:uFillTx/>
              <a:latin typeface="Arial"/>
            </a:endParaRPr>
          </a:p>
          <a:p>
            <a:pPr marL="432000" indent="-324000">
              <a:lnSpc>
                <a:spcPct val="100000"/>
              </a:lnSpc>
              <a:spcBef>
                <a:spcPts val="1417"/>
              </a:spcBef>
              <a:buClr>
                <a:srgbClr val="000000"/>
              </a:buClr>
              <a:buSzPct val="45000"/>
              <a:buFont typeface="Wingdings" charset="2"/>
              <a:buChar char=""/>
              <a:tabLst>
                <a:tab algn="l" pos="0"/>
              </a:tabLst>
            </a:pPr>
            <a:r>
              <a:rPr lang="en-US" sz="1600" b="0" u="none" strike="noStrike">
                <a:solidFill>
                  <a:srgbClr val="000000"/>
                </a:solidFill>
                <a:effectLst/>
                <a:uFillTx/>
                <a:latin typeface="Arial"/>
              </a:rPr>
              <a:t>❌ Does not model.</a:t>
            </a:r>
            <a:endParaRPr lang="en-AU" sz="1600" b="0" u="none" strike="noStrike">
              <a:solidFill>
                <a:srgbClr val="000000"/>
              </a:solidFill>
              <a:effectLst/>
              <a:uFillTx/>
              <a:latin typeface="Arial"/>
            </a:endParaRPr>
          </a:p>
          <a:p>
            <a:pPr indent="0">
              <a:lnSpc>
                <a:spcPct val="100000"/>
              </a:lnSpc>
              <a:spcBef>
                <a:spcPts val="1417"/>
              </a:spcBef>
              <a:buNone/>
              <a:tabLst>
                <a:tab algn="l" pos="0"/>
              </a:tabLst>
            </a:pPr>
            <a:r>
              <a:rPr lang="en-US" sz="1600" b="0" u="none" strike="noStrike">
                <a:solidFill>
                  <a:srgbClr val="000000"/>
                </a:solidFill>
                <a:effectLst/>
                <a:uFillTx/>
                <a:latin typeface="Arial"/>
              </a:rPr>
              <a:t>🤔 How does it model the student’s knowledge state?</a:t>
            </a:r>
            <a:endParaRPr lang="en-AU" sz="1600" b="0" u="none" strike="noStrike">
              <a:solidFill>
                <a:srgbClr val="000000"/>
              </a:solidFill>
              <a:effectLst/>
              <a:uFillTx/>
              <a:latin typeface="Arial"/>
            </a:endParaRPr>
          </a:p>
          <a:p>
            <a:pPr marL="432000" indent="-324000">
              <a:lnSpc>
                <a:spcPct val="100000"/>
              </a:lnSpc>
              <a:spcBef>
                <a:spcPts val="1417"/>
              </a:spcBef>
              <a:buClr>
                <a:srgbClr val="000000"/>
              </a:buClr>
              <a:buSzPct val="45000"/>
              <a:buFont typeface="Wingdings" charset="2"/>
              <a:buChar char=""/>
              <a:tabLst>
                <a:tab algn="l" pos="0"/>
              </a:tabLst>
            </a:pPr>
            <a:r>
              <a:rPr lang="en-US" sz="1600" b="1" u="none" strike="noStrike">
                <a:solidFill>
                  <a:srgbClr val="000000"/>
                </a:solidFill>
                <a:effectLst/>
                <a:uFillTx/>
                <a:latin typeface="Arial"/>
              </a:rPr>
              <a:t>Explicitly</a:t>
            </a:r>
            <a:r>
              <a:rPr lang="en-US" sz="1600" b="0" u="none" strike="noStrike">
                <a:solidFill>
                  <a:srgbClr val="000000"/>
                </a:solidFill>
                <a:effectLst/>
                <a:uFillTx/>
                <a:latin typeface="Arial"/>
              </a:rPr>
              <a:t> through a single probability value, p(Ln)</a:t>
            </a:r>
            <a:endParaRPr lang="en-AU" sz="1600" b="0" u="none" strike="noStrike">
              <a:solidFill>
                <a:srgbClr val="000000"/>
              </a:solidFill>
              <a:effectLst/>
              <a:uFillTx/>
              <a:latin typeface="Arial"/>
            </a:endParaRPr>
          </a:p>
        </p:txBody>
      </p:sp>
      <p:pic>
        <p:nvPicPr>
          <p:cNvPr id="124" name=""/>
          <p:cNvPicPr/>
          <p:nvPr/>
        </p:nvPicPr>
        <p:blipFill>
          <a:blip r:embed="rId1"/>
          <a:stretch/>
        </p:blipFill>
        <p:spPr>
          <a:xfrm>
            <a:off x="488160" y="360000"/>
            <a:ext cx="3108960" cy="4497120"/>
          </a:xfrm>
          <a:prstGeom prst="rect">
            <a:avLst/>
          </a:prstGeom>
          <a:noFill/>
          <a:ln w="0">
            <a:noFill/>
          </a:ln>
        </p:spPr>
      </p:pic>
      <p:sp>
        <p:nvSpPr>
          <p:cNvPr id="4" name="PlaceHolder 3"/>
          <p:cNvSpPr>
            <a:spLocks noGrp="1"/>
          </p:cNvSpPr>
          <p:nvPr>
            <p:ph type="sldNum" idx="2"/>
          </p:nvPr>
        </p:nvSpPr>
        <p:spPr/>
        <p:txBody>
          <a:bodyPr/>
          <a:p>
            <a:fld id="{72377260-D205-4868-B6FC-DA333741BC8D}" type="slidenum">
              <a:t>31</a:t>
            </a:fld>
          </a:p>
        </p:txBody>
      </p:sp>
    </p:spTree>
  </p:cSld>
  <mc:AlternateContent>
    <mc:Choice Requires="p14">
      <p:transition spd="slow" p14:dur="2000"/>
    </mc:Choice>
    <mc:Fallback>
      <p:transition spd="slow"/>
    </mc:Fallback>
  </mc:AlternateContent>
</p:sld>
</file>

<file path=ppt/slides/slide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5" name="PlaceHolder 1"/>
          <p:cNvSpPr>
            <a:spLocks noGrp="1"/>
          </p:cNvSpPr>
          <p:nvPr>
            <p:ph type="title"/>
          </p:nvPr>
        </p:nvSpPr>
        <p:spPr>
          <a:xfrm>
            <a:off x="504000" y="223200"/>
            <a:ext cx="9068760" cy="949320"/>
          </a:xfrm>
          <a:prstGeom prst="rect">
            <a:avLst/>
          </a:prstGeom>
          <a:noFill/>
          <a:ln w="0">
            <a:noFill/>
          </a:ln>
        </p:spPr>
        <p:txBody>
          <a:bodyPr lIns="0" rIns="0" tIns="0" bIns="0" anchor="ctr">
            <a:spAutoFit/>
          </a:bodyPr>
          <a:p>
            <a:pPr indent="0" algn="ctr">
              <a:lnSpc>
                <a:spcPct val="100000"/>
              </a:lnSpc>
              <a:buNone/>
              <a:tabLst>
                <a:tab algn="l" pos="0"/>
              </a:tabLst>
            </a:pPr>
            <a:r>
              <a:rPr lang="en-US" sz="4000" b="0" u="none" strike="noStrike">
                <a:solidFill>
                  <a:srgbClr val="000000"/>
                </a:solidFill>
                <a:effectLst/>
                <a:uFillTx/>
                <a:latin typeface="Arial"/>
              </a:rPr>
              <a:t>Model Architectures Visited So Far</a:t>
            </a:r>
            <a:endParaRPr lang="en-AU" sz="4000" b="0" u="none" strike="noStrike">
              <a:solidFill>
                <a:srgbClr val="000000"/>
              </a:solidFill>
              <a:effectLst/>
              <a:uFillTx/>
              <a:latin typeface="Arial"/>
            </a:endParaRPr>
          </a:p>
        </p:txBody>
      </p:sp>
      <p:graphicFrame>
        <p:nvGraphicFramePr>
          <p:cNvPr id="126" name=""/>
          <p:cNvGraphicFramePr/>
          <p:nvPr/>
        </p:nvGraphicFramePr>
        <p:xfrm>
          <a:off x="416160" y="1459440"/>
          <a:ext cx="9032040" cy="3638520"/>
        </p:xfrm>
        <a:graphic>
          <a:graphicData uri="http://schemas.openxmlformats.org/drawingml/2006/table">
            <a:tbl>
              <a:tblPr/>
              <a:tblGrid>
                <a:gridCol w="1505520"/>
                <a:gridCol w="1505520"/>
                <a:gridCol w="1505520"/>
                <a:gridCol w="1510560"/>
                <a:gridCol w="1500480"/>
                <a:gridCol w="1504800"/>
              </a:tblGrid>
              <a:tr h="346320">
                <a:tc>
                  <a:txBody>
                    <a:bodyPr lIns="36000" rIns="36000" tIns="36000" bIns="36000" anchor="t">
                      <a:noAutofit/>
                    </a:bodyPr>
                    <a:p>
                      <a:pPr algn="ctr">
                        <a:lnSpc>
                          <a:spcPct val="100000"/>
                        </a:lnSpc>
                        <a:tabLst>
                          <a:tab algn="l" pos="0"/>
                        </a:tabLst>
                      </a:pPr>
                      <a:r>
                        <a:rPr lang="en-US" sz="1300" b="0" u="none" strike="noStrike">
                          <a:solidFill>
                            <a:srgbClr val="000000"/>
                          </a:solidFill>
                          <a:effectLst/>
                          <a:uFillTx/>
                          <a:latin typeface="Arial"/>
                        </a:rPr>
                        <a:t>Architecture</a:t>
                      </a:r>
                      <a:endParaRPr lang="en-AU" sz="13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tabLst>
                          <a:tab algn="l" pos="0"/>
                        </a:tabLst>
                      </a:pPr>
                      <a:r>
                        <a:rPr lang="en-US" sz="1300" b="0" u="none" strike="noStrike">
                          <a:solidFill>
                            <a:srgbClr val="000000"/>
                          </a:solidFill>
                          <a:effectLst/>
                          <a:uFillTx/>
                          <a:latin typeface="Arial"/>
                        </a:rPr>
                        <a:t>KCs</a:t>
                      </a:r>
                      <a:endParaRPr lang="en-AU" sz="13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tabLst>
                          <a:tab algn="l" pos="0"/>
                        </a:tabLst>
                      </a:pPr>
                      <a:r>
                        <a:rPr lang="en-US" sz="1300" b="0" u="none" strike="noStrike">
                          <a:solidFill>
                            <a:srgbClr val="000000"/>
                          </a:solidFill>
                          <a:effectLst/>
                          <a:uFillTx/>
                          <a:latin typeface="Arial"/>
                        </a:rPr>
                        <a:t>KC-KC Relations</a:t>
                      </a:r>
                      <a:endParaRPr lang="en-AU" sz="13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tabLst>
                          <a:tab algn="l" pos="0"/>
                        </a:tabLst>
                      </a:pPr>
                      <a:r>
                        <a:rPr lang="en-US" sz="1300" b="0" u="none" strike="noStrike">
                          <a:solidFill>
                            <a:srgbClr val="000000"/>
                          </a:solidFill>
                          <a:effectLst/>
                          <a:uFillTx/>
                          <a:latin typeface="Arial"/>
                        </a:rPr>
                        <a:t>Leaning of KCs</a:t>
                      </a:r>
                      <a:endParaRPr lang="en-AU" sz="13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tabLst>
                          <a:tab algn="l" pos="0"/>
                        </a:tabLst>
                      </a:pPr>
                      <a:r>
                        <a:rPr lang="en-US" sz="1300" b="0" u="none" strike="noStrike">
                          <a:solidFill>
                            <a:srgbClr val="000000"/>
                          </a:solidFill>
                          <a:effectLst/>
                          <a:uFillTx/>
                          <a:latin typeface="Arial"/>
                        </a:rPr>
                        <a:t>Time-Based Forgetting of KCs</a:t>
                      </a:r>
                      <a:endParaRPr lang="en-AU" sz="13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tabLst>
                          <a:tab algn="l" pos="0"/>
                        </a:tabLst>
                      </a:pPr>
                      <a:r>
                        <a:rPr lang="en-US" sz="1300" b="0" u="none" strike="noStrike">
                          <a:solidFill>
                            <a:srgbClr val="000000"/>
                          </a:solidFill>
                          <a:effectLst/>
                          <a:uFillTx/>
                          <a:latin typeface="Arial"/>
                        </a:rPr>
                        <a:t>Student’s Knowledge State</a:t>
                      </a:r>
                      <a:endParaRPr lang="en-AU" sz="13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r>
              <a:tr h="698040">
                <a:tc>
                  <a:txBody>
                    <a:bodyPr lIns="36000" rIns="36000" tIns="36000" bIns="36000" anchor="t">
                      <a:noAutofit/>
                    </a:bodyPr>
                    <a:p>
                      <a:pPr algn="ctr">
                        <a:lnSpc>
                          <a:spcPct val="100000"/>
                        </a:lnSpc>
                        <a:tabLst>
                          <a:tab algn="l" pos="0"/>
                        </a:tabLst>
                      </a:pPr>
                      <a:r>
                        <a:rPr lang="en-US" sz="1300" b="0" u="none" strike="noStrike">
                          <a:solidFill>
                            <a:srgbClr val="000000"/>
                          </a:solidFill>
                          <a:effectLst/>
                          <a:uFillTx/>
                          <a:latin typeface="Arial"/>
                        </a:rPr>
                        <a:t>Graph Neural Network</a:t>
                      </a:r>
                      <a:endParaRPr lang="en-AU" sz="13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tabLst>
                          <a:tab algn="l" pos="0"/>
                        </a:tabLst>
                      </a:pPr>
                      <a:r>
                        <a:rPr lang="en-US" sz="1300" b="1" u="none" strike="noStrike">
                          <a:solidFill>
                            <a:srgbClr val="000000"/>
                          </a:solidFill>
                          <a:effectLst/>
                          <a:uFillTx/>
                          <a:latin typeface="Arial"/>
                        </a:rPr>
                        <a:t>Explicit</a:t>
                      </a:r>
                      <a:r>
                        <a:rPr lang="en-US" sz="1300" b="0" u="none" strike="noStrike">
                          <a:solidFill>
                            <a:srgbClr val="000000"/>
                          </a:solidFill>
                          <a:effectLst/>
                          <a:uFillTx/>
                          <a:latin typeface="Arial"/>
                        </a:rPr>
                        <a:t> as Nodes</a:t>
                      </a:r>
                      <a:endParaRPr lang="en-AU" sz="13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tabLst>
                          <a:tab algn="l" pos="0"/>
                        </a:tabLst>
                      </a:pPr>
                      <a:r>
                        <a:rPr lang="en-US" sz="1300" b="1" u="none" strike="noStrike">
                          <a:solidFill>
                            <a:srgbClr val="000000"/>
                          </a:solidFill>
                          <a:effectLst/>
                          <a:uFillTx/>
                          <a:latin typeface="Arial"/>
                        </a:rPr>
                        <a:t>Explicit</a:t>
                      </a:r>
                      <a:r>
                        <a:rPr lang="en-US" sz="1300" b="0" u="none" strike="noStrike">
                          <a:solidFill>
                            <a:srgbClr val="000000"/>
                          </a:solidFill>
                          <a:effectLst/>
                          <a:uFillTx/>
                          <a:latin typeface="Arial"/>
                        </a:rPr>
                        <a:t> as Edges</a:t>
                      </a:r>
                      <a:endParaRPr lang="en-AU" sz="13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tabLst>
                          <a:tab algn="l" pos="0"/>
                        </a:tabLst>
                      </a:pPr>
                      <a:r>
                        <a:rPr lang="en-US" sz="1300" b="1" u="none" strike="noStrike">
                          <a:solidFill>
                            <a:srgbClr val="000000"/>
                          </a:solidFill>
                          <a:effectLst/>
                          <a:uFillTx/>
                          <a:latin typeface="Arial"/>
                        </a:rPr>
                        <a:t>Explicit</a:t>
                      </a:r>
                      <a:r>
                        <a:rPr lang="en-US" sz="1300" b="0" u="none" strike="noStrike">
                          <a:solidFill>
                            <a:srgbClr val="000000"/>
                          </a:solidFill>
                          <a:effectLst/>
                          <a:uFillTx/>
                          <a:latin typeface="Arial"/>
                        </a:rPr>
                        <a:t> via node update + message passing</a:t>
                      </a:r>
                      <a:endParaRPr lang="en-AU" sz="13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tabLst>
                          <a:tab algn="l" pos="0"/>
                        </a:tabLst>
                      </a:pPr>
                      <a:r>
                        <a:rPr lang="en-US" sz="1300" b="1" u="none" strike="noStrike">
                          <a:solidFill>
                            <a:srgbClr val="000000"/>
                          </a:solidFill>
                          <a:effectLst/>
                          <a:uFillTx/>
                          <a:latin typeface="Arial"/>
                        </a:rPr>
                        <a:t>Explicit</a:t>
                      </a:r>
                      <a:r>
                        <a:rPr lang="en-US" sz="1300" b="0" u="none" strike="noStrike">
                          <a:solidFill>
                            <a:srgbClr val="000000"/>
                          </a:solidFill>
                          <a:effectLst/>
                          <a:uFillTx/>
                          <a:latin typeface="Arial"/>
                        </a:rPr>
                        <a:t> via Forgetting Functions</a:t>
                      </a:r>
                      <a:endParaRPr lang="en-AU" sz="13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tabLst>
                          <a:tab algn="l" pos="0"/>
                        </a:tabLst>
                      </a:pPr>
                      <a:r>
                        <a:rPr lang="en-US" sz="1300" b="1" u="none" strike="noStrike">
                          <a:solidFill>
                            <a:srgbClr val="000000"/>
                          </a:solidFill>
                          <a:effectLst/>
                          <a:uFillTx/>
                          <a:latin typeface="Arial"/>
                        </a:rPr>
                        <a:t>Explicit</a:t>
                      </a:r>
                      <a:r>
                        <a:rPr lang="en-US" sz="1300" b="0" u="none" strike="noStrike">
                          <a:solidFill>
                            <a:srgbClr val="000000"/>
                          </a:solidFill>
                          <a:effectLst/>
                          <a:uFillTx/>
                          <a:latin typeface="Arial"/>
                        </a:rPr>
                        <a:t> as a Graph</a:t>
                      </a:r>
                      <a:endParaRPr lang="en-AU" sz="13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r>
              <a:tr h="346320">
                <a:tc>
                  <a:txBody>
                    <a:bodyPr lIns="36000" rIns="36000" tIns="36000" bIns="36000" anchor="t">
                      <a:noAutofit/>
                    </a:bodyPr>
                    <a:p>
                      <a:pPr algn="ctr">
                        <a:lnSpc>
                          <a:spcPct val="100000"/>
                        </a:lnSpc>
                        <a:tabLst>
                          <a:tab algn="l" pos="0"/>
                        </a:tabLst>
                      </a:pPr>
                      <a:r>
                        <a:rPr lang="en-US" sz="1300" b="0" u="none" strike="noStrike">
                          <a:solidFill>
                            <a:srgbClr val="000000"/>
                          </a:solidFill>
                          <a:effectLst/>
                          <a:uFillTx/>
                          <a:latin typeface="Arial"/>
                        </a:rPr>
                        <a:t>Key-Value Memory Network</a:t>
                      </a:r>
                      <a:endParaRPr lang="en-AU" sz="13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tabLst>
                          <a:tab algn="l" pos="0"/>
                        </a:tabLst>
                      </a:pPr>
                      <a:r>
                        <a:rPr lang="en-US" sz="1300" b="1" u="none" strike="noStrike">
                          <a:solidFill>
                            <a:srgbClr val="000000"/>
                          </a:solidFill>
                          <a:effectLst/>
                          <a:uFillTx/>
                          <a:latin typeface="Arial"/>
                        </a:rPr>
                        <a:t>Explicit</a:t>
                      </a:r>
                      <a:r>
                        <a:rPr lang="en-US" sz="1300" b="0" u="none" strike="noStrike">
                          <a:solidFill>
                            <a:srgbClr val="000000"/>
                          </a:solidFill>
                          <a:effectLst/>
                          <a:uFillTx/>
                          <a:latin typeface="Arial"/>
                        </a:rPr>
                        <a:t> as Keys</a:t>
                      </a:r>
                      <a:endParaRPr lang="en-AU" sz="13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tabLst>
                          <a:tab algn="l" pos="0"/>
                        </a:tabLst>
                      </a:pPr>
                      <a:r>
                        <a:rPr lang="en-US" sz="1300" b="0" u="none" strike="noStrike">
                          <a:solidFill>
                            <a:srgbClr val="000000"/>
                          </a:solidFill>
                          <a:effectLst/>
                          <a:uFillTx/>
                          <a:latin typeface="Arial"/>
                        </a:rPr>
                        <a:t>---------</a:t>
                      </a:r>
                      <a:endParaRPr lang="en-AU" sz="13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tabLst>
                          <a:tab algn="l" pos="0"/>
                        </a:tabLst>
                      </a:pPr>
                      <a:r>
                        <a:rPr lang="en-US" sz="1300" b="1" u="none" strike="noStrike">
                          <a:solidFill>
                            <a:srgbClr val="000000"/>
                          </a:solidFill>
                          <a:effectLst/>
                          <a:uFillTx/>
                          <a:latin typeface="Arial"/>
                        </a:rPr>
                        <a:t>Explicit</a:t>
                      </a:r>
                      <a:r>
                        <a:rPr lang="en-US" sz="1300" b="0" u="none" strike="noStrike">
                          <a:solidFill>
                            <a:srgbClr val="000000"/>
                          </a:solidFill>
                          <a:effectLst/>
                          <a:uFillTx/>
                          <a:latin typeface="Arial"/>
                        </a:rPr>
                        <a:t> via erase-add update</a:t>
                      </a:r>
                      <a:endParaRPr lang="en-AU" sz="13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tabLst>
                          <a:tab algn="l" pos="0"/>
                        </a:tabLst>
                      </a:pPr>
                      <a:r>
                        <a:rPr lang="en-US" sz="1300" b="0" u="none" strike="noStrike">
                          <a:solidFill>
                            <a:srgbClr val="000000"/>
                          </a:solidFill>
                          <a:effectLst/>
                          <a:uFillTx/>
                          <a:latin typeface="Arial"/>
                        </a:rPr>
                        <a:t>---------</a:t>
                      </a:r>
                      <a:endParaRPr lang="en-AU" sz="13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tabLst>
                          <a:tab algn="l" pos="0"/>
                        </a:tabLst>
                      </a:pPr>
                      <a:r>
                        <a:rPr lang="en-US" sz="1300" b="1" u="none" strike="noStrike">
                          <a:solidFill>
                            <a:srgbClr val="000000"/>
                          </a:solidFill>
                          <a:effectLst/>
                          <a:uFillTx/>
                          <a:latin typeface="Arial"/>
                        </a:rPr>
                        <a:t>Explicit</a:t>
                      </a:r>
                      <a:r>
                        <a:rPr lang="en-US" sz="1300" b="0" u="none" strike="noStrike">
                          <a:solidFill>
                            <a:srgbClr val="000000"/>
                          </a:solidFill>
                          <a:effectLst/>
                          <a:uFillTx/>
                          <a:latin typeface="Arial"/>
                        </a:rPr>
                        <a:t> as a Key-Value Table</a:t>
                      </a:r>
                      <a:endParaRPr lang="en-AU" sz="13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r>
              <a:tr h="346320">
                <a:tc>
                  <a:txBody>
                    <a:bodyPr lIns="36000" rIns="36000" tIns="36000" bIns="36000" anchor="t">
                      <a:noAutofit/>
                    </a:bodyPr>
                    <a:p>
                      <a:pPr algn="ctr">
                        <a:lnSpc>
                          <a:spcPct val="100000"/>
                        </a:lnSpc>
                        <a:tabLst>
                          <a:tab algn="l" pos="0"/>
                        </a:tabLst>
                      </a:pPr>
                      <a:r>
                        <a:rPr lang="en-US" sz="1300" b="0" u="none" strike="noStrike">
                          <a:solidFill>
                            <a:srgbClr val="000000"/>
                          </a:solidFill>
                          <a:effectLst/>
                          <a:uFillTx/>
                          <a:latin typeface="Arial"/>
                        </a:rPr>
                        <a:t>Recurrent Neural Network</a:t>
                      </a:r>
                      <a:endParaRPr lang="en-AU" sz="13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tabLst>
                          <a:tab algn="l" pos="0"/>
                        </a:tabLst>
                      </a:pPr>
                      <a:r>
                        <a:rPr lang="en-US" sz="1300" b="1" u="none" strike="noStrike">
                          <a:solidFill>
                            <a:srgbClr val="000000"/>
                          </a:solidFill>
                          <a:effectLst/>
                          <a:uFillTx/>
                          <a:latin typeface="Arial"/>
                        </a:rPr>
                        <a:t>Implicit</a:t>
                      </a:r>
                      <a:r>
                        <a:rPr lang="en-US" sz="1300" b="0" u="none" strike="noStrike">
                          <a:solidFill>
                            <a:srgbClr val="000000"/>
                          </a:solidFill>
                          <a:effectLst/>
                          <a:uFillTx/>
                          <a:latin typeface="Arial"/>
                        </a:rPr>
                        <a:t> as Question Embedding</a:t>
                      </a:r>
                      <a:endParaRPr lang="en-AU" sz="13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tabLst>
                          <a:tab algn="l" pos="0"/>
                        </a:tabLst>
                      </a:pPr>
                      <a:r>
                        <a:rPr lang="en-US" sz="1300" b="1" u="none" strike="noStrike">
                          <a:solidFill>
                            <a:srgbClr val="000000"/>
                          </a:solidFill>
                          <a:effectLst/>
                          <a:uFillTx/>
                          <a:latin typeface="Arial"/>
                        </a:rPr>
                        <a:t>Implicit</a:t>
                      </a:r>
                      <a:r>
                        <a:rPr lang="en-US" sz="1300" b="0" u="none" strike="noStrike">
                          <a:solidFill>
                            <a:srgbClr val="000000"/>
                          </a:solidFill>
                          <a:effectLst/>
                          <a:uFillTx/>
                          <a:latin typeface="Arial"/>
                        </a:rPr>
                        <a:t> as Recurrent Weights</a:t>
                      </a:r>
                      <a:endParaRPr lang="en-AU" sz="13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spcBef>
                          <a:spcPts val="1191"/>
                        </a:spcBef>
                        <a:spcAft>
                          <a:spcPts val="992"/>
                        </a:spcAft>
                        <a:tabLst>
                          <a:tab algn="l" pos="0"/>
                        </a:tabLst>
                      </a:pPr>
                      <a:r>
                        <a:rPr lang="en-US" sz="1300" b="1" u="none" strike="noStrike">
                          <a:solidFill>
                            <a:srgbClr val="000000"/>
                          </a:solidFill>
                          <a:effectLst/>
                          <a:uFillTx/>
                          <a:latin typeface="Arial"/>
                        </a:rPr>
                        <a:t>Implicit</a:t>
                      </a:r>
                      <a:r>
                        <a:rPr lang="en-US" sz="1300" b="0" u="none" strike="noStrike">
                          <a:solidFill>
                            <a:srgbClr val="000000"/>
                          </a:solidFill>
                          <a:effectLst/>
                          <a:uFillTx/>
                          <a:latin typeface="Arial"/>
                        </a:rPr>
                        <a:t> via the Input &amp; Update Gates</a:t>
                      </a:r>
                      <a:endParaRPr lang="en-AU" sz="13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spcBef>
                          <a:spcPts val="1191"/>
                        </a:spcBef>
                        <a:spcAft>
                          <a:spcPts val="992"/>
                        </a:spcAft>
                        <a:tabLst>
                          <a:tab algn="l" pos="0"/>
                        </a:tabLst>
                      </a:pPr>
                      <a:r>
                        <a:rPr lang="en-US" sz="1300" b="1" u="none" strike="noStrike">
                          <a:solidFill>
                            <a:srgbClr val="000000"/>
                          </a:solidFill>
                          <a:effectLst/>
                          <a:uFillTx/>
                          <a:latin typeface="Arial"/>
                        </a:rPr>
                        <a:t>Implicit</a:t>
                      </a:r>
                      <a:r>
                        <a:rPr lang="en-US" sz="1300" b="0" u="none" strike="noStrike">
                          <a:solidFill>
                            <a:srgbClr val="000000"/>
                          </a:solidFill>
                          <a:effectLst/>
                          <a:uFillTx/>
                          <a:latin typeface="Arial"/>
                        </a:rPr>
                        <a:t> via the Forget Gate</a:t>
                      </a:r>
                      <a:endParaRPr lang="en-AU" sz="13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spcBef>
                          <a:spcPts val="1417"/>
                        </a:spcBef>
                        <a:tabLst>
                          <a:tab algn="l" pos="0"/>
                        </a:tabLst>
                      </a:pPr>
                      <a:r>
                        <a:rPr lang="en-US" sz="1300" b="1" u="none" strike="noStrike">
                          <a:solidFill>
                            <a:srgbClr val="000000"/>
                          </a:solidFill>
                          <a:effectLst/>
                          <a:uFillTx/>
                          <a:latin typeface="Arial"/>
                        </a:rPr>
                        <a:t>Explicit</a:t>
                      </a:r>
                      <a:r>
                        <a:rPr lang="en-US" sz="1300" b="0" u="none" strike="noStrike">
                          <a:solidFill>
                            <a:srgbClr val="000000"/>
                          </a:solidFill>
                          <a:effectLst/>
                          <a:uFillTx/>
                          <a:latin typeface="Arial"/>
                        </a:rPr>
                        <a:t> as a hidden state vector(s)</a:t>
                      </a:r>
                      <a:endParaRPr lang="en-AU" sz="13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r>
              <a:tr h="346320">
                <a:tc>
                  <a:txBody>
                    <a:bodyPr lIns="36000" rIns="36000" tIns="36000" bIns="36000" anchor="t">
                      <a:noAutofit/>
                    </a:bodyPr>
                    <a:p>
                      <a:pPr algn="ctr">
                        <a:lnSpc>
                          <a:spcPct val="100000"/>
                        </a:lnSpc>
                        <a:tabLst>
                          <a:tab algn="l" pos="0"/>
                        </a:tabLst>
                      </a:pPr>
                      <a:r>
                        <a:rPr lang="en-US" sz="1300" b="0" u="none" strike="noStrike">
                          <a:solidFill>
                            <a:srgbClr val="000000"/>
                          </a:solidFill>
                          <a:effectLst/>
                          <a:uFillTx/>
                          <a:latin typeface="Arial"/>
                        </a:rPr>
                        <a:t>Transformer</a:t>
                      </a:r>
                      <a:endParaRPr lang="en-AU" sz="13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spcBef>
                          <a:spcPts val="1417"/>
                        </a:spcBef>
                        <a:tabLst>
                          <a:tab algn="l" pos="0"/>
                        </a:tabLst>
                      </a:pPr>
                      <a:r>
                        <a:rPr lang="en-US" sz="1300" b="1" u="none" strike="noStrike">
                          <a:solidFill>
                            <a:srgbClr val="000000"/>
                          </a:solidFill>
                          <a:effectLst/>
                          <a:uFillTx/>
                          <a:latin typeface="Arial"/>
                        </a:rPr>
                        <a:t>Implicit</a:t>
                      </a:r>
                      <a:r>
                        <a:rPr lang="en-US" sz="1300" b="0" u="none" strike="noStrike">
                          <a:solidFill>
                            <a:srgbClr val="000000"/>
                          </a:solidFill>
                          <a:effectLst/>
                          <a:uFillTx/>
                          <a:latin typeface="Arial"/>
                        </a:rPr>
                        <a:t> as Embeddings</a:t>
                      </a:r>
                      <a:endParaRPr lang="en-AU" sz="13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spcBef>
                          <a:spcPts val="1417"/>
                        </a:spcBef>
                        <a:tabLst>
                          <a:tab algn="l" pos="0"/>
                        </a:tabLst>
                      </a:pPr>
                      <a:r>
                        <a:rPr lang="en-US" sz="1300" b="1" u="none" strike="noStrike">
                          <a:solidFill>
                            <a:srgbClr val="000000"/>
                          </a:solidFill>
                          <a:effectLst/>
                          <a:uFillTx/>
                          <a:latin typeface="Arial"/>
                        </a:rPr>
                        <a:t>Implicit</a:t>
                      </a:r>
                      <a:r>
                        <a:rPr lang="en-US" sz="1300" b="0" u="none" strike="noStrike">
                          <a:solidFill>
                            <a:srgbClr val="000000"/>
                          </a:solidFill>
                          <a:effectLst/>
                          <a:uFillTx/>
                          <a:latin typeface="Arial"/>
                        </a:rPr>
                        <a:t> as attention weights</a:t>
                      </a:r>
                      <a:endParaRPr lang="en-AU" sz="13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spcBef>
                          <a:spcPts val="1191"/>
                        </a:spcBef>
                        <a:spcAft>
                          <a:spcPts val="992"/>
                        </a:spcAft>
                        <a:tabLst>
                          <a:tab algn="l" pos="0"/>
                        </a:tabLst>
                      </a:pPr>
                      <a:r>
                        <a:rPr lang="en-US" sz="1300" b="1" u="none" strike="noStrike">
                          <a:solidFill>
                            <a:srgbClr val="000000"/>
                          </a:solidFill>
                          <a:effectLst/>
                          <a:uFillTx/>
                          <a:latin typeface="Arial"/>
                        </a:rPr>
                        <a:t>Implicit</a:t>
                      </a:r>
                      <a:r>
                        <a:rPr lang="en-US" sz="1300" b="0" u="none" strike="noStrike">
                          <a:solidFill>
                            <a:srgbClr val="000000"/>
                          </a:solidFill>
                          <a:effectLst/>
                          <a:uFillTx/>
                          <a:latin typeface="Arial"/>
                        </a:rPr>
                        <a:t> via attention mechanism</a:t>
                      </a:r>
                      <a:endParaRPr lang="en-AU" sz="13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spcBef>
                          <a:spcPts val="1191"/>
                        </a:spcBef>
                        <a:spcAft>
                          <a:spcPts val="992"/>
                        </a:spcAft>
                        <a:tabLst>
                          <a:tab algn="l" pos="0"/>
                        </a:tabLst>
                      </a:pPr>
                      <a:r>
                        <a:rPr lang="en-US" sz="1300" b="1" u="none" strike="noStrike">
                          <a:solidFill>
                            <a:srgbClr val="000000"/>
                          </a:solidFill>
                          <a:effectLst/>
                          <a:uFillTx/>
                          <a:latin typeface="Arial"/>
                        </a:rPr>
                        <a:t>Explicitly</a:t>
                      </a:r>
                      <a:r>
                        <a:rPr lang="en-US" sz="1300" b="0" u="none" strike="noStrike">
                          <a:solidFill>
                            <a:srgbClr val="000000"/>
                          </a:solidFill>
                          <a:effectLst/>
                          <a:uFillTx/>
                          <a:latin typeface="Arial"/>
                        </a:rPr>
                        <a:t> through forgetting functions</a:t>
                      </a:r>
                      <a:endParaRPr lang="en-AU" sz="13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spcBef>
                          <a:spcPts val="1417"/>
                        </a:spcBef>
                        <a:tabLst>
                          <a:tab algn="l" pos="0"/>
                        </a:tabLst>
                      </a:pPr>
                      <a:r>
                        <a:rPr lang="en-US" sz="1300" b="0" u="none" strike="noStrike">
                          <a:solidFill>
                            <a:srgbClr val="000000"/>
                          </a:solidFill>
                          <a:effectLst/>
                          <a:uFillTx/>
                          <a:latin typeface="Arial"/>
                        </a:rPr>
                        <a:t>Full knowledge state is </a:t>
                      </a:r>
                      <a:r>
                        <a:rPr lang="en-US" sz="1300" b="1" u="none" strike="noStrike">
                          <a:solidFill>
                            <a:srgbClr val="000000"/>
                          </a:solidFill>
                          <a:effectLst/>
                          <a:uFillTx/>
                          <a:latin typeface="Arial"/>
                        </a:rPr>
                        <a:t>implicit</a:t>
                      </a:r>
                      <a:endParaRPr lang="en-AU" sz="13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r>
              <a:tr h="346320">
                <a:tc>
                  <a:txBody>
                    <a:bodyPr lIns="36000" rIns="36000" tIns="36000" bIns="36000" anchor="t">
                      <a:noAutofit/>
                    </a:bodyPr>
                    <a:p>
                      <a:pPr algn="ctr">
                        <a:lnSpc>
                          <a:spcPct val="100000"/>
                        </a:lnSpc>
                        <a:tabLst>
                          <a:tab algn="l" pos="0"/>
                        </a:tabLst>
                      </a:pPr>
                      <a:r>
                        <a:rPr lang="en-US" sz="1300" b="0" u="none" strike="noStrike">
                          <a:solidFill>
                            <a:srgbClr val="000000"/>
                          </a:solidFill>
                          <a:effectLst/>
                          <a:uFillTx/>
                          <a:latin typeface="Arial"/>
                        </a:rPr>
                        <a:t>Bayesian Network</a:t>
                      </a:r>
                      <a:endParaRPr lang="en-AU" sz="13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spcBef>
                          <a:spcPts val="1417"/>
                        </a:spcBef>
                        <a:tabLst>
                          <a:tab algn="l" pos="0"/>
                        </a:tabLst>
                      </a:pPr>
                      <a:r>
                        <a:rPr lang="en-US" sz="1300" b="0" u="none" strike="noStrike">
                          <a:solidFill>
                            <a:srgbClr val="000000"/>
                          </a:solidFill>
                          <a:effectLst/>
                          <a:uFillTx/>
                          <a:latin typeface="Arial"/>
                        </a:rPr>
                        <a:t>---------</a:t>
                      </a:r>
                      <a:endParaRPr lang="en-AU" sz="13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spcBef>
                          <a:spcPts val="1417"/>
                        </a:spcBef>
                        <a:tabLst>
                          <a:tab algn="l" pos="0"/>
                        </a:tabLst>
                      </a:pPr>
                      <a:r>
                        <a:rPr lang="en-US" sz="1300" b="0" u="none" strike="noStrike">
                          <a:solidFill>
                            <a:srgbClr val="000000"/>
                          </a:solidFill>
                          <a:effectLst/>
                          <a:uFillTx/>
                          <a:latin typeface="Arial"/>
                        </a:rPr>
                        <a:t>---------</a:t>
                      </a:r>
                      <a:endParaRPr lang="en-AU" sz="13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spcBef>
                          <a:spcPts val="1417"/>
                        </a:spcBef>
                        <a:tabLst>
                          <a:tab algn="l" pos="0"/>
                        </a:tabLst>
                      </a:pPr>
                      <a:r>
                        <a:rPr lang="en-US" sz="1300" b="1" u="none" strike="noStrike">
                          <a:solidFill>
                            <a:srgbClr val="000000"/>
                          </a:solidFill>
                          <a:effectLst/>
                          <a:uFillTx/>
                          <a:latin typeface="Arial"/>
                        </a:rPr>
                        <a:t>Explicitly</a:t>
                      </a:r>
                      <a:r>
                        <a:rPr lang="en-US" sz="1300" b="0" u="none" strike="noStrike">
                          <a:solidFill>
                            <a:srgbClr val="000000"/>
                          </a:solidFill>
                          <a:effectLst/>
                          <a:uFillTx/>
                          <a:latin typeface="Arial"/>
                        </a:rPr>
                        <a:t> as a single probability value, p(T)</a:t>
                      </a:r>
                      <a:endParaRPr lang="en-AU" sz="13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spcBef>
                          <a:spcPts val="1191"/>
                        </a:spcBef>
                        <a:spcAft>
                          <a:spcPts val="992"/>
                        </a:spcAft>
                        <a:tabLst>
                          <a:tab algn="l" pos="0"/>
                        </a:tabLst>
                      </a:pPr>
                      <a:r>
                        <a:rPr lang="en-US" sz="1300" b="0" u="none" strike="noStrike">
                          <a:solidFill>
                            <a:srgbClr val="000000"/>
                          </a:solidFill>
                          <a:effectLst/>
                          <a:uFillTx/>
                          <a:latin typeface="Arial"/>
                        </a:rPr>
                        <a:t>---------</a:t>
                      </a:r>
                      <a:endParaRPr lang="en-AU" sz="13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spcBef>
                          <a:spcPts val="1417"/>
                        </a:spcBef>
                        <a:tabLst>
                          <a:tab algn="l" pos="0"/>
                        </a:tabLst>
                      </a:pPr>
                      <a:r>
                        <a:rPr lang="en-US" sz="1300" b="1" u="none" strike="noStrike">
                          <a:solidFill>
                            <a:srgbClr val="000000"/>
                          </a:solidFill>
                          <a:effectLst/>
                          <a:uFillTx/>
                          <a:latin typeface="Arial"/>
                        </a:rPr>
                        <a:t>Explicitly</a:t>
                      </a:r>
                      <a:r>
                        <a:rPr lang="en-US" sz="1300" b="0" u="none" strike="noStrike">
                          <a:solidFill>
                            <a:srgbClr val="000000"/>
                          </a:solidFill>
                          <a:effectLst/>
                          <a:uFillTx/>
                          <a:latin typeface="Arial"/>
                        </a:rPr>
                        <a:t> as a single probability value, p(Ln)</a:t>
                      </a:r>
                      <a:endParaRPr lang="en-AU" sz="13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r>
            </a:tbl>
          </a:graphicData>
        </a:graphic>
      </p:graphicFrame>
      <p:sp>
        <p:nvSpPr>
          <p:cNvPr id="3" name="PlaceHolder 2"/>
          <p:cNvSpPr>
            <a:spLocks noGrp="1"/>
          </p:cNvSpPr>
          <p:nvPr>
            <p:ph type="sldNum" idx="2"/>
          </p:nvPr>
        </p:nvSpPr>
        <p:spPr/>
        <p:txBody>
          <a:bodyPr/>
          <a:p>
            <a:fld id="{F7C6D70B-7522-4F43-8960-6DCCF9A2A20F}" type="slidenum">
              <a:t>32</a:t>
            </a:fld>
          </a:p>
        </p:txBody>
      </p:sp>
    </p:spTree>
  </p:cSld>
  <mc:AlternateContent>
    <mc:Choice Requires="p14">
      <p:transition spd="slow" p14:dur="2000"/>
    </mc:Choice>
    <mc:Fallback>
      <p:transition spd="slow"/>
    </mc:Fallback>
  </mc:AlternateContent>
</p:sld>
</file>

<file path=ppt/slides/slide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7" name="PlaceHolder 1"/>
          <p:cNvSpPr>
            <a:spLocks noGrp="1"/>
          </p:cNvSpPr>
          <p:nvPr>
            <p:ph type="title"/>
          </p:nvPr>
        </p:nvSpPr>
        <p:spPr>
          <a:xfrm>
            <a:off x="504000" y="223200"/>
            <a:ext cx="9068760" cy="949320"/>
          </a:xfrm>
          <a:prstGeom prst="rect">
            <a:avLst/>
          </a:prstGeom>
          <a:noFill/>
          <a:ln w="0">
            <a:noFill/>
          </a:ln>
        </p:spPr>
        <p:txBody>
          <a:bodyPr lIns="0" rIns="0" tIns="0" bIns="0" anchor="ctr">
            <a:spAutoFit/>
          </a:bodyPr>
          <a:p>
            <a:pPr indent="0" algn="ctr">
              <a:lnSpc>
                <a:spcPct val="100000"/>
              </a:lnSpc>
              <a:buNone/>
              <a:tabLst>
                <a:tab algn="l" pos="0"/>
              </a:tabLst>
            </a:pPr>
            <a:r>
              <a:rPr lang="en-US" sz="4400" b="0" u="none" strike="noStrike">
                <a:solidFill>
                  <a:srgbClr val="000000"/>
                </a:solidFill>
                <a:effectLst/>
                <a:uFillTx/>
                <a:latin typeface="Arial"/>
              </a:rPr>
              <a:t>Dataset Challenge</a:t>
            </a:r>
            <a:endParaRPr lang="en-AU" sz="4400" b="0" u="none" strike="noStrike">
              <a:solidFill>
                <a:srgbClr val="000000"/>
              </a:solidFill>
              <a:effectLst/>
              <a:uFillTx/>
              <a:latin typeface="Arial"/>
            </a:endParaRPr>
          </a:p>
        </p:txBody>
      </p:sp>
      <p:sp>
        <p:nvSpPr>
          <p:cNvPr id="128" name="PlaceHolder 2"/>
          <p:cNvSpPr>
            <a:spLocks noGrp="1"/>
          </p:cNvSpPr>
          <p:nvPr>
            <p:ph/>
          </p:nvPr>
        </p:nvSpPr>
        <p:spPr>
          <a:xfrm>
            <a:off x="540000" y="1326600"/>
            <a:ext cx="9068760" cy="3351960"/>
          </a:xfrm>
          <a:prstGeom prst="rect">
            <a:avLst/>
          </a:prstGeom>
          <a:noFill/>
          <a:ln w="0">
            <a:noFill/>
          </a:ln>
        </p:spPr>
        <p:txBody>
          <a:bodyPr lIns="0" rIns="0" tIns="0" bIns="0" anchor="t">
            <a:normAutofit lnSpcReduction="9999"/>
          </a:bodyPr>
          <a:p>
            <a:pPr indent="0">
              <a:lnSpc>
                <a:spcPct val="100000"/>
              </a:lnSpc>
              <a:spcBef>
                <a:spcPts val="1191"/>
              </a:spcBef>
              <a:spcAft>
                <a:spcPts val="992"/>
              </a:spcAft>
              <a:buNone/>
              <a:tabLst>
                <a:tab algn="l" pos="0"/>
              </a:tabLst>
            </a:pPr>
            <a:r>
              <a:rPr lang="en-US" sz="1600" b="0" u="none" strike="noStrike">
                <a:solidFill>
                  <a:srgbClr val="000000"/>
                </a:solidFill>
                <a:effectLst/>
                <a:uFillTx/>
                <a:latin typeface="Arial"/>
                <a:ea typeface="Noto Sans CJK SC"/>
              </a:rPr>
              <a:t>Both stage 1 and stage 2’s proposed models require the text of the questions to be available for training LLMs. However, most public KT dataset does not provide the text of the questions other than their IDs. This is probably because the questions are intellectual property of the educational institutes which provide the datasets. Publishing the original test questions along with the KT dataset to the public may affect their commercial interests. </a:t>
            </a:r>
            <a:endParaRPr lang="en-AU" sz="1600" b="0" u="none" strike="noStrike">
              <a:solidFill>
                <a:srgbClr val="000000"/>
              </a:solidFill>
              <a:effectLst/>
              <a:uFillTx/>
              <a:latin typeface="Arial"/>
            </a:endParaRPr>
          </a:p>
          <a:p>
            <a:pPr indent="0">
              <a:lnSpc>
                <a:spcPct val="100000"/>
              </a:lnSpc>
              <a:spcBef>
                <a:spcPts val="1191"/>
              </a:spcBef>
              <a:spcAft>
                <a:spcPts val="992"/>
              </a:spcAft>
              <a:buNone/>
              <a:tabLst>
                <a:tab algn="l" pos="0"/>
              </a:tabLst>
            </a:pPr>
            <a:r>
              <a:rPr lang="en-US" sz="1600" b="0" u="none" strike="noStrike">
                <a:solidFill>
                  <a:srgbClr val="000000"/>
                </a:solidFill>
                <a:effectLst/>
                <a:uFillTx/>
                <a:latin typeface="Arial"/>
                <a:ea typeface="Noto Sans CJK SC"/>
              </a:rPr>
              <a:t>In contrast, many datasets provides manually annotated KCs and KC-Question mappings by experts. However, during the deployment of a KT model, requiring manually annotated KCs by teachers is not realistic and automatic. In nowadays deep learning, it is usually the job of the model to find out the latent KCs. However, the question text is generally available automatically. Assume that the model is deployed privately in an institute. The model should be able to access the private question text. Because all (Question ID, Question Text, Result) can be obtained directly from teachers without further labelling, the training of KT models is self-supervised, which enables the use of large-scale data in training.</a:t>
            </a:r>
            <a:endParaRPr lang="en-AU" sz="1600" b="0" u="none" strike="noStrike">
              <a:solidFill>
                <a:srgbClr val="000000"/>
              </a:solidFill>
              <a:effectLst/>
              <a:uFillTx/>
              <a:latin typeface="Arial"/>
            </a:endParaRPr>
          </a:p>
          <a:p>
            <a:pPr indent="0">
              <a:lnSpc>
                <a:spcPct val="100000"/>
              </a:lnSpc>
              <a:spcBef>
                <a:spcPts val="1191"/>
              </a:spcBef>
              <a:spcAft>
                <a:spcPts val="992"/>
              </a:spcAft>
              <a:buNone/>
              <a:tabLst>
                <a:tab algn="l" pos="0"/>
              </a:tabLst>
            </a:pPr>
            <a:endParaRPr lang="en-AU" sz="1600" b="0" u="none" strike="noStrike">
              <a:solidFill>
                <a:srgbClr val="000000"/>
              </a:solidFill>
              <a:effectLst/>
              <a:uFillTx/>
              <a:latin typeface="Arial"/>
            </a:endParaRPr>
          </a:p>
          <a:p>
            <a:pPr indent="0">
              <a:lnSpc>
                <a:spcPct val="100000"/>
              </a:lnSpc>
              <a:spcBef>
                <a:spcPts val="1191"/>
              </a:spcBef>
              <a:spcAft>
                <a:spcPts val="992"/>
              </a:spcAft>
              <a:buNone/>
              <a:tabLst>
                <a:tab algn="l" pos="0"/>
              </a:tabLst>
            </a:pPr>
            <a:endParaRPr lang="en-AU" sz="1600" b="0" u="none" strike="noStrike">
              <a:solidFill>
                <a:srgbClr val="000000"/>
              </a:solidFill>
              <a:effectLst/>
              <a:uFillTx/>
              <a:latin typeface="Arial"/>
            </a:endParaRPr>
          </a:p>
          <a:p>
            <a:pPr indent="0">
              <a:lnSpc>
                <a:spcPct val="100000"/>
              </a:lnSpc>
              <a:spcBef>
                <a:spcPts val="1191"/>
              </a:spcBef>
              <a:spcAft>
                <a:spcPts val="992"/>
              </a:spcAft>
              <a:buNone/>
              <a:tabLst>
                <a:tab algn="l" pos="0"/>
              </a:tabLst>
            </a:pPr>
            <a:endParaRPr lang="en-AU" sz="1600" b="0" u="none" strike="noStrike">
              <a:solidFill>
                <a:srgbClr val="000000"/>
              </a:solidFill>
              <a:effectLst/>
              <a:uFillTx/>
              <a:latin typeface="Arial"/>
            </a:endParaRPr>
          </a:p>
          <a:p>
            <a:pPr indent="0">
              <a:lnSpc>
                <a:spcPct val="100000"/>
              </a:lnSpc>
              <a:spcBef>
                <a:spcPts val="1191"/>
              </a:spcBef>
              <a:spcAft>
                <a:spcPts val="992"/>
              </a:spcAft>
              <a:buNone/>
              <a:tabLst>
                <a:tab algn="l" pos="0"/>
              </a:tabLst>
            </a:pPr>
            <a:endParaRPr lang="en-AU" sz="1600" b="0" u="none" strike="noStrike">
              <a:solidFill>
                <a:srgbClr val="000000"/>
              </a:solidFill>
              <a:effectLst/>
              <a:uFillTx/>
              <a:latin typeface="Arial"/>
            </a:endParaRPr>
          </a:p>
          <a:p>
            <a:pPr indent="0">
              <a:lnSpc>
                <a:spcPct val="100000"/>
              </a:lnSpc>
              <a:spcBef>
                <a:spcPts val="1191"/>
              </a:spcBef>
              <a:spcAft>
                <a:spcPts val="992"/>
              </a:spcAft>
              <a:buNone/>
              <a:tabLst>
                <a:tab algn="l" pos="0"/>
              </a:tabLst>
            </a:pPr>
            <a:endParaRPr lang="en-AU" sz="1600" b="0" u="none" strike="noStrike">
              <a:solidFill>
                <a:srgbClr val="000000"/>
              </a:solidFill>
              <a:effectLst/>
              <a:uFillTx/>
              <a:latin typeface="Arial"/>
            </a:endParaRPr>
          </a:p>
        </p:txBody>
      </p:sp>
      <p:sp>
        <p:nvSpPr>
          <p:cNvPr id="4" name="PlaceHolder 3"/>
          <p:cNvSpPr>
            <a:spLocks noGrp="1"/>
          </p:cNvSpPr>
          <p:nvPr>
            <p:ph type="sldNum" idx="2"/>
          </p:nvPr>
        </p:nvSpPr>
        <p:spPr/>
        <p:txBody>
          <a:bodyPr/>
          <a:p>
            <a:fld id="{CCB7F3D2-52FE-405D-B3D5-730EC30B0B22}" type="slidenum">
              <a:t>33</a:t>
            </a:fld>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1010</TotalTime>
  <Application>LibreOffice/25.8.4.2$Linux_X86_64 LibreOffice_project/580$Build-2</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2025-09-18T11:37:03Z</dcterms:created>
  <dc:creator/>
  <dc:description/>
  <dc:language>en-AU</dc:language>
  <cp:lastModifiedBy/>
  <dcterms:modified xsi:type="dcterms:W3CDTF">2026-01-29T22:04:11Z</dcterms:modified>
  <cp:revision>46</cp:revision>
  <dc:subject/>
  <dc:title/>
</cp:coreProperties>
</file>

<file path=docProps/custom.xml><?xml version="1.0" encoding="utf-8"?>
<Properties xmlns="http://schemas.openxmlformats.org/officeDocument/2006/custom-properties" xmlns:vt="http://schemas.openxmlformats.org/officeDocument/2006/docPropsVTypes"/>
</file>